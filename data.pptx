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86bcaf5df42aa" /><Relationship Type="http://schemas.openxmlformats.org/officeDocument/2006/relationships/extended-properties" Target="/docProps/app.xml" Id="R2b8c827022b74a4a" /><Relationship Type="http://schemas.openxmlformats.org/officeDocument/2006/relationships/officeDocument" Target="/ppt/presentation.xml" Id="R219f7f44a42844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b7c863144c41d0"/>
  </p:sldMasterIdLst>
  <p:notesMasterIdLst>
    <p:notesMasterId xmlns:r="http://schemas.openxmlformats.org/officeDocument/2006/relationships" r:id="R3f8aaa0ab6eb4627"/>
  </p:notesMasterIdLst>
  <p:sldIdLst>
    <p:sldId xmlns:r="http://schemas.openxmlformats.org/officeDocument/2006/relationships" id="256" r:id="Rb2a1efb13a3f493c"/>
    <p:sldId xmlns:r="http://schemas.openxmlformats.org/officeDocument/2006/relationships" id="257" r:id="Rb772b88946c54161"/>
    <p:sldId xmlns:r="http://schemas.openxmlformats.org/officeDocument/2006/relationships" id="258" r:id="R7d8f8d2ed7b84aae"/>
    <p:sldId xmlns:r="http://schemas.openxmlformats.org/officeDocument/2006/relationships" id="259" r:id="Rc424aac3c5b943e2"/>
    <p:sldId xmlns:r="http://schemas.openxmlformats.org/officeDocument/2006/relationships" id="260" r:id="Rd277df35ce7d400e"/>
    <p:sldId xmlns:r="http://schemas.openxmlformats.org/officeDocument/2006/relationships" id="261" r:id="R6b70c2c08eaf411d"/>
    <p:sldId xmlns:r="http://schemas.openxmlformats.org/officeDocument/2006/relationships" id="262" r:id="Ra8475b2700e344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990157a664490" /><Relationship Type="http://schemas.openxmlformats.org/officeDocument/2006/relationships/slideMaster" Target="/ppt/slideMasters/slideMaster1.xml" Id="R9fb7c863144c41d0" /><Relationship Type="http://schemas.openxmlformats.org/officeDocument/2006/relationships/notesMaster" Target="/ppt/notesMasters/notesMaster1.xml" Id="R3f8aaa0ab6eb4627" /><Relationship Type="http://schemas.openxmlformats.org/officeDocument/2006/relationships/presProps" Target="/ppt/presProps.xml" Id="R82c84026c38047c2" /><Relationship Type="http://schemas.openxmlformats.org/officeDocument/2006/relationships/viewProps" Target="/ppt/viewProps.xml" Id="R7b55d6a2b6df42bb" /><Relationship Type="http://schemas.openxmlformats.org/officeDocument/2006/relationships/tableStyles" Target="/ppt/tableStyles.xml" Id="Ra3527d1a2f6e4e64" /><Relationship Type="http://schemas.openxmlformats.org/officeDocument/2006/relationships/slide" Target="/ppt/slides/slide1.xml" Id="Rb2a1efb13a3f493c" /><Relationship Type="http://schemas.openxmlformats.org/officeDocument/2006/relationships/slide" Target="/ppt/slides/slide2.xml" Id="Rb772b88946c54161" /><Relationship Type="http://schemas.openxmlformats.org/officeDocument/2006/relationships/slide" Target="/ppt/slides/slide3.xml" Id="R7d8f8d2ed7b84aae" /><Relationship Type="http://schemas.openxmlformats.org/officeDocument/2006/relationships/slide" Target="/ppt/slides/slide4.xml" Id="Rc424aac3c5b943e2" /><Relationship Type="http://schemas.openxmlformats.org/officeDocument/2006/relationships/slide" Target="/ppt/slides/slide5.xml" Id="Rd277df35ce7d400e" /><Relationship Type="http://schemas.openxmlformats.org/officeDocument/2006/relationships/slide" Target="/ppt/slides/slide6.xml" Id="R6b70c2c08eaf411d" /><Relationship Type="http://schemas.openxmlformats.org/officeDocument/2006/relationships/slide" Target="/ppt/slides/slide7.xml" Id="Ra8475b2700e3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54e500bb3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4d087413f4578" /><Relationship Type="http://schemas.openxmlformats.org/officeDocument/2006/relationships/notesMaster" Target="/ppt/notesMasters/notesMaster1.xml" Id="R3b9b148c6bdd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63ac0f9794415" /><Relationship Type="http://schemas.openxmlformats.org/officeDocument/2006/relationships/notesMaster" Target="/ppt/notesMasters/notesMaster1.xml" Id="Rbd1daf6f471044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38f51544994eed" /><Relationship Type="http://schemas.openxmlformats.org/officeDocument/2006/relationships/notesMaster" Target="/ppt/notesMasters/notesMaster1.xml" Id="R5bad5b14690b4d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e649d1b214c2b" /><Relationship Type="http://schemas.openxmlformats.org/officeDocument/2006/relationships/notesMaster" Target="/ppt/notesMasters/notesMaster1.xml" Id="R77f6b73132d7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7f0805aa6d4aa0" /><Relationship Type="http://schemas.openxmlformats.org/officeDocument/2006/relationships/notesMaster" Target="/ppt/notesMasters/notesMaster1.xml" Id="R2e7796d0a7d240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286a750b54633" /><Relationship Type="http://schemas.openxmlformats.org/officeDocument/2006/relationships/notesMaster" Target="/ppt/notesMasters/notesMaster1.xml" Id="R2c26cd241a0c48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98688725c4c34" /><Relationship Type="http://schemas.openxmlformats.org/officeDocument/2006/relationships/notesMaster" Target="/ppt/notesMasters/notesMaster1.xml" Id="R1e22ee48a3fe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meeting purpose: introduce the role, explain the current ETL migration, and use the roadmap to collect feedback on modern data engineering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introduce the role. The point is to show where your work creates leverage: pipelines, analytics, and modern workflow practices.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migration as a capability upgrade: better maintainability, scalability, standards, and integration with APIs and modern tooling.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future stack as a roadmap rather than a list of tools. Keep the debate open: each layer is a candidate design choice to validate with R&amp;D.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architecture from source to insight. The key idea is clear contracts between layers, not tool adoption for its own sake.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critique. The discussion should produce trade-offs, recommendations, and a prioritized learning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an open discussion and invite the R&amp;D engineer to challenge the roadmap priorities and technology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ca33042f9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1532a30914a41" /><Relationship Type="http://schemas.openxmlformats.org/officeDocument/2006/relationships/slideLayout" Target="/ppt/slideLayouts/slideLayout1.xml" Id="Rfa4a09065b3a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a09065b3a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5a11cf2044d06" /><Relationship Type="http://schemas.openxmlformats.org/officeDocument/2006/relationships/notesSlide" Target="/ppt/notesSlides/notesSlide1.xml" Id="Rd96b2b6af59a4d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4d3f4fe0e4a3d" /><Relationship Type="http://schemas.openxmlformats.org/officeDocument/2006/relationships/notesSlide" Target="/ppt/notesSlides/notesSlide2.xml" Id="Rfc026dc9e0c4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ce76de36d49fd" /><Relationship Type="http://schemas.openxmlformats.org/officeDocument/2006/relationships/notesSlide" Target="/ppt/notesSlides/notesSlide3.xml" Id="R7819b0e88d46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a68cf982f420b" /><Relationship Type="http://schemas.openxmlformats.org/officeDocument/2006/relationships/notesSlide" Target="/ppt/notesSlides/notesSlide4.xml" Id="R2a02de4aa8d94c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295434ab44a1f" /><Relationship Type="http://schemas.openxmlformats.org/officeDocument/2006/relationships/notesSlide" Target="/ppt/notesSlides/notesSlide5.xml" Id="R697ea86d52d64f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bdbb9ebf4919" /><Relationship Type="http://schemas.openxmlformats.org/officeDocument/2006/relationships/notesSlide" Target="/ppt/notesSlides/notesSlide6.xml" Id="Rb327b115084a47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95a35190343ef" /><Relationship Type="http://schemas.openxmlformats.org/officeDocument/2006/relationships/notesSlide" Target="/ppt/notesSlides/notesSlide7.xml" Id="R5d1c91396be74c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38044-3BE5-48DB-8407-DAFEDACA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E2C33-AF7F-40B3-81FC-D9898E3A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9050B-7085-47D6-85D5-52F383F1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Technology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CF5CB-472C-443A-8A58-719F0F96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Meeting with R&amp;D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8D055-CF20-484A-9D67-121040B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E8DEA-E9DB-4706-9DCD-45EC27D4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504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From ETL migration to modern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8BF2D-22E0-4F18-88B1-29E8C08C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573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2AA42-41E4-40B5-82B2-22DBE30A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954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F2B3F-448F-4382-8124-72484910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DBB0-FB65-40DE-8255-40E92DA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Current 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DC56B-B982-4BC5-A516-FC13B95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226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R to Python ETL migration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C7022-F2A7-4939-A282-6D6B10E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051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59C73-2803-4430-B055-FD2BE792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143A0-510B-404D-85F8-AF57CE3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Future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42745-C512-476A-81F2-3439653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226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APIs, orchestration, transformation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B055A-55E8-4957-95AE-3EF17B9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21228-9E9E-4BC8-A465-201B2E1F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92501-1D83-4CB3-9F0F-B28F833B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Platform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8CA3C-71C9-4780-9392-99E1FBF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48150"/>
            <a:ext cx="226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Scalable analytics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A433D-A94A-44C8-9734-1B180D34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168C5-56B7-4E6D-A3F7-B9B82870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FB698-A543-4AAE-9F30-821B337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76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0A5B3DE-22BE-4A94-9C27-4E50B900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D4447AFB-0101-414D-91CB-ACB1E5B7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ABOUT ME</a:t>
            </a:r>
          </a:p>
        </p:txBody>
      </p:sp>
      <p:sp>
        <p:nvSpPr>
          <p:cNvPr id="3" name="claim-2">
            <a:extLst xmlns:a="http://schemas.openxmlformats.org/drawingml/2006/main">
              <a:ext uri="{FF2B5EF4-FFF2-40B4-BE49-F238E27FC236}">
                <a16:creationId xmlns:a16="http://schemas.microsoft.com/office/drawing/2014/main" id="{90BD0803-5258-4F28-9C2D-AC6CC96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My role connects reliable data pipelines with practical analytics use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16B78-3D94-4B97-94FE-9925AEF2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C0C88-56D7-4C88-8745-BA9E16F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E72F4-913A-446A-9FFB-2177F5D2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4C4A3-3591-4B2C-B0A0-A2DE672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Data Engineer / Data Analyst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3EEC5-7965-449A-8AE2-0BE8DA9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324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Hands-on data pipeline and analysis work across operational datasets.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7ED58-81A0-4C75-A098-9927213A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272B4-86CD-4247-82AB-7071C89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19375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3CB8-B93D-49FC-9740-C2551F3D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Pipelines &amp;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41DF3-CE30-4F6E-A719-C70E3B1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324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Focus on reproducible flows, usable datasets, and business-facing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DC398-00DF-40DF-9278-2ACD1E3F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8FEDB-0584-4FAB-A9D2-F4F2DC5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207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B5FDC-4D81-4EC0-8A4F-DF9FE387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Workflow Modernization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C01BD-0C7B-4053-BAD2-3BFF93B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324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Standardize practices, improve maintainability, and integrate modern tooling.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A34B0-BE80-44ED-B0F5-0750772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BC95D-755C-49EB-A069-214F6CB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57800"/>
            <a:ext cx="781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Current responsibility: modernizing data workflows while preserving analytics continuity.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44C29-E6FA-48BC-A48C-875C240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C3726-DAE9-4DD7-96A5-6F1BC64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156DB-C63F-4A9C-BA05-DB6EB3C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7387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E20BA602-06A4-4A73-B508-5F3A757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8C6E34C-9339-48E4-9EF1-2B41E0AA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CURRENT MISSION</a:t>
            </a:r>
          </a:p>
        </p:txBody>
      </p:sp>
      <p:sp>
        <p:nvSpPr>
          <p:cNvPr id="3" name="claim-3">
            <a:extLst xmlns:a="http://schemas.openxmlformats.org/drawingml/2006/main">
              <a:ext uri="{FF2B5EF4-FFF2-40B4-BE49-F238E27FC236}">
                <a16:creationId xmlns:a16="http://schemas.microsoft.com/office/drawing/2014/main" id="{AA178AC8-F995-4F81-B32D-EDFCA2F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The R-to-Python migration turns legacy ETL into an automation foundation.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DE986-ADA1-477B-A357-A9893F1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0287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BD551-95D3-473F-8C2E-32492FF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494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64515-A189-428A-BB45-5578E07E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494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213F1-E759-4BA0-90CA-E6449FE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1945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 ETL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2F316-0E2B-4BC8-B65C-D6DE00E0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Legacy ETL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AB5F1-FF68-48AD-BF1B-D8E49A51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2689-A09D-447D-B2D2-44AC64A4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C932D-EE28-4BAD-AFDB-FF58F7C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67E68-120F-43BA-8A8F-38887AE9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Python ETL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DEA3D-2933-4F49-ADA9-32946FA5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Maintainable, modular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C430E-806D-4D1D-A1EB-F9C86AD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CAD03-D26D-4097-BCF3-002B8EB8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8CF0E-2074-4EF6-8E41-3E352311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9DE5C-D539-4636-A11E-E0EEA96B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Automated Pipelines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2D587-A68A-4C76-9217-23CD67DC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Scheduled and observable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61F6F-5629-4C58-9EF6-32103EF7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13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9F665-2FEE-44D2-9B05-C87702F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29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Maintainability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4DFB5-B91A-4FD5-B024-F7A20244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76800"/>
            <a:ext cx="213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5C731-49E1-4BE4-94D5-90E8539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29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Scalability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470BD-ED3C-4422-9B8B-A130D1A0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213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2D2BD-0E1E-487F-8939-69C46CE2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Standards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D9860-48DC-482A-82E7-A1198639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76800"/>
            <a:ext cx="213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1FA77-92CE-45F4-ABDD-4ECB1792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API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2C5A2-72DE-4871-A546-071DF9A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1510C-3360-4D61-ACBA-B3C4EAD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EF516-E828-4ABC-AC9E-6B265F2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1329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ABBF3DC8-4CF2-491A-9C79-3FE411E0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214D1C3-6F14-4C97-83E4-5E6F23E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FUTURE STACK</a:t>
            </a:r>
          </a:p>
        </p:txBody>
      </p:sp>
      <p:sp>
        <p:nvSpPr>
          <p:cNvPr id="3" name="claim-4">
            <a:extLst xmlns:a="http://schemas.openxmlformats.org/drawingml/2006/main">
              <a:ext uri="{FF2B5EF4-FFF2-40B4-BE49-F238E27FC236}">
                <a16:creationId xmlns:a16="http://schemas.microsoft.com/office/drawing/2014/main" id="{5BCEF5B8-27BC-49AC-8B24-A51E71A6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The future stack can be framed as a three-part platform roadmap.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8755-6D9B-4364-B1CC-58D73F9F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1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89FF9-53B0-454A-B9FE-6303C524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0505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B1829-7A76-4A80-A56F-A0112D2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1E7BB-606B-4D86-A878-111E9A8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56A7E-B126-4C45-9D61-9782713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480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APIs  +  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A7F99-21C9-42DE-BA70-5578940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324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Capture data from systems and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D4F1B-8FC9-4D65-B87A-407F1D9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1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8D113-54B6-4629-B187-A576EA5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F70BD-70CB-4D8C-B547-742934F6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Coordinate &amp;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9176-39DD-42E3-AD96-84EE215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315F5-19B6-46AD-9D83-918152F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Prefect  +  Spark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5F32B-ECF3-4504-A09B-E661FFBF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2324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Orchestrate pipelines and scale compute when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7D3D7-55CD-4425-B642-3D2A120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419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9F940-5F40-4BE1-B08F-C4C54B4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8AB30-756D-4F1F-8BE1-042567B8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Transform &amp; 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5FE29-148F-4AAD-B4DD-BAFAAD1D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EB684-D319-4B69-B881-9A5621B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dbt  +  Warehouse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D1A07-BAD4-4985-9445-70293CD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324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Model data and expose analytics-ready datasets.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F0D7E-9F38-41A7-931B-52C7AB6B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07200-07D3-4083-B466-542B4232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D1272-D6E4-4C44-A7B8-422C0512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18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E1256-83AB-422C-919B-7AA9D19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B28A9-9E0E-4128-ACF4-9A277733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67300"/>
            <a:ext cx="8267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7C183-0353-4A37-AB4A-579C1D7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970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Design question: which pieces are essential now, and which should remain optional until scale demands them?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E9239-9C65-4A71-83FC-556B7DB6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18A92-5384-45FE-B6AC-816EFC2F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870DF-3C15-4349-8916-A8A35027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9054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10A1A82F-04CC-43DA-88E2-C1602EE7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D3F634A-878E-46F1-9BF1-0C20D8EE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PLATFORM VISION</a:t>
            </a:r>
          </a:p>
        </p:txBody>
      </p:sp>
      <p:sp>
        <p:nvSpPr>
          <p:cNvPr id="3" name="claim-5">
            <a:extLst xmlns:a="http://schemas.openxmlformats.org/drawingml/2006/main">
              <a:ext uri="{FF2B5EF4-FFF2-40B4-BE49-F238E27FC236}">
                <a16:creationId xmlns:a16="http://schemas.microsoft.com/office/drawing/2014/main" id="{42082303-7260-46D4-8026-33E0FF6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The target platform makes data movement traceable from source to insight.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AF373-E516-4BE5-B2A3-938FD4B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229C4-5D91-4EC4-B373-0A656C5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573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Data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26442-358E-4518-9CC1-9F7B7A64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Applications, files, databases, APIs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1BDD9-6049-497B-A923-D19CB1D0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06BD9-9275-4B0F-BD79-C830497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CFF0-1538-47ED-AD50-65E38B6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28F3B-E18D-4BDB-A2D6-0697A2C3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Kafka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E0551-D89B-491F-A3D2-32DA0232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Event ingestion and decoupled buffering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9DF03-C950-4802-AA49-937121A8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2EF46-AC5C-47AF-9955-6AA985B9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A7CE8-94D5-488B-A707-BF808B5A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575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195D7-EBEE-41CE-A978-E6EEA1C0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670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Spark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48A32-9597-4CFD-92B8-C8D092B2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Scalable batch or streaming compute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90B44-61AA-4B81-A91A-C508D66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7244E-AFC6-4C66-B940-2453FD65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F884C-98C1-4A4D-9D31-3836FB6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27331-68F0-4535-B3D3-6899258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dbt Transformations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764AA-D8FE-4C1E-91CF-FC4F17B9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Modeled, tested, documented transformations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C1621-F853-42A6-AEAA-EE580107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71CE4-A9B5-4C58-84D5-08BBECD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A0D4E-2360-4E5A-8C9D-D50E967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E5FBE-EDF1-4E4C-9697-9BDA574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Data Warehouse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95D99-6755-42A9-9657-A9449ED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Governed analytics-ready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7CEE1-DABA-400D-B75E-82C792E9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BA032-C872-4DA4-8310-EDD059F4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96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22E87-3361-4437-B51E-F4EA1C5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1DD40-A38D-436C-BAA4-CE7AE94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816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Analytics &amp; Reporting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8C00A-0011-414C-A8C6-53ACF93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Dashboards, analysis, and decision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A5574-BED2-47F9-843B-AEB8A134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FD620-E75F-44F7-8A0D-C388D26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43100"/>
            <a:ext cx="16192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272B13-C1DE-428C-B044-9E75D6B9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Layer discipline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657B45-46EE-4A65-B9B3-78E4B4C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2192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Each layer has a clear contract: ingest, process, transform, serve, analyze.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F96F5-E1A4-4CF2-A63A-4EE30D7E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76F650-ADC6-4656-B74D-CA66448D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D089A3-9569-41B7-A0C8-34ACF09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3831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907C95A-1485-4902-8C78-7C8F647F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E3B338E-4CAC-4C50-97B7-0156F45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TOPICS FOR DISCUSSION</a:t>
            </a:r>
          </a:p>
        </p:txBody>
      </p:sp>
      <p:sp>
        <p:nvSpPr>
          <p:cNvPr id="3" name="claim-6">
            <a:extLst xmlns:a="http://schemas.openxmlformats.org/drawingml/2006/main">
              <a:ext uri="{FF2B5EF4-FFF2-40B4-BE49-F238E27FC236}">
                <a16:creationId xmlns:a16="http://schemas.microsoft.com/office/drawing/2014/main" id="{8A0A054F-6011-4F04-A52B-6673E1B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The discussion should convert technology options into practical design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3A87F-E3EF-4214-9094-A94E1CE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DB611-17F6-4146-9ED8-08A6D189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76B0B-B2E5-40C9-95D7-AC5CC00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Stack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E726-616B-4AA6-95B8-AB66CB9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Is this technology stack aligned with current industry best practices?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2585F-4B3F-419C-B700-2B2A63BE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FD94C-2A5F-4907-83C3-9E6B1021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CD8BE-0C35-4772-9EBB-74A57265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83D97-327B-452E-819A-44CFD43C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Prefect vs Airflow vs Dagster?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4669E-78BD-4975-875D-C74DB8E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0C0BB-92FE-4998-B46D-DA68B54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56446-BB32-48DE-9C21-1B10CD3E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Compute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0D16B-27AB-4BC9-8A04-C2B221B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When should Spark be preferred over Python?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41935-0F3E-451D-A85D-DAE3C847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091C8-5DD2-469B-8602-678B328B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EBFD6-4C4D-41BF-BFA1-87FA0F78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Streaming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BC320-F0C4-4C2F-BB36-D66B55B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Is Kafka the right choice for future scalability?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12726-CB81-4510-AE06-65C9B84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3E57E-5640-470C-B9C4-A5B8C2D2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AF53B-1D2F-4C25-B316-B3D1424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Learning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2124C-20D7-45F1-B04E-B735690F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What tools would you recommend learning next?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5C8BC-BA56-4C43-BA6A-477E783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622BC-363F-4982-87CF-E052CAAC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CA887-39CA-43F4-ABD2-53CA2AB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AE9F"/>
                </a:solidFill>
                <a:latin typeface="Aptos"/>
                <a:ea typeface="Aptos"/>
                <a:cs typeface="Aptos"/>
              </a:defRPr>
            </a:pPr>
            <a:r>
              <a:t>Platform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AEB8B-D266-4135-B3C5-DE2D610C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How would you design a modern data platform today?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74597-AFC8-4596-B09F-231594E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3DF9E-8408-492B-B3C8-97972C11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531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6A4FF-8A58-4387-8741-A2A054BC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483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Output expected: recommendations, trade-offs, and next technologies to investigate.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0F6E22-2CB7-4ACE-82EF-7378107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DF330-0529-4EF0-8594-823815B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443BD0-3AFC-4408-814C-A454D95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8654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C013C-2E27-451B-82CB-88E0CFCE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2E747-3D72-46AF-A686-5E2671A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3815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Open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D928-649C-451A-B4DE-AE1F026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450CC-A555-4BE7-85B0-BA0973C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05309-0166-4750-ACEB-60E49CD8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Contact information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C3AF2-EE88-4CC0-9CFC-716D8B7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[Your Name]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E8B1B-C2FA-4B25-A260-3473760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419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 &amp; Technology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6CB96-E39C-48B8-83EF-2D161F2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32004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9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CA876-4C4F-4562-985D-E43B088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56B3"/>
                </a:solidFill>
                <a:latin typeface="Aptos"/>
                <a:ea typeface="Aptos"/>
                <a:cs typeface="Aptos"/>
              </a:defRPr>
            </a:pPr>
            <a:r>
              <a:t>Feedback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2DBD8-540F-47B7-A99B-6862C0B1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6B3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2AD7F-345F-41A4-A18C-0FF601F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Which part of the stack should be challenged first?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4412B-B29A-4CE4-BF96-5658924B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E9F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6C586-D50F-4B0C-A569-4B06634C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5280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What should be prioritized next quarter?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47FFF-7CA2-472B-B94A-874B8AC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9CE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00EAE-26C1-486A-A922-E4D7B53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191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Data Engineering 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F919C-C3B2-4873-B6B7-63A7CE7B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7A849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8423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2026-06-08T20:37:41.1810000Z</dcterms:created>
  <dcterms:modified xsi:type="dcterms:W3CDTF">2026-06-08T20:37:41.1810000Z</dcterms:modified>
</coreProperties>
</file>