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42cf0128bc4ddf" /><Relationship Type="http://schemas.openxmlformats.org/officeDocument/2006/relationships/extended-properties" Target="/docProps/app.xml" Id="R4aed6a5f4704454b" /><Relationship Type="http://schemas.openxmlformats.org/officeDocument/2006/relationships/officeDocument" Target="/ppt/presentation.xml" Id="R3c24e74c0ff840d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16aa46529634a39"/>
  </p:sldMasterIdLst>
  <p:notesMasterIdLst>
    <p:notesMasterId xmlns:r="http://schemas.openxmlformats.org/officeDocument/2006/relationships" r:id="R2311795159884287"/>
  </p:notesMasterIdLst>
  <p:sldIdLst>
    <p:sldId xmlns:r="http://schemas.openxmlformats.org/officeDocument/2006/relationships" id="256" r:id="R5294b45a54ee45dc"/>
    <p:sldId xmlns:r="http://schemas.openxmlformats.org/officeDocument/2006/relationships" id="257" r:id="R78257ab402704f28"/>
    <p:sldId xmlns:r="http://schemas.openxmlformats.org/officeDocument/2006/relationships" id="258" r:id="R5d2bfe280255483a"/>
    <p:sldId xmlns:r="http://schemas.openxmlformats.org/officeDocument/2006/relationships" id="259" r:id="R8d3e0bf538b241a9"/>
    <p:sldId xmlns:r="http://schemas.openxmlformats.org/officeDocument/2006/relationships" id="260" r:id="Re7a49585b7b34a7c"/>
    <p:sldId xmlns:r="http://schemas.openxmlformats.org/officeDocument/2006/relationships" id="261" r:id="R14a3ec4e88cf49c7"/>
    <p:sldId xmlns:r="http://schemas.openxmlformats.org/officeDocument/2006/relationships" id="262" r:id="R5a52c5de8941400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4ff7af2731402c" /><Relationship Type="http://schemas.openxmlformats.org/officeDocument/2006/relationships/slideMaster" Target="/ppt/slideMasters/slideMaster1.xml" Id="Rd16aa46529634a39" /><Relationship Type="http://schemas.openxmlformats.org/officeDocument/2006/relationships/notesMaster" Target="/ppt/notesMasters/notesMaster1.xml" Id="R2311795159884287" /><Relationship Type="http://schemas.openxmlformats.org/officeDocument/2006/relationships/presProps" Target="/ppt/presProps.xml" Id="Rda58cb009156407e" /><Relationship Type="http://schemas.openxmlformats.org/officeDocument/2006/relationships/viewProps" Target="/ppt/viewProps.xml" Id="R2165be6333bd4d24" /><Relationship Type="http://schemas.openxmlformats.org/officeDocument/2006/relationships/tableStyles" Target="/ppt/tableStyles.xml" Id="R54dfa6535ce64f6a" /><Relationship Type="http://schemas.openxmlformats.org/officeDocument/2006/relationships/slide" Target="/ppt/slides/slide1.xml" Id="R5294b45a54ee45dc" /><Relationship Type="http://schemas.openxmlformats.org/officeDocument/2006/relationships/slide" Target="/ppt/slides/slide2.xml" Id="R78257ab402704f28" /><Relationship Type="http://schemas.openxmlformats.org/officeDocument/2006/relationships/slide" Target="/ppt/slides/slide3.xml" Id="R5d2bfe280255483a" /><Relationship Type="http://schemas.openxmlformats.org/officeDocument/2006/relationships/slide" Target="/ppt/slides/slide4.xml" Id="R8d3e0bf538b241a9" /><Relationship Type="http://schemas.openxmlformats.org/officeDocument/2006/relationships/slide" Target="/ppt/slides/slide5.xml" Id="Re7a49585b7b34a7c" /><Relationship Type="http://schemas.openxmlformats.org/officeDocument/2006/relationships/slide" Target="/ppt/slides/slide6.xml" Id="R14a3ec4e88cf49c7" /><Relationship Type="http://schemas.openxmlformats.org/officeDocument/2006/relationships/slide" Target="/ppt/slides/slide7.xml" Id="R5a52c5de8941400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a89db7f00594a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c4863978f5473c" /><Relationship Type="http://schemas.openxmlformats.org/officeDocument/2006/relationships/notesMaster" Target="/ppt/notesMasters/notesMaster1.xml" Id="R90a9226a3f7c48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502df8eb6b41a2" /><Relationship Type="http://schemas.openxmlformats.org/officeDocument/2006/relationships/notesMaster" Target="/ppt/notesMasters/notesMaster1.xml" Id="Raa3a26c3e5cc494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482091f723f4059" /><Relationship Type="http://schemas.openxmlformats.org/officeDocument/2006/relationships/notesMaster" Target="/ppt/notesMasters/notesMaster1.xml" Id="R26bdd472b723419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a150d916b6146b6" /><Relationship Type="http://schemas.openxmlformats.org/officeDocument/2006/relationships/notesMaster" Target="/ppt/notesMasters/notesMaster1.xml" Id="Rcf8af96a736842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7f38c79d5a446c8" /><Relationship Type="http://schemas.openxmlformats.org/officeDocument/2006/relationships/notesMaster" Target="/ppt/notesMasters/notesMaster1.xml" Id="Ree331b0de5ba44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172e769087e4265" /><Relationship Type="http://schemas.openxmlformats.org/officeDocument/2006/relationships/notesMaster" Target="/ppt/notesMasters/notesMaster1.xml" Id="R359a269ec1dc431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cc88139148b4135" /><Relationship Type="http://schemas.openxmlformats.org/officeDocument/2006/relationships/notesMaster" Target="/ppt/notesMasters/notesMaster1.xml" Id="R1c69602153694b9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discussion in the X-FAB visual system: role, current ETL migration, future data engineering stack, and feedback expected from R&amp;D.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Brief role introduction: data engineer/data analyst, focus on pipelines and analytics, responsible for workflow modernization.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migration from R to Python is a foundation for maintainability, scalability, standard development practices, and API/tool integration.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 the future stack as a practical platform roadmap: ingestion, orchestration/processing, transformation and serving.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from sources to analytics. Stress that each layer has a clear purpose and contract.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these questions to collect concrete recommendations and trade-offs from the R&amp;D discussion.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open discussion and ask which stack choices should be challenged first.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1e20412c93487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c00acb5b1c240a0" /><Relationship Type="http://schemas.openxmlformats.org/officeDocument/2006/relationships/slideLayout" Target="/ppt/slideLayouts/slideLayout1.xml" Id="R36909ec7bf8b49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909ec7bf8b49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7d1cf270bc418c" /><Relationship Type="http://schemas.openxmlformats.org/officeDocument/2006/relationships/notesSlide" Target="/ppt/notesSlides/notesSlide1.xml" Id="R78fac4bd429f4d4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50e79fc1354787" /><Relationship Type="http://schemas.openxmlformats.org/officeDocument/2006/relationships/notesSlide" Target="/ppt/notesSlides/notesSlide2.xml" Id="R8f8079c9d213419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bc4e35adff46fc" /><Relationship Type="http://schemas.openxmlformats.org/officeDocument/2006/relationships/notesSlide" Target="/ppt/notesSlides/notesSlide3.xml" Id="R883f235d78c74e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72bcb3c4df472b" /><Relationship Type="http://schemas.openxmlformats.org/officeDocument/2006/relationships/notesSlide" Target="/ppt/notesSlides/notesSlide4.xml" Id="R083e2e3a241f491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e1a07967c84c15" /><Relationship Type="http://schemas.openxmlformats.org/officeDocument/2006/relationships/notesSlide" Target="/ppt/notesSlides/notesSlide5.xml" Id="Rea1906691731492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ea01cdab9f4b88" /><Relationship Type="http://schemas.openxmlformats.org/officeDocument/2006/relationships/notesSlide" Target="/ppt/notesSlides/notesSlide6.xml" Id="Rea809ea6a5834e3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6a5efcb8524074" /><Relationship Type="http://schemas.openxmlformats.org/officeDocument/2006/relationships/notesSlide" Target="/ppt/notesSlides/notesSlide7.xml" Id="R16b278ede1d644b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C6603B-87FF-491B-AE23-3B55873D5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3A5481-A44B-4913-B270-BFF32152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3850"/>
            <a:ext cx="209550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975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t>xfab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4F242C-C221-4F8C-97C8-1BAD3BEB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723900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t>Data Engineering Roadmap &amp; Technology Discussion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FDC274-99D3-4EB1-B1C3-EDDB4B0B3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4953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t>Meeting with R&amp;D Team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043924-504E-4844-888F-C9C861B2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6629400"/>
            <a:ext cx="152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000000"/>
                </a:solidFill>
                <a:latin typeface="Segoe UI"/>
                <a:ea typeface="Segoe UI"/>
                <a:cs typeface="Segoe UI"/>
              </a:defRPr>
            </a:pPr>
            <a: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DFCE64-BC60-4403-8CBA-FE5F49D8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10150"/>
            <a:ext cx="2286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t>X-FAB</a:t>
            </a:r>
          </a:p>
        </p:txBody>
      </p:sp>
    </p:spTree>
    <p:extLst>
      <p:ext uri="{BB962C8B-B14F-4D97-AF65-F5344CB8AC3E}">
        <p14:creationId xmlns:p14="http://schemas.microsoft.com/office/powerpoint/2010/main" val="212784956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C84D95-1465-4C6F-A756-255D6F0C7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7764A9-FC4A-44B2-81A5-0571B308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8B8255-107A-40D8-A585-AA22BB66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09550"/>
            <a:ext cx="12001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75" b="0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xfab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075DED-9343-4795-8763-CC047E2B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209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ROLE CONTEXT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A675B2-2F11-47C2-8094-F7078068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76250"/>
            <a:ext cx="7810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About 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8C59A1-789F-4BD2-A2E8-A6F1BF88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53200"/>
            <a:ext cx="1162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A506CB-BC6F-45CA-A167-BD063813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6610350"/>
            <a:ext cx="1714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825">
                <a:solidFill>
                  <a:srgbClr val="777777"/>
                </a:solidFill>
                <a:latin typeface="Segoe UI"/>
                <a:ea typeface="Segoe UI"/>
                <a:cs typeface="Segoe UI"/>
              </a:defRPr>
            </a:pPr>
            <a:r>
              <a:t>Company Confidential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B52688-A9F6-49A6-A37D-E29C87608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629400"/>
            <a:ext cx="171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000000"/>
                </a:solidFill>
                <a:latin typeface="Segoe UI"/>
                <a:ea typeface="Segoe UI"/>
                <a:cs typeface="Segoe UI"/>
              </a:defRPr>
            </a:pPr>
            <a: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C1F452-0ED1-4BF4-A034-0C2312975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8382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My role connects reliable data pipelines with practical analytics use cases.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0F639D-3515-4B33-831B-CB4E4D370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F39055-4C4A-4DFF-99BA-30065D18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209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C1BD20-E713-42AD-BB09-C283ABDF7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2476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Data Engineer / Data Analyst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512EBC-88FD-45E2-866C-27CEF3D51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71900"/>
            <a:ext cx="2381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F6972"/>
                </a:solidFill>
                <a:latin typeface="Segoe UI"/>
                <a:ea typeface="Segoe UI"/>
                <a:cs typeface="Segoe UI"/>
              </a:defRPr>
            </a:pPr>
            <a:r>
              <a:t>Hands-on pipeline and analysis work across operational datasets.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083259-5100-4391-B982-B8BD49947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90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B1CD"/>
          </a:solidFill>
          <a:ln xmlns:a="http://schemas.openxmlformats.org/drawingml/2006/main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E43DD6-CE8C-4E5A-B49B-8F40F5D2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47950"/>
            <a:ext cx="209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B1CD"/>
          </a:solidFill>
          <a:ln xmlns:a="http://schemas.openxmlformats.org/drawingml/2006/main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0311D2-D20D-4E2B-B9BA-E1B95C3D1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09900"/>
            <a:ext cx="2476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Pipelines &amp; Analytics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E438EB-94B8-4E2A-A815-A5E42BE2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771900"/>
            <a:ext cx="2381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F6972"/>
                </a:solidFill>
                <a:latin typeface="Segoe UI"/>
                <a:ea typeface="Segoe UI"/>
                <a:cs typeface="Segoe UI"/>
              </a:defRPr>
            </a:pPr>
            <a:r>
              <a:t>Focus on reproducible flows, usable datasets, and business-facing outputs.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E94891-8F9F-45F0-8509-93EB9A0C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90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5449ED-B608-4BCE-AD14-10BDA999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47950"/>
            <a:ext cx="209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D4D841-FE12-4FBC-8060-DB2361BBD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009900"/>
            <a:ext cx="2476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Workflow Modernization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2C8F5E-BF2B-43E9-B997-43DA46A9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2381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F6972"/>
                </a:solidFill>
                <a:latin typeface="Segoe UI"/>
                <a:ea typeface="Segoe UI"/>
                <a:cs typeface="Segoe UI"/>
              </a:defRPr>
            </a:pPr>
            <a:r>
              <a:t>Standardize practices, improve maintainability, and integrate modern tooling.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824842-21D6-4E6C-A7A1-9AFD424E5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4483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8CF145-7A53-497D-B20B-96D5E6E74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562600"/>
            <a:ext cx="8096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Current responsibility: modernizing data workflows while preserving analytics continuity.</a:t>
            </a:r>
          </a:p>
        </p:txBody>
      </p:sp>
    </p:spTree>
    <p:extLst>
      <p:ext uri="{BB962C8B-B14F-4D97-AF65-F5344CB8AC3E}">
        <p14:creationId xmlns:p14="http://schemas.microsoft.com/office/powerpoint/2010/main" val="164181380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B029FA-1E8C-4612-8EF7-F60D2714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E1DF19-A725-4D04-BFC9-CFD0E34DE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4D4C32-C697-4E39-95B6-119917D80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09550"/>
            <a:ext cx="12001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75" b="0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xfab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253C3D-C395-4E42-9735-92BAAF522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209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CURRENT MISSION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1CD7AB-92EE-4189-9A14-2F1E75CE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76250"/>
            <a:ext cx="7810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ETL Migration from R to Python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213B00-BF4E-406C-87D0-78004D32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53200"/>
            <a:ext cx="1162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5D0A5B-BCFE-4CEC-8A4F-64CEC7F8B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6610350"/>
            <a:ext cx="1714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825">
                <a:solidFill>
                  <a:srgbClr val="777777"/>
                </a:solidFill>
                <a:latin typeface="Segoe UI"/>
                <a:ea typeface="Segoe UI"/>
                <a:cs typeface="Segoe UI"/>
              </a:defRPr>
            </a:pPr>
            <a:r>
              <a:t>Company Confidential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259DC7-1784-461B-81F5-A1AA02E5F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629400"/>
            <a:ext cx="171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000000"/>
                </a:solidFill>
                <a:latin typeface="Segoe UI"/>
                <a:ea typeface="Segoe UI"/>
                <a:cs typeface="Segoe UI"/>
              </a:defRPr>
            </a:pPr>
            <a: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61DB9A-1479-4EB6-BEB0-CA9EE36F5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8382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The migration turns legacy ETL into a maintainable automation foundation.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CEF6EE-8DB8-4640-9837-FC8382A1A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10477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A015B3-B9C3-4220-BF5D-14651987E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813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6972"/>
          </a:solidFill>
          <a:ln xmlns:a="http://schemas.openxmlformats.org/drawingml/2006/main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209E60-FE0C-4A94-B104-1E8BD0DD5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05150"/>
            <a:ext cx="1581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6972"/>
          </a:solidFill>
          <a:ln xmlns:a="http://schemas.openxmlformats.org/drawingml/2006/main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5DD1F1-0B32-42AE-8D3F-6E3E09837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33750"/>
            <a:ext cx="195262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R ETL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700AEE-FEDA-48F5-89D1-83CDE66B3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43350"/>
            <a:ext cx="2019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F6972"/>
                </a:solidFill>
                <a:latin typeface="Segoe UI"/>
                <a:ea typeface="Segoe UI"/>
                <a:cs typeface="Segoe UI"/>
              </a:defRPr>
            </a:pPr>
            <a:r>
              <a:t>Legacy ETL processes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E952E1-5446-4E3C-B4AB-635BF8A8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067050"/>
            <a:ext cx="400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BE871E-C8D8-4971-836D-2B05D744F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813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9B74F3-32B9-432F-9E3C-6316222C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05150"/>
            <a:ext cx="1581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126EBC-6EE7-4830-BAB3-22B321E0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33750"/>
            <a:ext cx="195262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Python ETL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6CEB2A-583D-48F1-A724-5CEB9A7A8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943350"/>
            <a:ext cx="2019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F6972"/>
                </a:solidFill>
                <a:latin typeface="Segoe UI"/>
                <a:ea typeface="Segoe UI"/>
                <a:cs typeface="Segoe UI"/>
              </a:defRPr>
            </a:pPr>
            <a:r>
              <a:t>Maintainable, modular 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2457A3-917D-4A36-AE5C-BBD08E0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67050"/>
            <a:ext cx="400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158905-1518-4725-A965-E19320DDF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86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B1CD"/>
          </a:solidFill>
          <a:ln xmlns:a="http://schemas.openxmlformats.org/drawingml/2006/main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351CFC-FD3C-44D6-8210-8420811F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09900"/>
            <a:ext cx="1581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B1CD"/>
          </a:solidFill>
          <a:ln xmlns:a="http://schemas.openxmlformats.org/drawingml/2006/main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B7324A-DC47-4C17-ADA1-CCAB66FDD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38500"/>
            <a:ext cx="195262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Automated Pipelines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5EA229-13E8-4C85-B6F5-8D9651B9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48100"/>
            <a:ext cx="2019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F6972"/>
                </a:solidFill>
                <a:latin typeface="Segoe UI"/>
                <a:ea typeface="Segoe UI"/>
                <a:cs typeface="Segoe UI"/>
              </a:defRPr>
            </a:pPr>
            <a:r>
              <a:t>Scheduled and observable workflows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2E4B6F-6750-49BB-95B8-488C51E03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95850"/>
            <a:ext cx="1866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FB757E-B48A-4AAB-B169-98CC9553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010150"/>
            <a:ext cx="1524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Maintainability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B3B58F-F09C-497C-A22D-7137B005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895850"/>
            <a:ext cx="1866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C18AFE-0622-486D-89AD-815852C51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010150"/>
            <a:ext cx="1524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Scalability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6D5F78-7488-4334-A5E0-83760F915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95850"/>
            <a:ext cx="1866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4AC5A7-C183-4799-BE6E-944CACB4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010150"/>
            <a:ext cx="1524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Standards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6D9837-4F42-48D0-AC02-DA94DD5A3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895850"/>
            <a:ext cx="18669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A47AE-82D3-4A39-95A0-EDD2D4588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010150"/>
            <a:ext cx="1524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API integration</a:t>
            </a:r>
          </a:p>
        </p:txBody>
      </p:sp>
    </p:spTree>
    <p:extLst>
      <p:ext uri="{BB962C8B-B14F-4D97-AF65-F5344CB8AC3E}">
        <p14:creationId xmlns:p14="http://schemas.microsoft.com/office/powerpoint/2010/main" val="129525673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85F6F8-5A1B-4358-A810-B8C4A5CA4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2F63D3-34B3-4C64-BA30-89669A1DE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26E157-9753-4EE6-B691-9A3C1CB76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09550"/>
            <a:ext cx="12001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75" b="0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xfab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BDEE60-35F4-435F-9632-B9F9E0970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209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FUTURE STACK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D046AD-259A-4553-A8C8-68FF2BE98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76250"/>
            <a:ext cx="7810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Future Data Engineering Stack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66BD1F-F1FA-4731-94F5-4347030D9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53200"/>
            <a:ext cx="1162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5B22CD-196C-4778-BD60-C6395E87B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6610350"/>
            <a:ext cx="1714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825">
                <a:solidFill>
                  <a:srgbClr val="777777"/>
                </a:solidFill>
                <a:latin typeface="Segoe UI"/>
                <a:ea typeface="Segoe UI"/>
                <a:cs typeface="Segoe UI"/>
              </a:defRPr>
            </a:pPr>
            <a:r>
              <a:t>Company Confidential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DDE9C4-B11A-4CC0-AFDF-CF406084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629400"/>
            <a:ext cx="171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000000"/>
                </a:solidFill>
                <a:latin typeface="Segoe UI"/>
                <a:ea typeface="Segoe UI"/>
                <a:cs typeface="Segoe UI"/>
              </a:defRPr>
            </a:pPr>
            <a:r>
              <a:t>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E5BDB1-F70C-4CF8-98DC-3B66F35A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8763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The future stack can be framed as a three-part platform roadmap.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D88B82-9814-48F5-A16B-760D0997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FFFBE1-D68A-4954-8F41-C45088D7C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686050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24A56F-2DE7-4F63-8BFC-0E8E9319C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67050"/>
            <a:ext cx="2286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Ingest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15168A-6D79-4A73-8858-48CD7002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22098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935A14-6CC5-49D2-90D0-93676C2C1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67150"/>
            <a:ext cx="1809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APIs + Kafka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C9A8AC-20A8-47DE-B72F-B6E3BC40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2440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F6972"/>
                </a:solidFill>
                <a:latin typeface="Segoe UI"/>
                <a:ea typeface="Segoe UI"/>
                <a:cs typeface="Segoe UI"/>
              </a:defRPr>
            </a:pPr>
            <a:r>
              <a:t>Capture data from systems and events.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DB0416-CDCD-42D2-907C-FDD339C3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38500"/>
            <a:ext cx="400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C966C3-AB5A-499B-8CE8-F5AD18EEB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71750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43B1CD"/>
                </a:solidFill>
                <a:latin typeface="Segoe UI"/>
                <a:ea typeface="Segoe UI"/>
                <a:cs typeface="Segoe UI"/>
              </a:defRPr>
            </a:pPr>
            <a: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DBB881-F3CA-47DC-A447-7CD40E37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686050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B1CD"/>
          </a:solidFill>
          <a:ln xmlns:a="http://schemas.openxmlformats.org/drawingml/2006/main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9AACB7-B38B-4793-8A77-CEC1307E9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67050"/>
            <a:ext cx="2286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Coordinate &amp; Process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9DC8B7-519F-4093-A6A4-F2296009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638550"/>
            <a:ext cx="22098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6CF5F5-8F7F-4B51-B66B-B85673F6B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867150"/>
            <a:ext cx="1809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43B1CD"/>
                </a:solidFill>
                <a:latin typeface="Segoe UI"/>
                <a:ea typeface="Segoe UI"/>
                <a:cs typeface="Segoe UI"/>
              </a:defRPr>
            </a:pPr>
            <a:r>
              <a:t>Prefect + Spark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34AA6E-2BA4-412E-AAA5-D7842A69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72440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F6972"/>
                </a:solidFill>
                <a:latin typeface="Segoe UI"/>
                <a:ea typeface="Segoe UI"/>
                <a:cs typeface="Segoe UI"/>
              </a:defRPr>
            </a:pPr>
            <a:r>
              <a:t>Orchestrate pipelines and scale compute when needed.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FE5B28-441B-449A-9B01-3BAA2144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38500"/>
            <a:ext cx="400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ED21B4-AC6E-48CC-ACF1-CD9A42447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71750"/>
            <a:ext cx="400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B168BE-7956-4763-95EE-18506954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686050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AA0B6D-6F31-47BE-BBFC-2E7B3F99A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67050"/>
            <a:ext cx="2286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Transform &amp; Serve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07255E-2524-44FC-9A5C-3B0CF79C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638550"/>
            <a:ext cx="22098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044B46-0A84-453F-BCF3-BC290C3B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67150"/>
            <a:ext cx="1809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dbt + Warehouse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AAF430-795E-427C-833F-9828AADD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24400"/>
            <a:ext cx="2305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F6972"/>
                </a:solidFill>
                <a:latin typeface="Segoe UI"/>
                <a:ea typeface="Segoe UI"/>
                <a:cs typeface="Segoe UI"/>
              </a:defRPr>
            </a:pPr>
            <a:r>
              <a:t>Model data and expose analytics-ready datasets.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C918C8-C962-453C-B1B8-D25ECB6CB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05450"/>
            <a:ext cx="8477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040164-4D07-4629-A19B-5FD7A80B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600700"/>
            <a:ext cx="7810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Design question: which pieces are essential now, and which should remain optional until scale demands them?</a:t>
            </a:r>
          </a:p>
        </p:txBody>
      </p:sp>
    </p:spTree>
    <p:extLst>
      <p:ext uri="{BB962C8B-B14F-4D97-AF65-F5344CB8AC3E}">
        <p14:creationId xmlns:p14="http://schemas.microsoft.com/office/powerpoint/2010/main" val="5983574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522DC2-59F7-4AFE-B468-42DCB0F43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BF65A4-A84A-406F-8222-AFEC9A33E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A0B793-24E8-4214-9320-DCA80475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09550"/>
            <a:ext cx="12001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75" b="0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xfab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3EAE00-9C62-4694-B602-0BB58BBF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209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PLATFORM VISION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A6D1F6-036F-478F-87C9-086114C7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76250"/>
            <a:ext cx="7810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Modern Data Platform Vision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CDC15A-737C-41DD-A62A-285863A1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53200"/>
            <a:ext cx="1162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AA1E5D-4F5E-4908-8D07-4B6C0D7E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6610350"/>
            <a:ext cx="1714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825">
                <a:solidFill>
                  <a:srgbClr val="777777"/>
                </a:solidFill>
                <a:latin typeface="Segoe UI"/>
                <a:ea typeface="Segoe UI"/>
                <a:cs typeface="Segoe UI"/>
              </a:defRPr>
            </a:pPr>
            <a:r>
              <a:t>Company Confidential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5FADCB-D0DC-472E-9F4A-3314296AE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629400"/>
            <a:ext cx="171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000000"/>
                </a:solidFill>
                <a:latin typeface="Segoe UI"/>
                <a:ea typeface="Segoe UI"/>
                <a:cs typeface="Segoe UI"/>
              </a:defRPr>
            </a:pPr>
            <a:r>
              <a:t>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617EE4-0013-4043-B872-DAE3FC2A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81915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The target platform makes data movement traceable from source to insight.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DBBE8B-F3A7-470E-8CBF-041841C6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7A6E57-67CF-47E7-96C7-0096BDF6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00300"/>
            <a:ext cx="781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75F358-DDAB-47CC-A8EB-1595EBF6A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228850"/>
            <a:ext cx="2381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Data Sources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2C1B4A-97F1-4F51-B9DF-2FCD3A934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66950"/>
            <a:ext cx="3619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F6972"/>
                </a:solidFill>
                <a:latin typeface="Segoe UI"/>
                <a:ea typeface="Segoe UI"/>
                <a:cs typeface="Segoe UI"/>
              </a:defRPr>
            </a:pPr>
            <a:r>
              <a:t>Applications, files, databases, APIs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482098-4038-485F-956B-F1474CB3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514600"/>
            <a:ext cx="3048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3BB363-73E5-49FB-9695-3336A397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09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B1CD"/>
          </a:solidFill>
          <a:ln xmlns:a="http://schemas.openxmlformats.org/drawingml/2006/main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BE1C08-FE35-41F2-857B-260FBFD3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67050"/>
            <a:ext cx="781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662DC5-ADD5-448B-9954-9A7D81429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95600"/>
            <a:ext cx="2381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Kafka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214E5A-2321-4F1A-8909-AD10CBE6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33700"/>
            <a:ext cx="3619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F6972"/>
                </a:solidFill>
                <a:latin typeface="Segoe UI"/>
                <a:ea typeface="Segoe UI"/>
                <a:cs typeface="Segoe UI"/>
              </a:defRPr>
            </a:pPr>
            <a:r>
              <a:t>Event ingestion and decoupled buffering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474146-3D4A-44F6-B987-22492383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181350"/>
            <a:ext cx="3048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60B1F7-5A91-4E01-B714-F76A04CCC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766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BEAB2C-DF8A-4908-BF50-218825C5C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33800"/>
            <a:ext cx="781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4B8298-65D9-4CB1-AD91-27C72D8A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562350"/>
            <a:ext cx="2381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Spark Processing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0C91CC-41D1-466B-B720-DD8C131D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600450"/>
            <a:ext cx="3619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F6972"/>
                </a:solidFill>
                <a:latin typeface="Segoe UI"/>
                <a:ea typeface="Segoe UI"/>
                <a:cs typeface="Segoe UI"/>
              </a:defRPr>
            </a:pPr>
            <a:r>
              <a:t>Scalable batch or streaming compute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38F996-AB56-4175-9CB0-84BA526A1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848100"/>
            <a:ext cx="3048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769D3E-354B-427A-AE22-E94369529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43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B1CD"/>
          </a:solidFill>
          <a:ln xmlns:a="http://schemas.openxmlformats.org/drawingml/2006/main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32D631-3E2A-4F9B-8AD6-F377D6A4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00550"/>
            <a:ext cx="781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53AE46-BC55-454F-BE04-48D014CC5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229100"/>
            <a:ext cx="2381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dbt Transformations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83138B-2CF1-4EBE-93C5-8E895ADB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67200"/>
            <a:ext cx="3619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F6972"/>
                </a:solidFill>
                <a:latin typeface="Segoe UI"/>
                <a:ea typeface="Segoe UI"/>
                <a:cs typeface="Segoe UI"/>
              </a:defRPr>
            </a:pPr>
            <a:r>
              <a:t>Modeled, tested, documented transformations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2B2E3E-3D2E-49DE-9B88-E65FC5D8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14850"/>
            <a:ext cx="3048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C47C53-84DE-47F2-99A2-A2F8017B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AB52C5-E418-4573-9121-5D40F061F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67300"/>
            <a:ext cx="781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252D3C-E9BD-4BA6-B617-569B19DC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95850"/>
            <a:ext cx="2381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Data Warehouse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260C0A-1DC5-4106-931F-95D62CFD6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933950"/>
            <a:ext cx="3619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F6972"/>
                </a:solidFill>
                <a:latin typeface="Segoe UI"/>
                <a:ea typeface="Segoe UI"/>
                <a:cs typeface="Segoe UI"/>
              </a:defRPr>
            </a:pPr>
            <a:r>
              <a:t>Governed analytics-ready data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AC58BD-6774-4CBC-B799-7900420E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181600"/>
            <a:ext cx="3048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↓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4F768A3-B69E-4142-B41C-8DA5B528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76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B1CD"/>
          </a:solidFill>
          <a:ln xmlns:a="http://schemas.openxmlformats.org/drawingml/2006/main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C0B569-47B4-400F-BBE3-F37F583F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734050"/>
            <a:ext cx="781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4B5A322-D383-41CF-82E3-5F493A859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62600"/>
            <a:ext cx="2381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Analytics &amp; Reporting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5FD2285-BDC4-42A1-873C-4D55ECD3B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600700"/>
            <a:ext cx="3619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F6972"/>
                </a:solidFill>
                <a:latin typeface="Segoe UI"/>
                <a:ea typeface="Segoe UI"/>
                <a:cs typeface="Segoe UI"/>
              </a:defRPr>
            </a:pPr>
            <a:r>
              <a:t>Dashboards, analysis, and decision support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3F7AC8E-C149-4573-97FB-06A0773A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476500"/>
            <a:ext cx="1619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E795A04-BBAF-4945-83EE-C27E6688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4320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Layer discipline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70F3D4F-6E4D-4C78-9088-39B56A9C6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86100"/>
            <a:ext cx="1238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F6972"/>
                </a:solidFill>
                <a:latin typeface="Segoe UI"/>
                <a:ea typeface="Segoe UI"/>
                <a:cs typeface="Segoe UI"/>
              </a:defRPr>
            </a:pPr>
            <a:r>
              <a:t>Each layer has a clear contract: ingest, process, transform, serve, analyze.</a:t>
            </a:r>
          </a:p>
        </p:txBody>
      </p:sp>
    </p:spTree>
    <p:extLst>
      <p:ext uri="{BB962C8B-B14F-4D97-AF65-F5344CB8AC3E}">
        <p14:creationId xmlns:p14="http://schemas.microsoft.com/office/powerpoint/2010/main" val="77789203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C8EA67-5416-40D8-BC78-FD5F9F92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18A73F-840E-4AC6-8B8B-DFE7AE99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B3CDF8-EFB1-4E28-B2F8-E780A924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09550"/>
            <a:ext cx="12001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75" b="0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xfab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A9C024-CAC8-486A-912C-CDC5F560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209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DISCUSSION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5D18BD-9FAE-4459-AEAE-67B1A083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76250"/>
            <a:ext cx="7810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Topics for Discussion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39AE99-4131-49A4-A2BF-632FC4BDD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53200"/>
            <a:ext cx="1162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11F057-3AD6-42E8-86B7-76C04C3C6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6610350"/>
            <a:ext cx="1714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825">
                <a:solidFill>
                  <a:srgbClr val="777777"/>
                </a:solidFill>
                <a:latin typeface="Segoe UI"/>
                <a:ea typeface="Segoe UI"/>
                <a:cs typeface="Segoe UI"/>
              </a:defRPr>
            </a:pPr>
            <a:r>
              <a:t>Company Confidential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18CE1C-1982-4003-93F2-2F6E233D2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629400"/>
            <a:ext cx="171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000000"/>
                </a:solidFill>
                <a:latin typeface="Segoe UI"/>
                <a:ea typeface="Segoe UI"/>
                <a:cs typeface="Segoe UI"/>
              </a:defRPr>
            </a:pPr>
            <a:r>
              <a:t>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57D44B-96C0-4598-AE28-FAFC8330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8858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The discussion should convert technology options into practical design choices.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1C2ECF-5601-4F99-A9B1-2C20A9BE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F41AE2-82D4-4558-BD39-F1F2E62B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14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CE148F-FF88-4B9D-92DC-7CC8BF04A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476500"/>
            <a:ext cx="1619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Stack fit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3E7CFE-83B7-4E8A-B66E-123DF3AFD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37338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Is this technology stack aligned with current industry best practices?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08B25F-ABB8-462E-A78F-EBF075FD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57550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6BE60C-1461-4352-8F77-AE2ADC9E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14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B1CD"/>
          </a:solidFill>
          <a:ln xmlns:a="http://schemas.openxmlformats.org/drawingml/2006/main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4A3FD4-9598-476C-9C45-3D46B1A24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76500"/>
            <a:ext cx="1619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43B1CD"/>
                </a:solidFill>
                <a:latin typeface="Segoe UI"/>
                <a:ea typeface="Segoe UI"/>
                <a:cs typeface="Segoe UI"/>
              </a:defRPr>
            </a:pPr>
            <a:r>
              <a:t>Orchestration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B75BF2-AA70-4894-A538-9E5E766AE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62250"/>
            <a:ext cx="37338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Prefect vs Airflow vs Dagster?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0E2153-43A0-4E13-9C4A-01502867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257550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991838-C473-4693-9A3F-F0E01891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24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2C9A6D-F41D-4A79-BD6C-79B72FA1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86150"/>
            <a:ext cx="1619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Compute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DC9283-5DEE-46F6-9E0E-F3D7B1B6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71900"/>
            <a:ext cx="37338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When should Spark be preferred over Python?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045978-C666-45B4-A43D-E8AEDDF28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267200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2DD466-7E15-4DE7-B182-23C25460E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24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B1CD"/>
          </a:solidFill>
          <a:ln xmlns:a="http://schemas.openxmlformats.org/drawingml/2006/main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B95882-E0D1-4EE6-96CE-D7FA6E187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86150"/>
            <a:ext cx="1619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43B1CD"/>
                </a:solidFill>
                <a:latin typeface="Segoe UI"/>
                <a:ea typeface="Segoe UI"/>
                <a:cs typeface="Segoe UI"/>
              </a:defRPr>
            </a:pPr>
            <a:r>
              <a:t>Streaming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B2EA12-037A-4786-BF37-4608A829D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71900"/>
            <a:ext cx="37338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Is Kafka the right choice for future scalability?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8927DC-B3B2-4988-945E-E4147BAE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67200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376D7C-2483-49BF-BEB1-34C22908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33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98F80E-D1FE-4C43-A1C2-36E680BA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95800"/>
            <a:ext cx="1619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7A9D"/>
                </a:solidFill>
                <a:latin typeface="Segoe UI"/>
                <a:ea typeface="Segoe UI"/>
                <a:cs typeface="Segoe UI"/>
              </a:defRPr>
            </a:pPr>
            <a:r>
              <a:t>Learning path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AEAD53-9E2E-417A-AAD7-B7940012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81550"/>
            <a:ext cx="37338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What tools would you recommend learning next?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995AEF-8E24-4743-AEA1-7AEA886BC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276850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E13644-4FD2-4E87-BA1A-CFAE4F6DE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533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B1CD"/>
          </a:solidFill>
          <a:ln xmlns:a="http://schemas.openxmlformats.org/drawingml/2006/main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23FA1B-4C02-4FBD-B4FD-F7050342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95800"/>
            <a:ext cx="1619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43B1CD"/>
                </a:solidFill>
                <a:latin typeface="Segoe UI"/>
                <a:ea typeface="Segoe UI"/>
                <a:cs typeface="Segoe UI"/>
              </a:defRPr>
            </a:pPr>
            <a:r>
              <a:t>Platform design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7CAABB-C027-4E84-BD72-8A9CECE10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781550"/>
            <a:ext cx="37338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A32"/>
                </a:solidFill>
                <a:latin typeface="Segoe UI"/>
                <a:ea typeface="Segoe UI"/>
                <a:cs typeface="Segoe UI"/>
              </a:defRPr>
            </a:pPr>
            <a:r>
              <a:t>How would you design a modern data platform today?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15CB9D-62C1-4A38-A8A1-54D67B42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76850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7C6D1C-E958-4221-B552-3BCCECC9F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753100"/>
            <a:ext cx="8858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7776726-244E-4A34-BDBE-9D39BD18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838825"/>
            <a:ext cx="7810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F6972"/>
                </a:solidFill>
                <a:latin typeface="Segoe UI"/>
                <a:ea typeface="Segoe UI"/>
                <a:cs typeface="Segoe UI"/>
              </a:defRPr>
            </a:pPr>
            <a:r>
              <a:t>Output expected: recommendations, trade-offs, and next technologies to investigate.</a:t>
            </a:r>
          </a:p>
        </p:txBody>
      </p:sp>
    </p:spTree>
    <p:extLst>
      <p:ext uri="{BB962C8B-B14F-4D97-AF65-F5344CB8AC3E}">
        <p14:creationId xmlns:p14="http://schemas.microsoft.com/office/powerpoint/2010/main" val="76726246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8FBAA3-F8D5-4CA2-809D-2FDE68B25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9D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E31DBE-6D43-42A9-B203-F0CE8F787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3850"/>
            <a:ext cx="209550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6975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t>xfab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0DFD8C-0E30-45ED-A9CB-93EE8D6C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5905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t>Open Discussion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2EFD52-0A0E-439A-A360-1BD25FCAC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2857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t>Thank you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2F8A14-A9CC-4C73-8FA8-90AE4C94F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9700"/>
            <a:ext cx="209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t>Contact information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B04277-5D29-4C16-B93E-D1E6C3605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0"/>
            <a:ext cx="2857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t>[Your Name]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EB70F4-DF10-4BF1-90AB-35A0BA58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0673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9B22E3-3D03-46B2-89E8-6EE6B83DF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953000"/>
            <a:ext cx="2667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t>Which part of the stack should be challenged first?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97207C-F996-46B0-9737-3C97293C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810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AD01F3-AAEB-469F-A8E8-4CE106B9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695950"/>
            <a:ext cx="2667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t>What should be prioritized next quarter?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5E7AF4-39DA-4F7C-977C-3CD0CADE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6286500"/>
            <a:ext cx="1809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t>www.xfab.com</a:t>
            </a:r>
          </a:p>
        </p:txBody>
      </p:sp>
    </p:spTree>
    <p:extLst>
      <p:ext uri="{BB962C8B-B14F-4D97-AF65-F5344CB8AC3E}">
        <p14:creationId xmlns:p14="http://schemas.microsoft.com/office/powerpoint/2010/main" val="10754574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2026-06-08T21:45:49.6080000Z</dcterms:created>
  <dcterms:modified xsi:type="dcterms:W3CDTF">2026-06-08T21:45:49.6080000Z</dcterms:modified>
</coreProperties>
</file>