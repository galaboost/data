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dba6fe1254ec4" /><Relationship Type="http://schemas.openxmlformats.org/officeDocument/2006/relationships/extended-properties" Target="/docProps/app.xml" Id="R018e2bb442a24d98" /><Relationship Type="http://schemas.openxmlformats.org/officeDocument/2006/relationships/officeDocument" Target="/ppt/presentation.xml" Id="Rf1b336558ce342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b6d70fd216404e"/>
  </p:sldMasterIdLst>
  <p:notesMasterIdLst>
    <p:notesMasterId xmlns:r="http://schemas.openxmlformats.org/officeDocument/2006/relationships" r:id="R950e81f5ec3f4178"/>
  </p:notesMasterIdLst>
  <p:sldIdLst>
    <p:sldId xmlns:r="http://schemas.openxmlformats.org/officeDocument/2006/relationships" id="256" r:id="R151817f7d26c438b"/>
    <p:sldId xmlns:r="http://schemas.openxmlformats.org/officeDocument/2006/relationships" id="257" r:id="Rfc303dfcf19a4d8c"/>
    <p:sldId xmlns:r="http://schemas.openxmlformats.org/officeDocument/2006/relationships" id="258" r:id="Re8a24162d4594738"/>
    <p:sldId xmlns:r="http://schemas.openxmlformats.org/officeDocument/2006/relationships" id="259" r:id="R0f691ffa9d734472"/>
    <p:sldId xmlns:r="http://schemas.openxmlformats.org/officeDocument/2006/relationships" id="260" r:id="R29bc9d37d5d04cfd"/>
    <p:sldId xmlns:r="http://schemas.openxmlformats.org/officeDocument/2006/relationships" id="261" r:id="Rc1cf29ded89245f9"/>
    <p:sldId xmlns:r="http://schemas.openxmlformats.org/officeDocument/2006/relationships" id="262" r:id="Ra8f88f26a8674219"/>
    <p:sldId xmlns:r="http://schemas.openxmlformats.org/officeDocument/2006/relationships" id="263" r:id="R5fc770151da84e2e"/>
    <p:sldId xmlns:r="http://schemas.openxmlformats.org/officeDocument/2006/relationships" id="264" r:id="Reac71ea0f7544f86"/>
    <p:sldId xmlns:r="http://schemas.openxmlformats.org/officeDocument/2006/relationships" id="265" r:id="R4c752fc2c56248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09a534ece9459d" /><Relationship Type="http://schemas.openxmlformats.org/officeDocument/2006/relationships/slideMaster" Target="/ppt/slideMasters/slideMaster1.xml" Id="Rbcb6d70fd216404e" /><Relationship Type="http://schemas.openxmlformats.org/officeDocument/2006/relationships/notesMaster" Target="/ppt/notesMasters/notesMaster1.xml" Id="R950e81f5ec3f4178" /><Relationship Type="http://schemas.openxmlformats.org/officeDocument/2006/relationships/presProps" Target="/ppt/presProps.xml" Id="R1c317e595db04344" /><Relationship Type="http://schemas.openxmlformats.org/officeDocument/2006/relationships/tableStyles" Target="/ppt/tableStyles.xml" Id="R1844e81a87e44da2" /><Relationship Type="http://schemas.openxmlformats.org/officeDocument/2006/relationships/slide" Target="/ppt/slides/slide1.xml" Id="R151817f7d26c438b" /><Relationship Type="http://schemas.openxmlformats.org/officeDocument/2006/relationships/slide" Target="/ppt/slides/slide2.xml" Id="Rfc303dfcf19a4d8c" /><Relationship Type="http://schemas.openxmlformats.org/officeDocument/2006/relationships/slide" Target="/ppt/slides/slide3.xml" Id="Re8a24162d4594738" /><Relationship Type="http://schemas.openxmlformats.org/officeDocument/2006/relationships/slide" Target="/ppt/slides/slide4.xml" Id="R0f691ffa9d734472" /><Relationship Type="http://schemas.openxmlformats.org/officeDocument/2006/relationships/slide" Target="/ppt/slides/slide5.xml" Id="R29bc9d37d5d04cfd" /><Relationship Type="http://schemas.openxmlformats.org/officeDocument/2006/relationships/slide" Target="/ppt/slides/slide6.xml" Id="Rc1cf29ded89245f9" /><Relationship Type="http://schemas.openxmlformats.org/officeDocument/2006/relationships/slide" Target="/ppt/slides/slide7.xml" Id="Ra8f88f26a8674219" /><Relationship Type="http://schemas.openxmlformats.org/officeDocument/2006/relationships/slide" Target="/ppt/slides/slide8.xml" Id="R5fc770151da84e2e" /><Relationship Type="http://schemas.openxmlformats.org/officeDocument/2006/relationships/slide" Target="/ppt/slides/slide9.xml" Id="Reac71ea0f7544f86" /><Relationship Type="http://schemas.openxmlformats.org/officeDocument/2006/relationships/slide" Target="/ppt/slides/slide10.xml" Id="R4c752fc2c56248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47390c96448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034eecc5d442c5" /><Relationship Type="http://schemas.openxmlformats.org/officeDocument/2006/relationships/notesMaster" Target="/ppt/notesMasters/notesMaster1.xml" Id="Rab2538ce0b9447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b23be735124f35" /><Relationship Type="http://schemas.openxmlformats.org/officeDocument/2006/relationships/notesMaster" Target="/ppt/notesMasters/notesMaster1.xml" Id="Rf5ce3e09a46d49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964681ab040a1" /><Relationship Type="http://schemas.openxmlformats.org/officeDocument/2006/relationships/notesMaster" Target="/ppt/notesMasters/notesMaster1.xml" Id="Rf7391f8677ed4e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d08f360f714b71" /><Relationship Type="http://schemas.openxmlformats.org/officeDocument/2006/relationships/notesMaster" Target="/ppt/notesMasters/notesMaster1.xml" Id="R4cfa949b50c941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1d028ac5b74ba1" /><Relationship Type="http://schemas.openxmlformats.org/officeDocument/2006/relationships/notesMaster" Target="/ppt/notesMasters/notesMaster1.xml" Id="R8f21378e78bb44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b5e64e396b4f19" /><Relationship Type="http://schemas.openxmlformats.org/officeDocument/2006/relationships/notesMaster" Target="/ppt/notesMasters/notesMaster1.xml" Id="R646852f0b82b47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d1b307f11a4688" /><Relationship Type="http://schemas.openxmlformats.org/officeDocument/2006/relationships/notesMaster" Target="/ppt/notesMasters/notesMaster1.xml" Id="R46c03684a31844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b7a5d1fb394e88" /><Relationship Type="http://schemas.openxmlformats.org/officeDocument/2006/relationships/notesMaster" Target="/ppt/notesMasters/notesMaster1.xml" Id="R4b735be5bf7e43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08f77e2e154896" /><Relationship Type="http://schemas.openxmlformats.org/officeDocument/2006/relationships/notesMaster" Target="/ppt/notesMasters/notesMaster1.xml" Id="R5324479b7f504d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1f7a9132174856" /><Relationship Type="http://schemas.openxmlformats.org/officeDocument/2006/relationships/notesMaster" Target="/ppt/notesMasters/notesMaster1.xml" Id="R7b40be082f9a45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practical purpose: DMPT has the target field but not the computed value.</a:t>
            </a:r>
          </a:p>
          <a:p xmlns:a="http://schemas.openxmlformats.org/drawingml/2006/main">
            <a:r>
              <a:t>Frame the hierarchy visually: wafer center is the origin; reticles contain dies; both need center-distance values.</a:t>
            </a:r>
          </a:p>
          <a:p xmlns:a="http://schemas.openxmlformats.org/drawingml/2006/main">
            <a:r>
              <a:t>Transition: the business question is how to populate the field reliably from existing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data product need clearly: the field exists, but automation is missing.</a:t>
            </a:r>
          </a:p>
          <a:p xmlns:a="http://schemas.openxmlformats.org/drawingml/2006/main">
            <a:r>
              <a:t>The workflow should consume MaskTooling data, compute physical distances, and write the result into DMPT.</a:t>
            </a:r>
          </a:p>
          <a:p xmlns:a="http://schemas.openxmlformats.org/drawingml/2006/main">
            <a:r>
              <a:t>Emphasize that the same conceptual distance is needed at reticle and die granularity.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investigation started with two technically plausible paths.</a:t>
            </a:r>
          </a:p>
          <a:p xmlns:a="http://schemas.openxmlformats.org/drawingml/2006/main">
            <a:r>
              <a:t>Option 1 is mathematically possible, but it recreates assumptions about layout and pitch.</a:t>
            </a:r>
          </a:p>
          <a:p xmlns:a="http://schemas.openxmlformats.org/drawingml/2006/main">
            <a:r>
              <a:t>Option 2 is preferable if MaskTooling already stores coordinates referenced to wafer center.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two main MaskTooling structures analyzed.</a:t>
            </a:r>
          </a:p>
          <a:p xmlns:a="http://schemas.openxmlformats.org/drawingml/2006/main">
            <a:r>
              <a:t>waferShots carries reticle-level coordinates and grid identifiers; waferDie carries die-level coordinates and size information.</a:t>
            </a:r>
          </a:p>
          <a:p xmlns:a="http://schemas.openxmlformats.org/drawingml/2006/main">
            <a:r>
              <a:t>This sets up the discovery: the needed physical coordinates are present before we calculate anything.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main finding: the coordinate system seems already centered around wafer origin.</a:t>
            </a:r>
          </a:p>
          <a:p xmlns:a="http://schemas.openxmlformats.org/drawingml/2006/main">
            <a:r>
              <a:t>That changes the implementation from reconstructing geometry to applying a distance formula to existing physical coordinates.</a:t>
            </a:r>
          </a:p>
          <a:p xmlns:a="http://schemas.openxmlformats.org/drawingml/2006/main">
            <a:r>
              <a:t>Call out that this still needs validation against known examples, but it materially simplifies the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the visual to the formula: once the origin is wafer center, distance is the vector length from origin to the coordinate pair.</a:t>
            </a:r>
          </a:p>
          <a:p xmlns:a="http://schemas.openxmlformats.org/drawingml/2006/main">
            <a:r>
              <a:t>Use shotX and shotY for reticles; use X and Y for dies.</a:t>
            </a:r>
          </a:p>
          <a:p xmlns:a="http://schemas.openxmlformats.org/drawingml/2006/main">
            <a:r>
              <a:t>Confirm coordinate units in implementation. If stored in micrometers, divide by 1000 before writing millimeters.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cross-system join path: DMPT reticle records map through emap to a device identifier.</a:t>
            </a:r>
          </a:p>
          <a:p xmlns:a="http://schemas.openxmlformats.org/drawingml/2006/main">
            <a:r>
              <a:t>MaskTooling has corresponding device names and device numbers.</a:t>
            </a:r>
          </a:p>
          <a:p xmlns:a="http://schemas.openxmlformats.org/drawingml/2006/main">
            <a:r>
              <a:t>Use the example identifier to make the mapping tangible for the audience.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slide focused on the remaining validation, not a new technical uncertainty.</a:t>
            </a:r>
          </a:p>
          <a:p xmlns:a="http://schemas.openxmlformats.org/drawingml/2006/main">
            <a:r>
              <a:t>The open point is whether DMPT ret_x and ret_y align directly with MaskTooling col and row.</a:t>
            </a:r>
          </a:p>
          <a:p xmlns:a="http://schemas.openxmlformats.org/drawingml/2006/main">
            <a:r>
              <a:t>Once that is confirmed, the reticle distance workflow can proceed directly from coordinates to update.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 end-to-end target architecture as a simple enrichment pipeline.</a:t>
            </a:r>
          </a:p>
          <a:p xmlns:a="http://schemas.openxmlformats.org/drawingml/2006/main">
            <a:r>
              <a:t>The workflow starts in DMPT, resolves the device identity in MaskTooling, reads reticle coordinates, calculates Euclidean distance, and writes center_mm_distance.</a:t>
            </a:r>
          </a:p>
          <a:p xmlns:a="http://schemas.openxmlformats.org/drawingml/2006/main">
            <a:r>
              <a:t>The same pattern can be extended for dies using waferDie X and 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resolving the story: the investigation found that physical coordinates are already available, so the implementation can be simpler and more accurate.</a:t>
            </a:r>
          </a:p>
          <a:p xmlns:a="http://schemas.openxmlformats.org/drawingml/2006/main">
            <a:r>
              <a:t>The immediate next step is validating ret_x and ret_y against col and row.</a:t>
            </a:r>
          </a:p>
          <a:p xmlns:a="http://schemas.openxmlformats.org/drawingml/2006/main">
            <a:r>
              <a:t>After validation, implement extraction, calculate the distance values, and populate DMPT automatically.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User-provided project brief and requested presentation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0112823c6c4c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ae3a225e44d0d" /><Relationship Type="http://schemas.openxmlformats.org/officeDocument/2006/relationships/slideLayout" Target="/ppt/slideLayouts/slideLayout1.xml" Id="R2611e7504a6c42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11e7504a6c42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36659a5174ecf" /><Relationship Type="http://schemas.openxmlformats.org/officeDocument/2006/relationships/notesSlide" Target="/ppt/notesSlides/notesSlide1.xml" Id="R21d75c97a05f494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75ad0eabe4863" /><Relationship Type="http://schemas.openxmlformats.org/officeDocument/2006/relationships/notesSlide" Target="/ppt/notesSlides/notesSlide2.xml" Id="R54fdc6bd6d3e4a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4523201ffc42af" /><Relationship Type="http://schemas.openxmlformats.org/officeDocument/2006/relationships/notesSlide" Target="/ppt/notesSlides/notesSlide3.xml" Id="Rc002c30fb5d54c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d3dc7ff7c343a8" /><Relationship Type="http://schemas.openxmlformats.org/officeDocument/2006/relationships/notesSlide" Target="/ppt/notesSlides/notesSlide4.xml" Id="R5f44b8e45b6c47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1feff11844ddc" /><Relationship Type="http://schemas.openxmlformats.org/officeDocument/2006/relationships/notesSlide" Target="/ppt/notesSlides/notesSlide5.xml" Id="R0ffcdfb52b984c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ac08ff800456c" /><Relationship Type="http://schemas.openxmlformats.org/officeDocument/2006/relationships/notesSlide" Target="/ppt/notesSlides/notesSlide6.xml" Id="R1230d951e24b4c2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d214f85c1415d" /><Relationship Type="http://schemas.openxmlformats.org/officeDocument/2006/relationships/notesSlide" Target="/ppt/notesSlides/notesSlide7.xml" Id="Rc7080fa771204a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e421872554b16" /><Relationship Type="http://schemas.openxmlformats.org/officeDocument/2006/relationships/notesSlide" Target="/ppt/notesSlides/notesSlide8.xml" Id="Red75670a1fb54a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58be254d243da" /><Relationship Type="http://schemas.openxmlformats.org/officeDocument/2006/relationships/notesSlide" Target="/ppt/notesSlides/notesSlide9.xml" Id="Rdd1a2fd090d243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f83387705e4a45" /><Relationship Type="http://schemas.openxmlformats.org/officeDocument/2006/relationships/notesSlide" Target="/ppt/notesSlides/notesSlide10.xml" Id="R0d005c958cfc46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FFA09D-84B0-49BB-A771-655E6EF4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E50887-9B53-4BBF-889B-325856F8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72699A-EEFA-416A-8B08-9D6E3534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568AFD-DCA7-4792-B463-D405E47B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619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B1F3A"/>
                </a:solidFill>
              </a:defRPr>
            </a:pPr>
            <a:r>
              <a:rPr sz="4050" b="1">
                <a:solidFill>
                  <a:srgbClr val="0B1F3A"/>
                </a:solidFill>
              </a:rPr>
              <a:t>Center Wafer Distance Calculation for Reticles and Dies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32277-BC60-47BD-9F67-8F07ED5A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5EAA"/>
                </a:solidFill>
              </a:defRPr>
            </a:pPr>
            <a:r>
              <a:rPr sz="1875" b="0">
                <a:solidFill>
                  <a:srgbClr val="0F5EAA"/>
                </a:solidFill>
              </a:rPr>
              <a:t>Integration of MaskTooling Data into DMPT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4937C-F63A-48E5-A06F-828A0A687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Project context: DMPT distance enrichment | Presenter: Kevin Su | September 1,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79B86-3F23-4EDF-9586-9FBCE15F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3525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19050">
            <a:solidFill>
              <a:srgbClr val="0F5EA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CBF2B6-58D6-4D55-A065-97FFE7D8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14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F42731-3E04-437D-9A34-48AD371E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E4F3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CD2501-E2EC-4C3D-B43C-F90F8C9B6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E4F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8D383F-AFD7-4589-B60E-02A0F94E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290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(0,0)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B422D-1185-4611-98E7-B45EF812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9560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FF"/>
          </a:solidFill>
          <a:ln xmlns:a="http://schemas.openxmlformats.org/drawingml/2006/main" w="19050">
            <a:solidFill>
              <a:srgbClr val="0F5E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86D3B-1634-4A10-A92B-A1BB6728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2890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reticle shot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4191FC-D266-4786-BED3-9122F61F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28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92B96F-F8CC-4433-A115-CA200819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5F33F-851C-4D29-9D9F-DC0BC5FC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028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EFFD3-4DE5-4525-A3D8-91A9FEF6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B8C85-3A81-40B3-A086-EF31E5B2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57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389E02-03C8-41F7-AEC0-709E4638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57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7A0B9-0775-48BB-9351-0B7C4CEF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57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EF3AD-1F0F-4291-B24D-AE959983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575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5D8354-2335-4847-A4A4-F3EC9386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86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BC299E-B316-4B16-A04C-B9B58749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86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734D8E-0422-4BDE-A2A5-52ECD656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B52D67F-6E47-420C-B00E-8E98FE8B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4861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9096A2-F0E6-4180-A7A1-2BC3AB4C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5250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5EAA"/>
                </a:solidFill>
              </a:defRPr>
            </a:pPr>
            <a:r>
              <a:rPr sz="1500" b="1">
                <a:solidFill>
                  <a:srgbClr val="0F5EAA"/>
                </a:solidFill>
              </a:rPr>
              <a:t>wafer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1A39D-FA3F-4B74-9EF5-6522627A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86125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B7A"/>
                </a:solidFill>
              </a:defRPr>
            </a:pPr>
            <a:r>
              <a:rPr sz="1275" b="0">
                <a:solidFill>
                  <a:srgbClr val="5E6B7A"/>
                </a:solidFill>
              </a:rPr>
              <a:t>die array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3E6FBE-9C9E-4C79-802E-54225A20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33750"/>
            <a:ext cx="19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5E6B7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961181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118F9-BA49-4849-B23B-C89F5D3E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DC8C4-7D8E-4686-81F2-DB006E1E1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488F1D-9708-4E80-B0FC-2D9233F63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DD1EC-7BC8-474A-B2AE-4F39531DE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BUSINESS NEED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9CFE2-E4BF-4ACF-9CA5-31674855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DMPT needs an automated distance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FE1E01-88BB-477F-9AD6-2FA5448C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9722E-8009-487D-BCE7-2D5BCDA8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36FFC-13FA-4058-882C-1D235C29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DMPT field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8CE99-5C82-448D-83EB-DEAA1D9F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762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center_mm_distance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B21C34-6ED1-46FE-AB86-CB5831B3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E39A2B"/>
                </a:solidFill>
              </a:defRPr>
            </a:pPr>
            <a:r>
              <a:rPr sz="1350" b="0">
                <a:solidFill>
                  <a:srgbClr val="E39A2B"/>
                </a:solidFill>
              </a:rPr>
              <a:t>Currently not populated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11E2C-254D-4CF3-8ED9-01CD2587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526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MaskTooling</a:t>
            </a:r>
          </a:p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physical layout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154EC-E1F8-4A34-9C55-03FFB665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1952625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Calculation</a:t>
            </a:r>
          </a:p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reticle + die distance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1CED26-11DD-4901-B9CD-66BE6772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952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DMPT</a:t>
            </a:r>
          </a:p>
          <a:p xmlns:a="http://schemas.openxmlformats.org/drawingml/2006/main">
            <a:pPr algn="ctr">
              <a:defRPr sz="1425" b="1">
                <a:solidFill>
                  <a:srgbClr val="0B1F3A"/>
                </a:solidFill>
              </a:defRPr>
            </a:pPr>
            <a:r>
              <a:rPr sz="1425" b="1">
                <a:solidFill>
                  <a:srgbClr val="0B1F3A"/>
                </a:solidFill>
              </a:rPr>
              <a:t>populated field</a:t>
            </a:r>
          </a:p>
        </p:txBody>
      </p:sp>
      <p:cxnSp>
        <p:nvCxnSpPr>
          <p:cNvPr id="31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00875" y="2390775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686925" y="239077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C0F04-9A25-4B35-8895-5DB59F4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619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Objective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A19353-AB1A-4BA0-9C93-B4B9BD20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48125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Calculate distance from reticle center to wafer center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Calculate distance from die center to wafer center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Populate the DMPT value automatically</a:t>
            </a:r>
          </a:p>
        </p:txBody>
      </p:sp>
    </p:spTree>
    <p:extLst>
      <p:ext uri="{BB962C8B-B14F-4D97-AF65-F5344CB8AC3E}">
        <p14:creationId xmlns:p14="http://schemas.microsoft.com/office/powerpoint/2010/main" val="8450142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90DE7-E6DD-45DC-A17A-5CDBF95C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39D7F-F9CC-478C-BE6C-8F102605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72966-9F69-4374-BB02-9E0B3EC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04BFF-0529-488B-94F4-BDFA456D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INITIAL INVESTIGATION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A2831-C164-4125-B2C5-1335F7B7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The key decision was how to derive coordinates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0C209-C938-4D1F-83F7-A898D453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5FE82-5530-4BA0-82A4-9A0D66BDF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28CC17-07F1-46AE-AF4C-F5FC5B6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Option 1</a:t>
            </a:r>
          </a:p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Reconstruct 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17707-0B58-407B-AD98-86028633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71650"/>
            <a:ext cx="457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Option 2</a:t>
            </a:r>
          </a:p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Use stored physical coordinates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50B98-0329-4EEC-8D83-46870507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14650"/>
            <a:ext cx="3952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Inputs: reticle index, die index, pitch values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B23B72-A77A-4CBE-BB77-D82089C22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76650"/>
            <a:ext cx="3952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B7A"/>
                </a:solidFill>
              </a:defRPr>
            </a:pPr>
            <a:r>
              <a:rPr sz="1500" b="0">
                <a:solidFill>
                  <a:srgbClr val="5E6B7A"/>
                </a:solidFill>
              </a:rPr>
              <a:t>Risk: rebuilds layout logic outside the source 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55053-CF9C-4BED-9F65-1EC39FDC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14650"/>
            <a:ext cx="3952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Inputs: shotX, shotY, X, 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F47421-E8A2-468A-809D-34F96952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676650"/>
            <a:ext cx="3952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EAD74"/>
                </a:solidFill>
              </a:defRPr>
            </a:pPr>
            <a:r>
              <a:rPr sz="1500" b="0">
                <a:solidFill>
                  <a:srgbClr val="2EAD74"/>
                </a:solidFill>
              </a:rPr>
              <a:t>Advantage: uses source-of-record coordinates directly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CE46B0-AAC0-49F2-91C2-CA9A9758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05000"/>
            <a:ext cx="0" cy="2667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5E4F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32F8D6-CDDA-4858-AEA7-0DEC43FE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Challenge: choose the approach that is most reliable and maintainable</a:t>
            </a:r>
          </a:p>
        </p:txBody>
      </p:sp>
    </p:spTree>
    <p:extLst>
      <p:ext uri="{BB962C8B-B14F-4D97-AF65-F5344CB8AC3E}">
        <p14:creationId xmlns:p14="http://schemas.microsoft.com/office/powerpoint/2010/main" val="10245855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E90A64-A40E-4CBC-82F9-990A8342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C22A23-E272-4BF1-905A-D611B517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BC9FF-4BF3-420C-A508-A904A1AD8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94F441-0C55-4312-B730-25EB0858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DATABASE EXPLORATION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DFB39-E69D-4D09-9AF9-771E93BD5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MaskTooling exposes reticle and die geometry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3D3386-AC59-4394-B655-90CF63A2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769E42-728F-4C22-88F7-9B3924B3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9211C7-5E8C-4E3A-85FF-199FF42A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85950"/>
            <a:ext cx="266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5EAA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waferShots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3B6C0-47F7-454F-9D36-ADE20F23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85950"/>
            <a:ext cx="266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5EAA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waferDie</a:t>
            </a:r>
          </a:p>
        </p:txBody>
      </p:sp>
      <p:cxnSp>
        <p:nvCxnSpPr>
          <p:cNvPr id="27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19550" y="2228850"/>
            <a:ext cx="4152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3EB8D4"/>
            </a:solidFill>
            <a:prstDash val="dash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194CB8-F95D-46FD-AEBF-61D49DDB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Reticle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A8E237-5F18-48A1-8981-6C00B6F4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476625"/>
            <a:ext cx="2000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shotX</a:t>
            </a:r>
          </a:p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shotY</a:t>
            </a:r>
          </a:p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col</a:t>
            </a:r>
          </a:p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row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6806B-AB01-4137-A8B0-EBCF0378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B1F3A"/>
                </a:solidFill>
              </a:defRPr>
            </a:pPr>
            <a:r>
              <a:rPr sz="1800" b="1">
                <a:solidFill>
                  <a:srgbClr val="0B1F3A"/>
                </a:solidFill>
              </a:rPr>
              <a:t>Die information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538FD0-F738-426F-BA68-85E65D16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81375"/>
            <a:ext cx="2000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X</a:t>
            </a:r>
          </a:p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Y</a:t>
            </a:r>
          </a:p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sizeX</a:t>
            </a:r>
          </a:p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sizeY</a:t>
            </a:r>
          </a:p>
          <a:p xmlns:a="http://schemas.openxmlformats.org/drawingml/2006/main">
            <a:pPr algn="ctr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diameter_mm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1B1A70-9890-4311-9991-12678A0D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28950"/>
            <a:ext cx="25241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MaskTooling</a:t>
            </a:r>
          </a:p>
          <a:p xmlns:a="http://schemas.openxmlformats.org/drawingml/2006/main">
            <a:pPr algn="ctr">
              <a:defRPr sz="1725" b="1">
                <a:solidFill>
                  <a:srgbClr val="0B1F3A"/>
                </a:solidFill>
              </a:defRPr>
            </a:pPr>
            <a:r>
              <a:rPr sz="1725" b="1">
                <a:solidFill>
                  <a:srgbClr val="0B1F3A"/>
                </a:solidFill>
              </a:rPr>
              <a:t>layout source</a:t>
            </a:r>
          </a:p>
        </p:txBody>
      </p:sp>
      <p:cxnSp>
        <p:nvCxnSpPr>
          <p:cNvPr id="33" name=""/>
          <p:cNvCxnSpPr>
            <a:stCxn xmlns:a="http://schemas.openxmlformats.org/drawingml/2006/main" id="15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 flipV="1">
            <a:off x="4019550" y="2228850"/>
            <a:ext cx="809625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1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353300" y="2228850"/>
            <a:ext cx="819150" cy="1257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865139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83C336-75FA-4971-B6BA-FD8EA9DC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832A0-30F5-47E2-A62D-67A2179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9E9C74-EF2F-4ED1-B45D-234FB061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94492-0B83-4899-AC71-080D591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KEY DISCOVERY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5E5CD-486C-414C-A790-4432370F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Coordinates are already centered on the wafer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F57C5-51F5-492F-87F1-0D8743B0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491102-2C71-46D1-A500-2581B26E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54D11-39B6-4DA4-8FCF-04AF39376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145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19050">
            <a:solidFill>
              <a:srgbClr val="0F5E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BAF1F1-AC64-4816-A51A-CCA9F25C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676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909ABE-2DEE-42FB-89D3-BE63BCC9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714750"/>
            <a:ext cx="365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E4F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B7DB4-FF59-4207-B8C3-F5B4780B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8595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E4F3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6F7E3-5806-436B-B726-DFD3C6FB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7909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(0,0)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D2AED5-8893-443D-B60C-48745F1B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0"/>
            <a:ext cx="952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FF"/>
          </a:solidFill>
          <a:ln xmlns:a="http://schemas.openxmlformats.org/drawingml/2006/main" w="19050">
            <a:solidFill>
              <a:srgbClr val="0F5E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8BBD64-A376-45A9-9A51-4E09A964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800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shotX, shotY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442B8-7AB8-46B1-99EB-F8CD2EE7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895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8FF"/>
          </a:solidFill>
          <a:ln xmlns:a="http://schemas.openxmlformats.org/drawingml/2006/main" w="19050">
            <a:solidFill>
              <a:srgbClr val="0F5EA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57CE6-E21B-40B8-A7AC-2ECE59F0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162425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A"/>
                </a:solidFill>
              </a:defRPr>
            </a:pPr>
            <a:r>
              <a:rPr sz="1275" b="1">
                <a:solidFill>
                  <a:srgbClr val="0B1F3A"/>
                </a:solidFill>
              </a:rPr>
              <a:t>shotX, shotY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C4EC41-EF80-4C62-B64F-1C3D21D8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1B57E-393D-4C50-8FDD-4F9CD250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5433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X,Y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17793-A9FA-4008-BD1F-6A6D3131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Values cluster around a shared origin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64C22D-2165-467C-9EF7-DCA88296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0510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Reticle coordinates: shotX, shotY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Die coordinates: X, Y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Observation: coordinates appear referenced to wafer center</a:t>
            </a:r>
          </a:p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Conclusion: no need to rebuild from indices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801327-EFD7-46BC-9234-AF573DE4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37623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E78090-642D-477A-8D23-EFBEDE5E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038725"/>
            <a:ext cx="3286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5EAA"/>
                </a:solidFill>
              </a:defRPr>
            </a:pPr>
            <a:r>
              <a:rPr sz="1650" b="1">
                <a:solidFill>
                  <a:srgbClr val="0F5EAA"/>
                </a:solidFill>
              </a:rPr>
              <a:t>Use physical coordinates as the source of truth</a:t>
            </a:r>
          </a:p>
        </p:txBody>
      </p:sp>
    </p:spTree>
    <p:extLst>
      <p:ext uri="{BB962C8B-B14F-4D97-AF65-F5344CB8AC3E}">
        <p14:creationId xmlns:p14="http://schemas.microsoft.com/office/powerpoint/2010/main" val="1772178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D59A7B-5E3F-4152-920C-83D097E8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26DF8-782B-4D2E-BB1A-B32BF897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AC121-FD87-42CD-8DBD-49C403D2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A78FB6-2AE3-46C6-AC18-51758D57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PROPOSED CALCULATION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8EAA9-79AD-450A-ADE6-1EB45EED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Euclidean distance converts coordinates into center distance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1A316-893A-42E7-82BF-D933883E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1A246-49FE-43ED-A6B6-8D1565D2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370D6-F07B-4C20-AC64-8295E24A0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90700"/>
            <a:ext cx="3771900" cy="3771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AFE"/>
          </a:solidFill>
          <a:ln xmlns:a="http://schemas.openxmlformats.org/drawingml/2006/main" w="19050">
            <a:solidFill>
              <a:srgbClr val="0F5E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12A94-F017-462B-A5BC-A7714B0AE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9525">
            <a:solidFill>
              <a:srgbClr val="0F5EA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57298F-3703-4F1F-AF4A-5FC30026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6766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E4F3"/>
            </a:solidFill>
            <a:prstDash val="dash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1F5A8-8527-4080-AB65-261AB5B53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621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5E4F3"/>
            </a:solidFill>
            <a:prstDash val="dash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066868-E230-4AF0-8ED4-5DDDB57C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75285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E6B7A"/>
                </a:solidFill>
              </a:defRPr>
            </a:pPr>
            <a:r>
              <a:rPr sz="1200" b="0">
                <a:solidFill>
                  <a:srgbClr val="5E6B7A"/>
                </a:solidFill>
              </a:rPr>
              <a:t>(0,0)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F0C277-7746-45EA-9DC4-5019B2BA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1123950" cy="781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39A2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B60F0-9AC1-4EFE-A69E-BFC72686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81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9A2B"/>
          </a:solidFill>
          <a:ln xmlns:a="http://schemas.openxmlformats.org/drawingml/2006/main" w="9525">
            <a:solidFill>
              <a:srgbClr val="E39A2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B0CD9-8472-4D81-9840-A739A024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39A2B"/>
                </a:solidFill>
              </a:defRPr>
            </a:pPr>
            <a:r>
              <a:rPr sz="1275" b="0">
                <a:solidFill>
                  <a:srgbClr val="E39A2B"/>
                </a:solidFill>
              </a:rPr>
              <a:t>distance vector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9D1DC-A4C7-4BE3-9955-03D711FE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62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Reticles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2D4D0-CA5A-444D-8421-DF9E11E75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03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5EAA"/>
                </a:solidFill>
              </a:defRPr>
            </a:pPr>
            <a:r>
              <a:rPr sz="2025" b="1">
                <a:solidFill>
                  <a:srgbClr val="0F5EAA"/>
                </a:solidFill>
              </a:rPr>
              <a:t>Dreticle = sqrt(shotX^2 + shotY^2)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546CD-A494-4194-912A-C314572E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Dies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9387B1-02AC-4DA3-80CC-DF1C36F1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338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5EAA"/>
                </a:solidFill>
              </a:defRPr>
            </a:pPr>
            <a:r>
              <a:rPr sz="2025" b="1">
                <a:solidFill>
                  <a:srgbClr val="0F5EAA"/>
                </a:solidFill>
              </a:rPr>
              <a:t>Ddie = sqrt(X^2 + Y^2)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12C252-3028-4B1E-A93C-91F6F76D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62500"/>
            <a:ext cx="400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If coordinates are micrometers: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Distance(mm) = Distance / 1000</a:t>
            </a:r>
          </a:p>
        </p:txBody>
      </p:sp>
    </p:spTree>
    <p:extLst>
      <p:ext uri="{BB962C8B-B14F-4D97-AF65-F5344CB8AC3E}">
        <p14:creationId xmlns:p14="http://schemas.microsoft.com/office/powerpoint/2010/main" val="5197392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7E9AEA-44FA-4BF2-BC08-D96EB51B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3E70FF-81DA-48DC-AE3D-9AFAA8E1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52D32-D46B-4E3A-8E3B-9E62DE6B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F7C9A-083B-4B86-A4F5-B674EBA5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DATA MAPPING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711CF-939A-4EDC-B5CF-5295EAF87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Device identifiers connect DMPT to MaskTooling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5BBAF-0FF4-4322-BA60-5BD03B15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83C15C-BBDC-4F24-A5DE-6302C3A9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A7DF8A-85E6-4A87-917F-15A8E3A2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193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DMPT.t_ret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E4D08-1CDB-458B-BA03-DE439686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DMPT.t_emap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0E1E6-8122-46FC-9CBA-E6299B909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2095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device_id</a:t>
            </a:r>
          </a:p>
        </p:txBody>
      </p:sp>
      <p:cxnSp>
        <p:nvCxnSpPr>
          <p:cNvPr id="3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2038350" y="26860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3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038350" y="381000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5FF46B-C461-4579-8709-3C0F1C75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47950"/>
            <a:ext cx="2333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deviceNames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5880B-6846-4413-A4A8-87E0E5EF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2333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deviceNumber</a:t>
            </a:r>
          </a:p>
        </p:txBody>
      </p:sp>
      <p:cxnSp>
        <p:nvCxnSpPr>
          <p:cNvPr id="34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358313" y="3371850"/>
            <a:ext cx="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972CB7-C025-4C51-9A9D-1238C331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25717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14288">
            <a:solidFill>
              <a:srgbClr val="0B1F3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XF70649.1A</a:t>
            </a:r>
          </a:p>
        </p:txBody>
      </p:sp>
      <p:cxnSp>
        <p:nvCxnSpPr>
          <p:cNvPr id="36" name=""/>
          <p:cNvCxnSpPr>
            <a:stCxn xmlns:a="http://schemas.openxmlformats.org/drawingml/2006/main" id="10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 flipV="1">
            <a:off x="3086100" y="3771900"/>
            <a:ext cx="1409700" cy="828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6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7067550" y="3009900"/>
            <a:ext cx="1123950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7DF24-90A8-4DE4-90A6-31B9C003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334000"/>
            <a:ext cx="640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EAD74"/>
                </a:solidFill>
              </a:defRPr>
            </a:pPr>
            <a:r>
              <a:rPr sz="1950" b="1">
                <a:solidFill>
                  <a:srgbClr val="2EAD74"/>
                </a:solidFill>
              </a:rPr>
              <a:t>Finding: matching device identifiers exist in both systems</a:t>
            </a:r>
          </a:p>
        </p:txBody>
      </p:sp>
    </p:spTree>
    <p:extLst>
      <p:ext uri="{BB962C8B-B14F-4D97-AF65-F5344CB8AC3E}">
        <p14:creationId xmlns:p14="http://schemas.microsoft.com/office/powerpoint/2010/main" val="990977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E72737-0FC3-4871-9EA1-08B4B3E4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2C5970-647B-4236-AC67-68B8DA90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6F9B7-2B1D-4C9E-A806-2AA7C1E1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6E425-B6CE-4248-B422-4BA9876F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OPEN POINT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849E8-9CD0-43A0-9B1C-5D9DABEC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One mapping point remains before implementation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23044-DB75-4A56-963B-BAC23DC3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43798-B183-4B69-B178-5DFE36D1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DD09D3-1F33-49CE-AA88-827D4576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238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Validate</a:t>
            </a:r>
          </a:p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DMPT ret_x / ret_y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BEE31-C8E0-4ABF-B8A9-D4536B0B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81250"/>
            <a:ext cx="2667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Compare with</a:t>
            </a:r>
          </a:p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MaskTooling col / row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1650C-EB56-4B11-A675-93C3916B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381250"/>
            <a:ext cx="2190750" cy="904875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Match confirmed?</a:t>
            </a:r>
          </a:p>
        </p:txBody>
      </p: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429000" y="2833688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2833688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C4C443-F8C8-4600-83F8-00415F6CE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AD7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Use shotX / shotY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60F222-F6BE-4A27-8E8E-CFD89C52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29250"/>
            <a:ext cx="2190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39A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B1F3A"/>
                </a:solidFill>
              </a:defRPr>
            </a:pPr>
            <a:r>
              <a:rPr sz="1500" b="1">
                <a:solidFill>
                  <a:srgbClr val="0B1F3A"/>
                </a:solidFill>
              </a:rPr>
              <a:t>Resolve index convention</a:t>
            </a:r>
          </a:p>
        </p:txBody>
      </p:sp>
      <p:cxnSp>
        <p:nvCxnSpPr>
          <p:cNvPr id="32" name=""/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9439275" y="3286125"/>
            <a:ext cx="466725" cy="1076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EAD74"/>
            </a:solidFill>
            <a:prstDash val="solid"/>
            <a:tailEnd type="arrow" w="med" len="med"/>
          </a:ln>
        </p:spPr>
      </p:cxnSp>
      <p:cxnSp>
        <p:nvCxnSpPr>
          <p:cNvPr id="33" name=""/>
          <p:cNvCxnSpPr>
            <a:stCxn xmlns:a="http://schemas.openxmlformats.org/drawingml/2006/main" id="10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9439275" y="3286125"/>
            <a:ext cx="1209675" cy="2143125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E39A2B"/>
            </a:solidFill>
            <a:prstDash val="dash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FC4134-9DF7-4818-8753-4D2CB152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Once validated: Reticle -&gt; Coordinates -&gt; Distance calculation -&gt; Update center_mm_distance</a:t>
            </a:r>
          </a:p>
        </p:txBody>
      </p:sp>
    </p:spTree>
    <p:extLst>
      <p:ext uri="{BB962C8B-B14F-4D97-AF65-F5344CB8AC3E}">
        <p14:creationId xmlns:p14="http://schemas.microsoft.com/office/powerpoint/2010/main" val="1828622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266AAA-DFF6-464A-A4BD-BBE3901D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F854F2-72C9-4188-997C-DF26FB7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84222-7E5A-4E73-AD69-6E7D14AA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6216EE-7524-4818-9133-9CD54B08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TARGET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F4DBA3-A232-41B9-A7A7-3D840FC6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The target workflow is a direct data enrichment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5BD26C-7293-410A-9672-C622553F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7D53A-0180-419D-8405-06A758B6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A68F48-AE89-4F5C-A508-DA4FE8CF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DMPT.t_ret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6264A-1191-44EA-8001-A000A7FD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DMPT.t_emap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0AEB3-4A93-46EB-9EC0-FE56BD29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F5E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device_id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838F14-9707-4E8A-8C82-D02DD979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deviceNames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0FAE3-4632-476A-9CA9-95D41BA2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waferShots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A56BF-0388-41BA-8505-2588B6776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shotX / shotY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89516-B5BB-4C92-A89F-D82155D9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A"/>
                </a:solidFill>
              </a:defRPr>
            </a:pPr>
            <a:r>
              <a:rPr sz="1200" b="1">
                <a:solidFill>
                  <a:srgbClr val="0B1F3A"/>
                </a:solidFill>
              </a:rPr>
              <a:t>Euclidean distance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947CD-C0F0-46FA-8B72-23F6D9D5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28950"/>
            <a:ext cx="1257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5E4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B1F3A"/>
                </a:solidFill>
              </a:defRPr>
            </a:pPr>
            <a:r>
              <a:rPr sz="1050" b="1">
                <a:solidFill>
                  <a:srgbClr val="0B1F3A"/>
                </a:solidFill>
              </a:rPr>
              <a:t>center_mm_distance</a:t>
            </a:r>
          </a:p>
        </p:txBody>
      </p: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714500" y="3343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05150" y="3343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95800" y="3343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886450" y="3343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4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277100" y="3343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cxnSp>
        <p:nvCxnSpPr>
          <p:cNvPr id="5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67750" y="3343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E39A2B"/>
            </a:solidFill>
            <a:prstDash val="solid"/>
            <a:tailEnd type="arrow" w="med" len="med"/>
          </a:ln>
        </p:spPr>
      </p:cxnSp>
      <p:cxnSp>
        <p:nvCxnSpPr>
          <p:cNvPr id="5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058400" y="33432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5EAA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0340BD-6139-4C7F-A687-BD03292B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66950"/>
            <a:ext cx="43243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0F5EA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C62A1A-E9B9-47EF-8F37-765680877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28194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EB8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22906-5A69-4E47-8BEE-19AC88D6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27051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39A2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BEC1F-FB1B-40F7-80B5-693886A2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19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5EAA"/>
                </a:solidFill>
              </a:defRPr>
            </a:pPr>
            <a:r>
              <a:rPr sz="1350" b="1">
                <a:solidFill>
                  <a:srgbClr val="0F5EAA"/>
                </a:solidFill>
              </a:rPr>
              <a:t>DMPT domain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21891-A5CF-4436-A28F-F525333D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19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EB8D4"/>
                </a:solidFill>
              </a:defRPr>
            </a:pPr>
            <a:r>
              <a:rPr sz="1350" b="1">
                <a:solidFill>
                  <a:srgbClr val="3EB8D4"/>
                </a:solidFill>
              </a:rPr>
              <a:t>MaskTooling domain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5060BE-CE0C-400F-8667-363E2031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19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39A2B"/>
                </a:solidFill>
              </a:defRPr>
            </a:pPr>
            <a:r>
              <a:rPr sz="1350" b="1">
                <a:solidFill>
                  <a:srgbClr val="E39A2B"/>
                </a:solidFill>
              </a:rPr>
              <a:t>Calculation + update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CB9AA2-3008-454E-8423-23E89DD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4350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B1F3A"/>
                </a:solidFill>
              </a:defRPr>
            </a:pPr>
            <a:r>
              <a:rPr sz="1950" b="1">
                <a:solidFill>
                  <a:srgbClr val="0B1F3A"/>
                </a:solidFill>
              </a:rPr>
              <a:t>Implementation principle: preserve the physical coordinate source, then calculate once in the enrichment layer.</a:t>
            </a:r>
          </a:p>
        </p:txBody>
      </p:sp>
    </p:spTree>
    <p:extLst>
      <p:ext uri="{BB962C8B-B14F-4D97-AF65-F5344CB8AC3E}">
        <p14:creationId xmlns:p14="http://schemas.microsoft.com/office/powerpoint/2010/main" val="18961608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285EAA-13DC-41E0-96C6-C9C9E2CB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EAFAF-5AB3-4262-9F48-8B75B443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5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83E6A7-65EB-4CEA-ABB0-1C8E461D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4370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AD2B8-34E1-4461-AD3E-B6794DB0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5EAA"/>
                </a:solidFill>
              </a:defRPr>
            </a:pPr>
            <a:r>
              <a:rPr sz="1125" b="1">
                <a:solidFill>
                  <a:srgbClr val="0F5EAA"/>
                </a:solidFill>
              </a:rPr>
              <a:t>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891611-323E-4A89-BB29-414760B37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1F3A"/>
                </a:solidFill>
              </a:defRPr>
            </a:pPr>
            <a:r>
              <a:rPr sz="2775" b="1">
                <a:solidFill>
                  <a:srgbClr val="0B1F3A"/>
                </a:solidFill>
              </a:rPr>
              <a:t>A simpler path is ready for validation and 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74BEB4-AEFE-45AB-8E2C-2711715A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E8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0B0D6-DFF3-4899-B7F4-AE143FDF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153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E6B7A"/>
                </a:solidFill>
              </a:defRPr>
            </a:pPr>
            <a:r>
              <a:rPr sz="1050" b="1">
                <a:solidFill>
                  <a:srgbClr val="5E6B7A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48242-71D0-40BD-93BC-BAF5700D8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</a:rPr>
              <a:t>Achievements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AE3A60-536B-4E20-8A98-DDF410D1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74"/>
          </a:solidFill>
          <a:ln xmlns:a="http://schemas.openxmlformats.org/drawingml/2006/main" w="9525">
            <a:solidFill>
              <a:srgbClr val="2EAD7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9ACD2-F5CC-49C0-959B-FDA6F02C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479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Coordinates already available in MaskTooling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5B96AA-72E8-4267-B34F-FB7B3408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95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74"/>
          </a:solidFill>
          <a:ln xmlns:a="http://schemas.openxmlformats.org/drawingml/2006/main" w="9525">
            <a:solidFill>
              <a:srgbClr val="2EAD7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022CB-2125-4120-941F-B272A54D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Euclidean distance formula identified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8F74ED-B440-4714-9528-59BB2B91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AD74"/>
          </a:solidFill>
          <a:ln xmlns:a="http://schemas.openxmlformats.org/drawingml/2006/main" w="9525">
            <a:solidFill>
              <a:srgbClr val="2EAD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21D014-4909-4EA1-A06A-8D08657C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533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Device mapping discovered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13CA73-D3AD-4E4D-B40B-5CE2696A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39A2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04B83C-4E96-4A8B-84C9-038BDBB9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768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Validate mapping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BD20E-3DDD-48D4-8C75-C30B2E3F8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53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39A2B"/>
                </a:solidFill>
              </a:defRPr>
            </a:pPr>
            <a:r>
              <a:rPr sz="1125" b="0">
                <a:solidFill>
                  <a:srgbClr val="E39A2B"/>
                </a:solidFill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3CF3B0-E40A-45DD-9EA7-68EE961D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39A2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C1F99-9778-4459-9763-96A58DCA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434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E4F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6AD17D-56D7-4AF2-8EBB-08F42896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768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Extract 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349932-B361-4808-9459-C029FE8C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353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39A2B"/>
                </a:solidFill>
              </a:defRPr>
            </a:pPr>
            <a:r>
              <a:rPr sz="1125" b="0">
                <a:solidFill>
                  <a:srgbClr val="E39A2B"/>
                </a:solidFill>
              </a:rPr>
              <a:t>planned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AC616C-A257-4EAA-A9ED-18CFB8D3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39A2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86822-AEC1-43A8-BA85-1C2C0903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5434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E4F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FA4233-1ED0-41D9-8687-B84E39D1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8768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Calculate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B9CC0-A29F-4C2C-9B6C-986CED02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353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39A2B"/>
                </a:solidFill>
              </a:defRPr>
            </a:pPr>
            <a:r>
              <a:rPr sz="1125" b="0">
                <a:solidFill>
                  <a:srgbClr val="E39A2B"/>
                </a:solidFill>
              </a:rPr>
              <a:t>planned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7E2E1D-5ED3-4359-A2B7-7441D562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81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E39A2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CE1E55-9C83-483A-B0A2-9430BA0A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4342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5E4F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01F2D-EA62-4AE3-8666-DC913CD4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87680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A"/>
                </a:solidFill>
              </a:defRPr>
            </a:pPr>
            <a:r>
              <a:rPr sz="1350" b="1">
                <a:solidFill>
                  <a:srgbClr val="0B1F3A"/>
                </a:solidFill>
              </a:rPr>
              <a:t>Populate DMPT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7B5DD4-0849-4910-8FE9-0C15BBAA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3530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E39A2B"/>
                </a:solidFill>
              </a:defRPr>
            </a:pPr>
            <a:r>
              <a:rPr sz="1125" b="0">
                <a:solidFill>
                  <a:srgbClr val="E39A2B"/>
                </a:solidFill>
              </a:rPr>
              <a:t>target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F9AAFE-0E0C-4D75-A2AD-637240B1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752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B1F3A"/>
                </a:solidFill>
              </a:defRPr>
            </a:pPr>
            <a:r>
              <a:rPr sz="2025" b="1">
                <a:solidFill>
                  <a:srgbClr val="0B1F3A"/>
                </a:solidFill>
              </a:rPr>
              <a:t>Expected outcome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13A167-0FE7-4530-9A02-8FDD4D327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86000"/>
            <a:ext cx="3714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F5EAA"/>
                </a:solidFill>
              </a:defRPr>
            </a:pPr>
            <a:r>
              <a:rPr sz="2025" b="1">
                <a:solidFill>
                  <a:srgbClr val="0F5EAA"/>
                </a:solidFill>
              </a:rPr>
              <a:t>Reliable and automated center wafer distance calculation for reticles and dies.</a:t>
            </a:r>
          </a:p>
        </p:txBody>
      </p:sp>
    </p:spTree>
    <p:extLst>
      <p:ext uri="{BB962C8B-B14F-4D97-AF65-F5344CB8AC3E}">
        <p14:creationId xmlns:p14="http://schemas.microsoft.com/office/powerpoint/2010/main" val="10756581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2026-09-01T10:49:32.3660000Z</dcterms:created>
  <dcterms:modified xsi:type="dcterms:W3CDTF">2026-09-01T10:49:32.3660000Z</dcterms:modified>
</coreProperties>
</file>