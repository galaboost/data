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f76ef266434637" /><Relationship Type="http://schemas.openxmlformats.org/officeDocument/2006/relationships/extended-properties" Target="/docProps/app.xml" Id="R367f6f5320b64502" /><Relationship Type="http://schemas.openxmlformats.org/officeDocument/2006/relationships/officeDocument" Target="/ppt/presentation.xml" Id="R1005c7ea6d504d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3beeaf57064430"/>
  </p:sldMasterIdLst>
  <p:notesMasterIdLst>
    <p:notesMasterId xmlns:r="http://schemas.openxmlformats.org/officeDocument/2006/relationships" r:id="Re91a2149bd4c4593"/>
  </p:notesMasterIdLst>
  <p:sldIdLst>
    <p:sldId xmlns:r="http://schemas.openxmlformats.org/officeDocument/2006/relationships" id="256" r:id="R750c1eb6a6a04721"/>
    <p:sldId xmlns:r="http://schemas.openxmlformats.org/officeDocument/2006/relationships" id="257" r:id="R3c8ec66cfbaa44df"/>
    <p:sldId xmlns:r="http://schemas.openxmlformats.org/officeDocument/2006/relationships" id="258" r:id="R87e79708aaac4f40"/>
    <p:sldId xmlns:r="http://schemas.openxmlformats.org/officeDocument/2006/relationships" id="259" r:id="R93dd146f7e794ac6"/>
    <p:sldId xmlns:r="http://schemas.openxmlformats.org/officeDocument/2006/relationships" id="260" r:id="R54ffd6a33e8948ee"/>
    <p:sldId xmlns:r="http://schemas.openxmlformats.org/officeDocument/2006/relationships" id="261" r:id="R17faa7585e0a4b4c"/>
    <p:sldId xmlns:r="http://schemas.openxmlformats.org/officeDocument/2006/relationships" id="262" r:id="R539a03f9538040f6"/>
    <p:sldId xmlns:r="http://schemas.openxmlformats.org/officeDocument/2006/relationships" id="263" r:id="R0ebc8e3d34a84fef"/>
    <p:sldId xmlns:r="http://schemas.openxmlformats.org/officeDocument/2006/relationships" id="264" r:id="R8544a2c27e5d4f5b"/>
    <p:sldId xmlns:r="http://schemas.openxmlformats.org/officeDocument/2006/relationships" id="265" r:id="R7ad267c1238e46e7"/>
    <p:sldId xmlns:r="http://schemas.openxmlformats.org/officeDocument/2006/relationships" id="266" r:id="R1df17b080cfd4269"/>
    <p:sldId xmlns:r="http://schemas.openxmlformats.org/officeDocument/2006/relationships" id="267" r:id="R9af300bba47a46b0"/>
    <p:sldId xmlns:r="http://schemas.openxmlformats.org/officeDocument/2006/relationships" id="268" r:id="R49261572ac504a1a"/>
    <p:sldId xmlns:r="http://schemas.openxmlformats.org/officeDocument/2006/relationships" id="269" r:id="R76734daac8c343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cb2480563641b4" /><Relationship Type="http://schemas.openxmlformats.org/officeDocument/2006/relationships/slideMaster" Target="/ppt/slideMasters/slideMaster1.xml" Id="R103beeaf57064430" /><Relationship Type="http://schemas.openxmlformats.org/officeDocument/2006/relationships/notesMaster" Target="/ppt/notesMasters/notesMaster1.xml" Id="Re91a2149bd4c4593" /><Relationship Type="http://schemas.openxmlformats.org/officeDocument/2006/relationships/presProps" Target="/ppt/presProps.xml" Id="R006c8b297d984a29" /><Relationship Type="http://schemas.openxmlformats.org/officeDocument/2006/relationships/tableStyles" Target="/ppt/tableStyles.xml" Id="Ra48abcf883c64679" /><Relationship Type="http://schemas.openxmlformats.org/officeDocument/2006/relationships/slide" Target="/ppt/slides/slide1.xml" Id="R750c1eb6a6a04721" /><Relationship Type="http://schemas.openxmlformats.org/officeDocument/2006/relationships/slide" Target="/ppt/slides/slide2.xml" Id="R3c8ec66cfbaa44df" /><Relationship Type="http://schemas.openxmlformats.org/officeDocument/2006/relationships/slide" Target="/ppt/slides/slide3.xml" Id="R87e79708aaac4f40" /><Relationship Type="http://schemas.openxmlformats.org/officeDocument/2006/relationships/slide" Target="/ppt/slides/slide4.xml" Id="R93dd146f7e794ac6" /><Relationship Type="http://schemas.openxmlformats.org/officeDocument/2006/relationships/slide" Target="/ppt/slides/slide5.xml" Id="R54ffd6a33e8948ee" /><Relationship Type="http://schemas.openxmlformats.org/officeDocument/2006/relationships/slide" Target="/ppt/slides/slide6.xml" Id="R17faa7585e0a4b4c" /><Relationship Type="http://schemas.openxmlformats.org/officeDocument/2006/relationships/slide" Target="/ppt/slides/slide7.xml" Id="R539a03f9538040f6" /><Relationship Type="http://schemas.openxmlformats.org/officeDocument/2006/relationships/slide" Target="/ppt/slides/slide8.xml" Id="R0ebc8e3d34a84fef" /><Relationship Type="http://schemas.openxmlformats.org/officeDocument/2006/relationships/slide" Target="/ppt/slides/slide9.xml" Id="R8544a2c27e5d4f5b" /><Relationship Type="http://schemas.openxmlformats.org/officeDocument/2006/relationships/slide" Target="/ppt/slides/slide10.xml" Id="R7ad267c1238e46e7" /><Relationship Type="http://schemas.openxmlformats.org/officeDocument/2006/relationships/slide" Target="/ppt/slides/slide11.xml" Id="R1df17b080cfd4269" /><Relationship Type="http://schemas.openxmlformats.org/officeDocument/2006/relationships/slide" Target="/ppt/slides/slide12.xml" Id="R9af300bba47a46b0" /><Relationship Type="http://schemas.openxmlformats.org/officeDocument/2006/relationships/slide" Target="/ppt/slides/slide13.xml" Id="R49261572ac504a1a" /><Relationship Type="http://schemas.openxmlformats.org/officeDocument/2006/relationships/slide" Target="/ppt/slides/slide14.xml" Id="R76734daac8c343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c24788884e4e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0e7135ab364461" /><Relationship Type="http://schemas.openxmlformats.org/officeDocument/2006/relationships/notesMaster" Target="/ppt/notesMasters/notesMaster1.xml" Id="Rce4e1ef215364a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bba4fd7a474c6a" /><Relationship Type="http://schemas.openxmlformats.org/officeDocument/2006/relationships/notesMaster" Target="/ppt/notesMasters/notesMaster1.xml" Id="R52a50395dbfe43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74b164aeed44f4" /><Relationship Type="http://schemas.openxmlformats.org/officeDocument/2006/relationships/notesMaster" Target="/ppt/notesMasters/notesMaster1.xml" Id="Rf460264d04394e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fb63a2f52749ea" /><Relationship Type="http://schemas.openxmlformats.org/officeDocument/2006/relationships/notesMaster" Target="/ppt/notesMasters/notesMaster1.xml" Id="R34917dd97b4041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6e12c82fb34dcb" /><Relationship Type="http://schemas.openxmlformats.org/officeDocument/2006/relationships/notesMaster" Target="/ppt/notesMasters/notesMaster1.xml" Id="R22c0e144087e4b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130c8b6f1540f2" /><Relationship Type="http://schemas.openxmlformats.org/officeDocument/2006/relationships/notesMaster" Target="/ppt/notesMasters/notesMaster1.xml" Id="R83cdd6e407e144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880cd4531b4a03" /><Relationship Type="http://schemas.openxmlformats.org/officeDocument/2006/relationships/notesMaster" Target="/ppt/notesMasters/notesMaster1.xml" Id="Raa2d44624c624e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e26287e278949b8" /><Relationship Type="http://schemas.openxmlformats.org/officeDocument/2006/relationships/notesMaster" Target="/ppt/notesMasters/notesMaster1.xml" Id="Rc729e91fc90047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5962096a4446e1" /><Relationship Type="http://schemas.openxmlformats.org/officeDocument/2006/relationships/notesMaster" Target="/ppt/notesMasters/notesMaster1.xml" Id="R117658f8e1b148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7c5597beaf446f" /><Relationship Type="http://schemas.openxmlformats.org/officeDocument/2006/relationships/notesMaster" Target="/ppt/notesMasters/notesMaster1.xml" Id="R728ef271838545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50f2c3129046b0" /><Relationship Type="http://schemas.openxmlformats.org/officeDocument/2006/relationships/notesMaster" Target="/ppt/notesMasters/notesMaster1.xml" Id="R1b4345b807be49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c5e75160df44df" /><Relationship Type="http://schemas.openxmlformats.org/officeDocument/2006/relationships/notesMaster" Target="/ppt/notesMasters/notesMaster1.xml" Id="R55718c80008c4b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fe1274ef0874bc2" /><Relationship Type="http://schemas.openxmlformats.org/officeDocument/2006/relationships/notesMaster" Target="/ppt/notesMasters/notesMaster1.xml" Id="R541e1d4b4a6e4ac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0a0b14beef462a" /><Relationship Type="http://schemas.openxmlformats.org/officeDocument/2006/relationships/notesMaster" Target="/ppt/notesMasters/notesMaster1.xml" Id="R73c4214439ee49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de garde avec logos UVSQ et X-FAB fournis par l'utilisateur, et ajout des tuteurs entreprise.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 demandé pour structurer la soutenance en quatre parties.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Informations issues des sections 2.1 et 2.2 du rapport.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adaptée au discours utilisateur : les ETL R existaient et fonctionnaient déjà. La migration répond à une volonté d'harmonisation, de modernisation et d'intégration dans un environnement Data moderne.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Organisation du projet : suivi Jira, points réguliers avec le tuteur et réunion hebdomadaire avec l'équipe.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Objectifs et cycle de migration décrits en section 3.1.1.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Environnement technique issu de la section 3.2 du rapport.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Méthode et difficultés de migration issues des sections 3.1.1 et 3.5.1.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Stratégie de validation issue de la section 3.3.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Taux de concordance repris du tableau 3.1. La note Reftool reprend l'explication de la section 3.3.1.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centrée uniquement sur Prefect : rôle d'orchestration, planification, supervision, logs, historique et relance des traitements.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Difficultés issues de la section 3.5, dont les tables d'environ 5 To.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Travaux complémentaires et perspectives issus des sections 3.4 et 4.3.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Bilan issu des sections 4.1, 4.2 et 4.4.</a:t>
            </a:r>
          </a:p>
          <a:p xmlns:a="http://schemas.openxmlformats.org/drawingml/2006/main">
            <a:r>
              <a:t>Source principale : rapport_stage_kevin_su_datascale_2026.pdf.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891b2fefa944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7065b0534544af" /><Relationship Type="http://schemas.openxmlformats.org/officeDocument/2006/relationships/slideLayout" Target="/ppt/slideLayouts/slideLayout1.xml" Id="Ra683f332e40b45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83f332e40b45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ee1c1c5ac4315" /><Relationship Type="http://schemas.openxmlformats.org/officeDocument/2006/relationships/image" Target="/ppt/media/image.png" Id="Ra3c293c9dba541b7" /><Relationship Type="http://schemas.openxmlformats.org/officeDocument/2006/relationships/image" Target="/ppt/media/image2.png" Id="R4f20d9e642df4ac2" /><Relationship Type="http://schemas.openxmlformats.org/officeDocument/2006/relationships/notesSlide" Target="/ppt/notesSlides/notesSlide1.xml" Id="R18c858880af34a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79dcc66ae4150" /><Relationship Type="http://schemas.openxmlformats.org/officeDocument/2006/relationships/notesSlide" Target="/ppt/notesSlides/notesSlide2.xml" Id="R46650555657b43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7f995b747f448a" /><Relationship Type="http://schemas.openxmlformats.org/officeDocument/2006/relationships/notesSlide" Target="/ppt/notesSlides/notesSlide3.xml" Id="R8a37a6f6f96548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f2f5952b14fc2" /><Relationship Type="http://schemas.openxmlformats.org/officeDocument/2006/relationships/notesSlide" Target="/ppt/notesSlides/notesSlide4.xml" Id="R9eea230212ae41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4b3a58efe4de4" /><Relationship Type="http://schemas.openxmlformats.org/officeDocument/2006/relationships/notesSlide" Target="/ppt/notesSlides/notesSlide5.xml" Id="Ra3faa1a25ffa4e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e260685744c2a" /><Relationship Type="http://schemas.openxmlformats.org/officeDocument/2006/relationships/notesSlide" Target="/ppt/notesSlides/notesSlide6.xml" Id="Rbc28b34f940a40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bc26a4eb145a7" /><Relationship Type="http://schemas.openxmlformats.org/officeDocument/2006/relationships/notesSlide" Target="/ppt/notesSlides/notesSlide7.xml" Id="Ree86ee9bb3fe47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b1dbe81ac4f1e" /><Relationship Type="http://schemas.openxmlformats.org/officeDocument/2006/relationships/notesSlide" Target="/ppt/notesSlides/notesSlide8.xml" Id="Rd141eabc454c4d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15c3ef96e42a4" /><Relationship Type="http://schemas.openxmlformats.org/officeDocument/2006/relationships/notesSlide" Target="/ppt/notesSlides/notesSlide9.xml" Id="R9df58f8ff6b940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a55c261e440b1" /><Relationship Type="http://schemas.openxmlformats.org/officeDocument/2006/relationships/chart" Target="/ppt/slides/charts/chart1.xml" Id="R3f30abd1a53848c5" /><Relationship Type="http://schemas.openxmlformats.org/officeDocument/2006/relationships/notesSlide" Target="/ppt/notesSlides/notesSlide10.xml" Id="R5eb32e3abab14c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dd07ddb374d83" /><Relationship Type="http://schemas.openxmlformats.org/officeDocument/2006/relationships/notesSlide" Target="/ppt/notesSlides/notesSlide11.xml" Id="Ref5989747f3a403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1a69d6f164089" /><Relationship Type="http://schemas.openxmlformats.org/officeDocument/2006/relationships/notesSlide" Target="/ppt/notesSlides/notesSlide12.xml" Id="R46ea5b7bacb7481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2c6cadf314e2f" /><Relationship Type="http://schemas.openxmlformats.org/officeDocument/2006/relationships/notesSlide" Target="/ppt/notesSlides/notesSlide13.xml" Id="R8bffde819b4a4db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2af0dc1de49d1" /><Relationship Type="http://schemas.openxmlformats.org/officeDocument/2006/relationships/notesSlide" Target="/ppt/notesSlides/notesSlide14.xml" Id="R6df1d7fb6e1241d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Taux de concordance</c:v>
          </c:tx>
          <c:spPr>
            <a:solidFill xmlns:a="http://schemas.openxmlformats.org/drawingml/2006/main">
              <a:srgbClr val="0B8FBD"/>
            </a:solidFill>
          </c:spPr>
          <c:cat>
            <c:strRef>
              <c:f>'Chart Data'!$A$2:$A$10</c:f>
              <c:strCache>
                <c:ptCount val="9"/>
                <c:pt idx="0">
                  <c:v>Mastertoollist</c:v>
                </c:pt>
                <c:pt idx="1">
                  <c:v>Shipment</c:v>
                </c:pt>
                <c:pt idx="2">
                  <c:v>Symaro</c:v>
                </c:pt>
                <c:pt idx="3">
                  <c:v>Symaro_route</c:v>
                </c:pt>
                <c:pt idx="4">
                  <c:v>Reftool</c:v>
                </c:pt>
                <c:pt idx="5">
                  <c:v>Dbtrade</c:v>
                </c:pt>
                <c:pt idx="6">
                  <c:v>Dbiltr</c:v>
                </c:pt>
                <c:pt idx="7">
                  <c:v>Dbmaps 8</c:v>
                </c:pt>
                <c:pt idx="8">
                  <c:v>eda_csv</c:v>
                </c:pt>
              </c:strCache>
            </c:strRef>
          </c:cat>
          <c:val>
            <c:numRef>
              <c:f>'Chart Data'!$B$2:$B$10</c:f>
              <c:numCache>
                <c:formatCode>General</c:formatCode>
                <c:ptCount val="9"/>
                <c:pt idx="0">
                  <c:v>100</c:v>
                </c:pt>
                <c:pt idx="1">
                  <c:v>100</c:v>
                </c:pt>
                <c:pt idx="2">
                  <c:v>98.37</c:v>
                </c:pt>
                <c:pt idx="3">
                  <c:v>100</c:v>
                </c:pt>
                <c:pt idx="4">
                  <c:v>55.79</c:v>
                </c:pt>
                <c:pt idx="5">
                  <c:v>99.43</c:v>
                </c:pt>
                <c:pt idx="6">
                  <c:v>100</c:v>
                </c:pt>
                <c:pt idx="7">
                  <c:v>97.54</c:v>
                </c:pt>
                <c:pt idx="8">
                  <c:v>100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293c9dba541b7"/>
          <a:stretch xmlns:a="http://schemas.openxmlformats.org/drawingml/2006/main"/>
        </p:blipFill>
        <p:spPr>
          <a:xfrm xmlns:a="http://schemas.openxmlformats.org/drawingml/2006/main">
            <a:off x="763304" y="457200"/>
            <a:ext cx="2321492" cy="11239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20d9e642df4ac2"/>
          <a:stretch xmlns:a="http://schemas.openxmlformats.org/drawingml/2006/main"/>
        </p:blipFill>
        <p:spPr>
          <a:xfrm xmlns:a="http://schemas.openxmlformats.org/drawingml/2006/main">
            <a:off x="9076805" y="571500"/>
            <a:ext cx="2039389" cy="876300"/>
          </a:xfrm>
          <a:prstGeom xmlns:a="http://schemas.openxmlformats.org/drawingml/2006/main" prst="rect">
            <a:avLst/>
          </a:prstGeom>
        </p:spPr>
      </p:pic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41150C0-BDB8-416F-9006-5752C535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35255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Projet de fin d'études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F57CFDB-E3F6-4BD3-ADE6-745038F9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924050"/>
            <a:ext cx="81153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Migration et modernisation</a:t>
            </a:r>
          </a:p>
          <a:p xmlns:a="http://schemas.openxmlformats.org/drawingml/2006/main">
            <a:pPr algn="ctr">
              <a:defRPr sz="36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des processus ETL</a:t>
            </a:r>
          </a:p>
          <a:p xmlns:a="http://schemas.openxmlformats.org/drawingml/2006/main">
            <a:pPr algn="ctr">
              <a:defRPr sz="36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de R vers Python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1D4B5B0-7777-4CDC-AF2D-22D764DD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338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Master 2 Informatique DataScale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87F9506-25DF-4B65-819C-91E03F06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Kévin SU</a:t>
            </a:r>
          </a:p>
          <a:p xmlns:a="http://schemas.openxmlformats.org/drawingml/2006/main">
            <a:pPr algn="ctr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X-FAB France</a:t>
            </a:r>
          </a:p>
          <a:p xmlns:a="http://schemas.openxmlformats.org/drawingml/2006/main">
            <a:pPr algn="ctr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2025-2026</a:t>
            </a:r>
          </a:p>
        </p:txBody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CEE4A16C-D2ED-43E9-BE7E-9BA16ED5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76800"/>
            <a:ext cx="247650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C0A94FE-D0DF-423E-BA67-CA7A8E05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105400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Tuteurs entreprise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4A9A4E6-A576-4EF0-A3C6-704B97E6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391150"/>
            <a:ext cx="2019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Corentin Bresselle</a:t>
            </a:r>
          </a:p>
          <a:p xmlns:a="http://schemas.openxmlformats.org/drawingml/2006/main">
            <a:pPr algn="ctr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Aurélie Uemura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35C125D6-5D1C-417F-9D4B-38C658FD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67300"/>
            <a:ext cx="28575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45F75014-A657-4E2A-ADB4-549AF30F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514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6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AFBFB9D-C568-4B55-9A72-96162A96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244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13" name="rect">
            <a:extLst xmlns:a="http://schemas.openxmlformats.org/drawingml/2006/main">
              <a:ext uri="{FF2B5EF4-FFF2-40B4-BE49-F238E27FC236}">
                <a16:creationId xmlns:a16="http://schemas.microsoft.com/office/drawing/2014/main" id="{56BA0790-F2A8-4FC3-8DE2-D24801DA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248275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B3CC0E6-D2B4-4A91-B338-C15EC25C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3244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</a:t>
            </a:r>
          </a:p>
        </p:txBody>
      </p:sp>
      <p:sp>
        <p:nvSpPr>
          <p:cNvPr id="15" name="rect">
            <a:extLst xmlns:a="http://schemas.openxmlformats.org/drawingml/2006/main">
              <a:ext uri="{FF2B5EF4-FFF2-40B4-BE49-F238E27FC236}">
                <a16:creationId xmlns:a16="http://schemas.microsoft.com/office/drawing/2014/main" id="{B2057912-E437-4B60-ACE7-446C5E34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48275"/>
            <a:ext cx="666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67D253A-2913-40AF-959A-C76E40D5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ETL</a:t>
            </a:r>
          </a:p>
        </p:txBody>
      </p:sp>
    </p:spTree>
    <p:extLst>
      <p:ext uri="{BB962C8B-B14F-4D97-AF65-F5344CB8AC3E}">
        <p14:creationId xmlns:p14="http://schemas.microsoft.com/office/powerpoint/2010/main" val="11980317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BF00CA-F15B-4656-BE0B-0E0633EC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Plan de la soutenance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E77E49C-C507-4884-A903-095A0173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A2C56342-038A-4B9E-BDD8-0733262D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DAF75-C06C-4303-BB2C-87F49B40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901DABB6-CF77-4E50-9FEF-D9100890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79443FA9-BD55-4F74-87A2-C72EA528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76400"/>
            <a:ext cx="99822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826ADF1F-7095-4E34-8E9B-CE03FA3B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953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2946E79-C23A-4835-964E-124069F0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335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A036870-F284-40ED-8825-B43C133E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809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Présentation de X-FAB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96F509A-EC80-43B4-9F54-B48D2766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00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-&gt; Entreprise X-FAB</a:t>
            </a:r>
          </a:p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-&gt; Organisation</a:t>
            </a:r>
          </a:p>
        </p:txBody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803CAB56-50DF-442A-9241-3DAB73B9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86050"/>
            <a:ext cx="99822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rect">
            <a:extLst xmlns:a="http://schemas.openxmlformats.org/drawingml/2006/main">
              <a:ext uri="{FF2B5EF4-FFF2-40B4-BE49-F238E27FC236}">
                <a16:creationId xmlns:a16="http://schemas.microsoft.com/office/drawing/2014/main" id="{F1B924C9-4AAE-4287-B0C1-03CF9FE6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57500"/>
            <a:ext cx="4953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14B8B64-0D28-4FB9-B0E8-427EDA1E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4322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2.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C6F9C8A-CA51-4885-880B-5068A95D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819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Contexte et objectifs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03922191-EF7A-4C67-996E-FD749B65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098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-&gt; Problématique</a:t>
            </a:r>
          </a:p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-&gt; Environnement technique</a:t>
            </a:r>
          </a:p>
        </p:txBody>
      </p:sp>
      <p:sp>
        <p:nvSpPr>
          <p:cNvPr id="16" name="rect">
            <a:extLst xmlns:a="http://schemas.openxmlformats.org/drawingml/2006/main">
              <a:ext uri="{FF2B5EF4-FFF2-40B4-BE49-F238E27FC236}">
                <a16:creationId xmlns:a16="http://schemas.microsoft.com/office/drawing/2014/main" id="{ECFF4E57-C375-4073-9F68-5C9EE117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95700"/>
            <a:ext cx="99822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rect">
            <a:extLst xmlns:a="http://schemas.openxmlformats.org/drawingml/2006/main">
              <a:ext uri="{FF2B5EF4-FFF2-40B4-BE49-F238E27FC236}">
                <a16:creationId xmlns:a16="http://schemas.microsoft.com/office/drawing/2014/main" id="{F1F4E80A-6A54-463E-AE51-DD170C08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4953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3B2688C-03B1-43B8-BF2A-490B54AB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528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3.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B677B17-3642-46D8-8187-0BB098BB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8290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Solution mise en place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2AF0C03C-B44C-464D-BD22-7E6EF240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195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7F6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7F6F7"/>
                </a:solidFill>
                <a:latin typeface="Aptos"/>
                <a:ea typeface="Aptos"/>
                <a:cs typeface="Aptos"/>
              </a:rPr>
              <a:t>-&gt; Prefect</a:t>
            </a:r>
          </a:p>
          <a:p xmlns:a="http://schemas.openxmlformats.org/drawingml/2006/main">
            <a:pPr algn="l">
              <a:defRPr sz="1275" b="0">
                <a:solidFill>
                  <a:srgbClr val="E7F6F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7F6F7"/>
                </a:solidFill>
                <a:latin typeface="Aptos"/>
                <a:ea typeface="Aptos"/>
                <a:cs typeface="Aptos"/>
              </a:rPr>
              <a:t>-&gt; Tests de validation</a:t>
            </a:r>
          </a:p>
        </p:txBody>
      </p:sp>
      <p:sp>
        <p:nvSpPr>
          <p:cNvPr id="21" name="rect">
            <a:extLst xmlns:a="http://schemas.openxmlformats.org/drawingml/2006/main">
              <a:ext uri="{FF2B5EF4-FFF2-40B4-BE49-F238E27FC236}">
                <a16:creationId xmlns:a16="http://schemas.microsoft.com/office/drawing/2014/main" id="{4AEA55F2-6E1E-4939-8AA5-D29CBD66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05350"/>
            <a:ext cx="99822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rect">
            <a:extLst xmlns:a="http://schemas.openxmlformats.org/drawingml/2006/main">
              <a:ext uri="{FF2B5EF4-FFF2-40B4-BE49-F238E27FC236}">
                <a16:creationId xmlns:a16="http://schemas.microsoft.com/office/drawing/2014/main" id="{846FC89F-D103-4DBA-B717-5899960F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76800"/>
            <a:ext cx="4953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C7D24B3-C114-4108-AEAF-42352916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6252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4.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67B96A70-33A7-4E0B-B045-B222467D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8387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2DE99C27-2A3F-49CB-A1F6-8CE33C64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291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-&gt; Difficultés</a:t>
            </a:r>
          </a:p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-&gt; Perspectives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25689C87-F6DA-4AD8-A42C-8B8828DA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245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Fil conducteur : présenter le cadre, expliquer le besoin, détailler la solution, puis conclure sur les apports du stage.</a:t>
            </a:r>
          </a:p>
        </p:txBody>
      </p:sp>
    </p:spTree>
    <p:extLst>
      <p:ext uri="{BB962C8B-B14F-4D97-AF65-F5344CB8AC3E}">
        <p14:creationId xmlns:p14="http://schemas.microsoft.com/office/powerpoint/2010/main" val="19526980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41E64F-5AF3-427B-8AF9-264AC899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Présentation de X-FAB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FA6D671-57AA-43CB-A675-C2397FCB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1EC919D0-FAAB-41A0-8075-343983E7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4FD1D6-1A84-49B2-8CEB-B298582A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A008A4F9-EF79-4ACC-A2CC-785AB2A0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7DFF065B-4BB1-459C-809D-85396131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2524125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4DFBC4B8-B64A-4D5C-ACF7-5D1E199C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6667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7105E1D-1B09-4F37-84CE-E554C877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52600"/>
            <a:ext cx="2124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X-FAB en bref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63E5722-D5E0-474E-869B-DBD99BB2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33600"/>
            <a:ext cx="21240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Fonderie spécialisée dans les semi-conducteurs analogiques, mixed-signal et MEMS.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C256C1A5-A0D3-4739-A8CC-E27B33B9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562100"/>
            <a:ext cx="2238375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91FB47EB-AFAA-4931-892B-767104E6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562100"/>
            <a:ext cx="6667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16A2394-1704-4DFA-B329-7122914F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1838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Chiffres clés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415D826-E301-4675-AC4F-E4E74BEE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18383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6 sites de production</a:t>
            </a:r>
          </a:p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environ 4 300 collaborateurs</a:t>
            </a:r>
          </a:p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plus de 30 ans d'expérience</a:t>
            </a:r>
          </a:p>
        </p:txBody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A4720221-276A-43F7-B104-8E61000F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62100"/>
            <a:ext cx="2428875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">
            <a:extLst xmlns:a="http://schemas.openxmlformats.org/drawingml/2006/main">
              <a:ext uri="{FF2B5EF4-FFF2-40B4-BE49-F238E27FC236}">
                <a16:creationId xmlns:a16="http://schemas.microsoft.com/office/drawing/2014/main" id="{A6296F02-A64D-4BBE-9B96-34800452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62100"/>
            <a:ext cx="6667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FCE75FD-1B5B-42F6-853C-A896065B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52600"/>
            <a:ext cx="2028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Marchés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51DF0EE6-A5AA-4718-A0D8-574DA207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028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Automobile</a:t>
            </a:r>
          </a:p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Industrie</a:t>
            </a:r>
          </a:p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Médical</a:t>
            </a:r>
          </a:p>
        </p:txBody>
      </p:sp>
      <p:sp>
        <p:nvSpPr>
          <p:cNvPr id="18" name="rect">
            <a:extLst xmlns:a="http://schemas.openxmlformats.org/drawingml/2006/main">
              <a:ext uri="{FF2B5EF4-FFF2-40B4-BE49-F238E27FC236}">
                <a16:creationId xmlns:a16="http://schemas.microsoft.com/office/drawing/2014/main" id="{5D006428-0C90-4BE3-92FD-37168057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62100"/>
            <a:ext cx="23812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">
            <a:extLst xmlns:a="http://schemas.openxmlformats.org/drawingml/2006/main">
              <a:ext uri="{FF2B5EF4-FFF2-40B4-BE49-F238E27FC236}">
                <a16:creationId xmlns:a16="http://schemas.microsoft.com/office/drawing/2014/main" id="{C39AE99E-6CA9-466E-8319-D51B12BB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62100"/>
            <a:ext cx="6667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044DD8BF-3772-4ACB-BCE8-76940041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526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X-FAB France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156D001-DA02-4979-A338-91C59147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33600"/>
            <a:ext cx="1981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Site de Corbeil-Essonnes</a:t>
            </a:r>
          </a:p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fabrication de wafers</a:t>
            </a:r>
          </a:p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suivi du yield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DABDCE2A-139E-41B5-AC91-A3609287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Positionnement du stage</a:t>
            </a:r>
          </a:p>
        </p:txBody>
      </p:sp>
      <p:sp>
        <p:nvSpPr>
          <p:cNvPr id="23" name="rect">
            <a:extLst xmlns:a="http://schemas.openxmlformats.org/drawingml/2006/main">
              <a:ext uri="{FF2B5EF4-FFF2-40B4-BE49-F238E27FC236}">
                <a16:creationId xmlns:a16="http://schemas.microsoft.com/office/drawing/2014/main" id="{7AD4749D-BBA6-457E-89B4-4F5612E3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16764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915DDB42-7EB1-4413-9FD3-F96D4B90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X-FAB France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495676-0096-4B1F-ABB8-846D5064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3719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6" name="rect">
            <a:extLst xmlns:a="http://schemas.openxmlformats.org/drawingml/2006/main">
              <a:ext uri="{FF2B5EF4-FFF2-40B4-BE49-F238E27FC236}">
                <a16:creationId xmlns:a16="http://schemas.microsoft.com/office/drawing/2014/main" id="{A8F2BA9E-F568-4AE9-A7BA-2981144E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19550"/>
            <a:ext cx="16764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58531DB-B3E1-4847-9F70-8AF13C00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481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Yield Enhancement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52EBDD-BE30-4984-BC88-F658CBC5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3719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9" name="rect">
            <a:extLst xmlns:a="http://schemas.openxmlformats.org/drawingml/2006/main">
              <a:ext uri="{FF2B5EF4-FFF2-40B4-BE49-F238E27FC236}">
                <a16:creationId xmlns:a16="http://schemas.microsoft.com/office/drawing/2014/main" id="{767F444E-2017-4B82-AA43-2DCAE69D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019550"/>
            <a:ext cx="16764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535E0777-4D5F-433C-AD09-B42213EC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481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YE / PCM &amp; Digital Support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A9266F-858B-421F-A891-C3DCDEE1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719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32" name="rect">
            <a:extLst xmlns:a="http://schemas.openxmlformats.org/drawingml/2006/main">
              <a:ext uri="{FF2B5EF4-FFF2-40B4-BE49-F238E27FC236}">
                <a16:creationId xmlns:a16="http://schemas.microsoft.com/office/drawing/2014/main" id="{067D2E5C-EBC9-44F9-97F1-E97F0E40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19550"/>
            <a:ext cx="16764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F6D32BA5-1BB7-423D-8F1E-25668A1E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481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YE Digital Support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EF2C07-8089-4ABC-9D5A-8DF37C0A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719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35" name="rect">
            <a:extLst xmlns:a="http://schemas.openxmlformats.org/drawingml/2006/main">
              <a:ext uri="{FF2B5EF4-FFF2-40B4-BE49-F238E27FC236}">
                <a16:creationId xmlns:a16="http://schemas.microsoft.com/office/drawing/2014/main" id="{B7C5BB06-9B4C-4115-84D1-1E16DA54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019550"/>
            <a:ext cx="16764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87B30852-50CF-4313-A74B-B0182DE4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2481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Stage Data Engineering</a:t>
            </a:r>
          </a:p>
        </p:txBody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79F8B83B-6034-4827-9AC1-1704E9E2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1970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Équipe d'accueil : développement de solutions numériques, automatisation des traitements et mise à disposition des données pour les équipes métier.</a:t>
            </a:r>
          </a:p>
        </p:txBody>
      </p:sp>
    </p:spTree>
    <p:extLst>
      <p:ext uri="{BB962C8B-B14F-4D97-AF65-F5344CB8AC3E}">
        <p14:creationId xmlns:p14="http://schemas.microsoft.com/office/powerpoint/2010/main" val="11614863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6A4B58-37B8-4095-9826-007E7B0D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Contexte : des ETL R à moderniser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288AD3D-473D-43E9-80EE-A23DE821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30551D2B-BF2A-44FA-858D-CB4E87AE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EE834-625A-4814-83EE-48292785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8B381434-0705-4D7E-8E60-CC5518C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969D9CC-C748-4921-B3B0-D78191E9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À mon arrivée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16CDF0C-0AEC-4C8C-82A5-92A63802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28800"/>
            <a:ext cx="3638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81B2D"/>
                </a:solidFill>
                <a:latin typeface="Aptos"/>
                <a:ea typeface="Aptos"/>
                <a:cs typeface="Aptos"/>
              </a:rPr>
              <a:t>Des traitements de données existaient déjà sous forme de scripts R.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064B52D-067C-4E78-A211-4E5CAB73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3638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06274"/>
                </a:solidFill>
                <a:latin typeface="Aptos"/>
                <a:ea typeface="Aptos"/>
                <a:cs typeface="Aptos"/>
              </a:rPr>
              <a:t>Ces scripts fonctionnaient. L'objectif n'était donc pas de corriger un système défaillant.</a:t>
            </a:r>
          </a:p>
        </p:txBody>
      </p:sp>
      <p:sp>
        <p:nvSpPr>
          <p:cNvPr id="9" name="rect">
            <a:extLst xmlns:a="http://schemas.openxmlformats.org/drawingml/2006/main">
              <a:ext uri="{FF2B5EF4-FFF2-40B4-BE49-F238E27FC236}">
                <a16:creationId xmlns:a16="http://schemas.microsoft.com/office/drawing/2014/main" id="{5A4D5311-A073-4AC6-A005-E043EC62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3714750" cy="1504950"/>
          </a:xfrm>
          <a:prstGeom xmlns:a="http://schemas.openxmlformats.org/drawingml/2006/main" prst="roundRect">
            <a:avLst>
              <a:gd name="adj" fmla="val 101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D66B20D-A325-4A2B-BA2B-E0AD51C1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Processus ETL</a:t>
            </a:r>
          </a:p>
        </p:txBody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3DAD5B5C-725B-4D36-84B6-411113EC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0"/>
            <a:ext cx="8763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9EF2248-0D7A-4597-87A5-FD822560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CC9EAC2-FA84-4D5B-A2F5-0098B7E6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D1ABA-2C03-48D3-B208-676BDCDF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181475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5" name="rect">
            <a:extLst xmlns:a="http://schemas.openxmlformats.org/drawingml/2006/main">
              <a:ext uri="{FF2B5EF4-FFF2-40B4-BE49-F238E27FC236}">
                <a16:creationId xmlns:a16="http://schemas.microsoft.com/office/drawing/2014/main" id="{272009B0-AC68-4CFA-9496-0A43A958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00500"/>
            <a:ext cx="8763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6A34C01-F2D7-4706-BA77-80DADBDE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0576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Transform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7A44B17-1D74-4DE6-8864-A4121CA1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386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Règles métier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8C92C5-FE15-4A23-BD43-9EE4B353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81475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9" name="rect">
            <a:extLst xmlns:a="http://schemas.openxmlformats.org/drawingml/2006/main">
              <a:ext uri="{FF2B5EF4-FFF2-40B4-BE49-F238E27FC236}">
                <a16:creationId xmlns:a16="http://schemas.microsoft.com/office/drawing/2014/main" id="{D11BFC74-C912-4AA8-A677-DB13BFF2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00500"/>
            <a:ext cx="8763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E025645E-8877-4832-B842-76752699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576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Load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8FDC71A2-2BDA-4596-B742-93F3B9D4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386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Data Warehouse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B98A9B1-4E50-424C-948E-32D68B81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85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Pourquoi migrer vers Python ?</a:t>
            </a:r>
          </a:p>
        </p:txBody>
      </p:sp>
      <p:sp>
        <p:nvSpPr>
          <p:cNvPr id="23" name="rect">
            <a:extLst xmlns:a="http://schemas.openxmlformats.org/drawingml/2006/main">
              <a:ext uri="{FF2B5EF4-FFF2-40B4-BE49-F238E27FC236}">
                <a16:creationId xmlns:a16="http://schemas.microsoft.com/office/drawing/2014/main" id="{8B1629B5-374C-4741-BA5B-B4948E0C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00250"/>
            <a:ext cx="2667000" cy="1162050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rect">
            <a:extLst xmlns:a="http://schemas.openxmlformats.org/drawingml/2006/main">
              <a:ext uri="{FF2B5EF4-FFF2-40B4-BE49-F238E27FC236}">
                <a16:creationId xmlns:a16="http://schemas.microsoft.com/office/drawing/2014/main" id="{124E5E6A-DCCD-46F8-B29D-8901FA5E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00250"/>
            <a:ext cx="66675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4F1C8380-C8D8-40F6-8DE4-93313D08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19075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Harmonisation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7E0ACD0C-5266-4917-9333-A1B24F7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717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Aligner l'environnement technique avec les autres équipes, notamment l'IT.</a:t>
            </a:r>
          </a:p>
        </p:txBody>
      </p:sp>
      <p:sp>
        <p:nvSpPr>
          <p:cNvPr id="27" name="rect">
            <a:extLst xmlns:a="http://schemas.openxmlformats.org/drawingml/2006/main">
              <a:ext uri="{FF2B5EF4-FFF2-40B4-BE49-F238E27FC236}">
                <a16:creationId xmlns:a16="http://schemas.microsoft.com/office/drawing/2014/main" id="{470E485E-BE9B-4119-AC04-189A6D60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2667000" cy="1162050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rect">
            <a:extLst xmlns:a="http://schemas.openxmlformats.org/drawingml/2006/main">
              <a:ext uri="{FF2B5EF4-FFF2-40B4-BE49-F238E27FC236}">
                <a16:creationId xmlns:a16="http://schemas.microsoft.com/office/drawing/2014/main" id="{3598E150-72D1-4DB8-B75A-67757D20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66675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35649EFF-06C4-48E0-B872-F3423782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9075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Data Engineering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F0D255CB-B35B-4FDC-8CA8-F8D3EA82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717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Utiliser un langage très présent dans les projets Data modernes.</a:t>
            </a:r>
          </a:p>
        </p:txBody>
      </p:sp>
      <p:sp>
        <p:nvSpPr>
          <p:cNvPr id="31" name="rect">
            <a:extLst xmlns:a="http://schemas.openxmlformats.org/drawingml/2006/main">
              <a:ext uri="{FF2B5EF4-FFF2-40B4-BE49-F238E27FC236}">
                <a16:creationId xmlns:a16="http://schemas.microsoft.com/office/drawing/2014/main" id="{510E369A-F8BF-4FEE-91B6-1E2B4BD6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86150"/>
            <a:ext cx="2667000" cy="1162050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rect">
            <a:extLst xmlns:a="http://schemas.openxmlformats.org/drawingml/2006/main">
              <a:ext uri="{FF2B5EF4-FFF2-40B4-BE49-F238E27FC236}">
                <a16:creationId xmlns:a16="http://schemas.microsoft.com/office/drawing/2014/main" id="{32C79F21-9D76-49CA-B627-C3741013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86150"/>
            <a:ext cx="66675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572FE67C-6111-4625-AE85-39338A99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67665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Écosystème riche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A70E91E3-5541-48D8-AB64-D086AA8D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0576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Bibliothèques, outils, documentation et communauté active.</a:t>
            </a:r>
          </a:p>
        </p:txBody>
      </p:sp>
      <p:sp>
        <p:nvSpPr>
          <p:cNvPr id="35" name="rect">
            <a:extLst xmlns:a="http://schemas.openxmlformats.org/drawingml/2006/main">
              <a:ext uri="{FF2B5EF4-FFF2-40B4-BE49-F238E27FC236}">
                <a16:creationId xmlns:a16="http://schemas.microsoft.com/office/drawing/2014/main" id="{7760E2A3-32C5-4CCD-8FC8-12160503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86150"/>
            <a:ext cx="2667000" cy="1162050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rect">
            <a:extLst xmlns:a="http://schemas.openxmlformats.org/drawingml/2006/main">
              <a:ext uri="{FF2B5EF4-FFF2-40B4-BE49-F238E27FC236}">
                <a16:creationId xmlns:a16="http://schemas.microsoft.com/office/drawing/2014/main" id="{EAF618A6-719D-47E2-9ECE-E6847D16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86150"/>
            <a:ext cx="66675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DC0557F1-3E61-4852-8482-9EBFC823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7665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Objectif clé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29AB392F-47F1-43E2-BEFF-F81E55FA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0576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Moderniser sans changer le comportement fonctionnel attendu.</a:t>
            </a:r>
          </a:p>
        </p:txBody>
      </p:sp>
      <p:sp>
        <p:nvSpPr>
          <p:cNvPr id="39" name="rect">
            <a:extLst xmlns:a="http://schemas.openxmlformats.org/drawingml/2006/main">
              <a:ext uri="{FF2B5EF4-FFF2-40B4-BE49-F238E27FC236}">
                <a16:creationId xmlns:a16="http://schemas.microsoft.com/office/drawing/2014/main" id="{17133F72-8FDD-4C8D-A2DC-C3DA40D0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57800"/>
            <a:ext cx="9220200" cy="723900"/>
          </a:xfrm>
          <a:prstGeom xmlns:a="http://schemas.openxmlformats.org/drawingml/2006/main" prst="roundRect">
            <a:avLst>
              <a:gd name="adj" fmla="val 236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8FB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0" name="text">
            <a:extLst xmlns:a="http://schemas.openxmlformats.org/drawingml/2006/main">
              <a:ext uri="{FF2B5EF4-FFF2-40B4-BE49-F238E27FC236}">
                <a16:creationId xmlns:a16="http://schemas.microsoft.com/office/drawing/2014/main" id="{A637CB4B-D739-4621-9F4C-B901865E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Problématique</a:t>
            </a:r>
          </a:p>
        </p:txBody>
      </p:sp>
      <p:sp>
        <p:nvSpPr>
          <p:cNvPr id="41" name="text">
            <a:extLst xmlns:a="http://schemas.openxmlformats.org/drawingml/2006/main">
              <a:ext uri="{FF2B5EF4-FFF2-40B4-BE49-F238E27FC236}">
                <a16:creationId xmlns:a16="http://schemas.microsoft.com/office/drawing/2014/main" id="{A7176BEE-437C-424F-880C-1263A7A3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381625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Comment migrer efficacement les ETL dans un environnement Data moderne, tout en conservant leur comportement fonctionnel ?</a:t>
            </a:r>
          </a:p>
        </p:txBody>
      </p:sp>
    </p:spTree>
    <p:extLst>
      <p:ext uri="{BB962C8B-B14F-4D97-AF65-F5344CB8AC3E}">
        <p14:creationId xmlns:p14="http://schemas.microsoft.com/office/powerpoint/2010/main" val="12810375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ABDB94-2729-4001-96F2-78D4365F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Organisation du projet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941E2A4-7A19-4C99-AF9A-CBDD807C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9465E9D0-51AE-4A1C-B728-6AFBD1EC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61244F-118A-4560-BD92-49F4F5C0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2582ED28-92CA-43D2-8CC0-522C84D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E7967017-90E6-433B-9F63-66373548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9906000" cy="3733800"/>
          </a:xfrm>
          <a:prstGeom xmlns:a="http://schemas.openxmlformats.org/drawingml/2006/main" prst="roundRect">
            <a:avLst>
              <a:gd name="adj" fmla="val 45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228A106-B769-4EBC-A5BA-EC95C2DC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193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Le projet était suivi de manière simple et régulière :</a:t>
            </a:r>
          </a:p>
        </p:txBody>
      </p:sp>
      <p:sp>
        <p:nvSpPr>
          <p:cNvPr id="8" name="rect">
            <a:extLst xmlns:a="http://schemas.openxmlformats.org/drawingml/2006/main">
              <a:ext uri="{FF2B5EF4-FFF2-40B4-BE49-F238E27FC236}">
                <a16:creationId xmlns:a16="http://schemas.microsoft.com/office/drawing/2014/main" id="{DEA5C934-11F4-41F3-92A9-6777FF12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670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642D0AB-C3ED-4B7F-96BE-9F6DA650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7813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Jira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3CD9D8F-D051-43FB-924E-C903B018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suivi des tâches sous forme de tickets avec un statut : TO DO ou DONE</a:t>
            </a:r>
          </a:p>
        </p:txBody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29B72A9D-D15B-488A-95A0-194EC71E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4194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7176622-5AFD-40E1-80A0-88838186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3337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Priorités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BCC884F-4328-4FDD-A057-6B468E42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432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classification des tickets en High, Medium ou Low</a:t>
            </a:r>
          </a:p>
        </p:txBody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9F00164F-17A9-40BF-AFED-6ACC8E0F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719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8F66EEE-4DA9-4CFE-AD6E-F9BF9505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862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Points tuteur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D953F15-42E6-48E7-A4EA-1FC46C07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957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bilan de l'avancement, difficultés rencontrées et prochaines priorités</a:t>
            </a:r>
          </a:p>
        </p:txBody>
      </p:sp>
      <p:sp>
        <p:nvSpPr>
          <p:cNvPr id="17" name="rect">
            <a:extLst xmlns:a="http://schemas.openxmlformats.org/drawingml/2006/main">
              <a:ext uri="{FF2B5EF4-FFF2-40B4-BE49-F238E27FC236}">
                <a16:creationId xmlns:a16="http://schemas.microsoft.com/office/drawing/2014/main" id="{5E764A62-6E22-4D28-90A3-EA9446BF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243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19D4AD4-95FC-42E1-B464-5DF18FA2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386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Réunion hebdomadaire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8BA35B22-A505-4374-9241-5BA280AF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481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partage des travaux réalisés et des tâches prévues avec l'équipe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2768D89A-651A-42D8-8093-4EFF04AA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768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Objectif : garder une vision claire de l'avancement et adapter les priorités au fil du stage.</a:t>
            </a:r>
          </a:p>
        </p:txBody>
      </p:sp>
    </p:spTree>
    <p:extLst>
      <p:ext uri="{BB962C8B-B14F-4D97-AF65-F5344CB8AC3E}">
        <p14:creationId xmlns:p14="http://schemas.microsoft.com/office/powerpoint/2010/main" val="3525238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2275C6-FE89-45FC-AF3C-9A381265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Périmètre et cycle de migration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ACC9A8F-10B1-4576-BA0F-505B8EF4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7276D0AD-F21C-462E-BF1C-C0998124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68740-BAF1-41DF-962A-DFD6DEFA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BF6A538F-3059-4E0C-B67B-41D3D5AD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E1BF2E4C-906F-4D74-8A7B-CF779758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24003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8034AB1-30B7-4A66-9F05-C900FA74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4310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0B8FBD"/>
                </a:solidFill>
                <a:latin typeface="Aptos Display"/>
                <a:ea typeface="Aptos Display"/>
                <a:cs typeface="Aptos Display"/>
              </a:defRPr>
            </a:pPr>
            <a:r>
              <a:rPr sz="4650" b="1">
                <a:solidFill>
                  <a:srgbClr val="0B8FBD"/>
                </a:solidFill>
                <a:latin typeface="Aptos Display"/>
                <a:ea typeface="Aptos Display"/>
                <a:cs typeface="Aptos Display"/>
              </a:rPr>
              <a:t>≈ 10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A492CAA-214E-4C1D-94BC-AE036921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ETL à migrer</a:t>
            </a:r>
          </a:p>
          <a:p xmlns:a="http://schemas.openxmlformats.org/drawingml/2006/main">
            <a:pPr algn="ctr">
              <a:defRPr sz="16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de R vers Python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A3BB678-1E10-4E4A-86F5-CF3E690F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95450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81B2D"/>
                </a:solidFill>
                <a:latin typeface="Aptos"/>
                <a:ea typeface="Aptos"/>
                <a:cs typeface="Aptos"/>
              </a:rPr>
              <a:t>Chaque traitement devait être analysé, redéveloppé, testé, documenté puis préparé pour la production.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0D0CB212-22ED-4BE8-A80C-CFD9DB05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2895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13661D6-2684-47DC-8607-4CDF205A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52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Analyse 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9C1AA8-64DA-4C9E-9B8C-C6A205FE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766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3" name="rect">
            <a:extLst xmlns:a="http://schemas.openxmlformats.org/drawingml/2006/main">
              <a:ext uri="{FF2B5EF4-FFF2-40B4-BE49-F238E27FC236}">
                <a16:creationId xmlns:a16="http://schemas.microsoft.com/office/drawing/2014/main" id="{28FC4CCD-8C5A-410C-A956-227A18F8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2895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DCDD652-2C18-4611-9BBD-5463B0C7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52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Règles métier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CC1BF9-C532-4C84-BDDD-875D5B86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766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6" name="rect">
            <a:extLst xmlns:a="http://schemas.openxmlformats.org/drawingml/2006/main">
              <a:ext uri="{FF2B5EF4-FFF2-40B4-BE49-F238E27FC236}">
                <a16:creationId xmlns:a16="http://schemas.microsoft.com/office/drawing/2014/main" id="{7E496DAF-BDC6-4A0A-A168-52E68DFF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CD71365B-C535-4902-A6F3-51FDE893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52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CADE1-3682-4F90-BECF-D8D3B3E4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766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9" name="rect">
            <a:extLst xmlns:a="http://schemas.openxmlformats.org/drawingml/2006/main">
              <a:ext uri="{FF2B5EF4-FFF2-40B4-BE49-F238E27FC236}">
                <a16:creationId xmlns:a16="http://schemas.microsoft.com/office/drawing/2014/main" id="{8F837A28-9144-4C59-A445-99A002C9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2895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79AF42ED-97FA-4621-9E0D-65CCF00B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52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Optimisation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EBF52-6572-458C-B253-2A7CEF90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766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2" name="rect">
            <a:extLst xmlns:a="http://schemas.openxmlformats.org/drawingml/2006/main">
              <a:ext uri="{FF2B5EF4-FFF2-40B4-BE49-F238E27FC236}">
                <a16:creationId xmlns:a16="http://schemas.microsoft.com/office/drawing/2014/main" id="{A1C74315-A85B-45D9-8007-BD039AC5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3EE7D147-E5F6-4199-B7C7-F3E36F23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52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4" name="rect">
            <a:extLst xmlns:a="http://schemas.openxmlformats.org/drawingml/2006/main">
              <a:ext uri="{FF2B5EF4-FFF2-40B4-BE49-F238E27FC236}">
                <a16:creationId xmlns:a16="http://schemas.microsoft.com/office/drawing/2014/main" id="{271589A0-3A01-49A4-849D-CAE2CE4A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4340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D7000BCB-5D2E-42F6-A67C-908CA397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4672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Comparaison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E46153-7103-41F8-A799-730BA02E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910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7" name="rect">
            <a:extLst xmlns:a="http://schemas.openxmlformats.org/drawingml/2006/main">
              <a:ext uri="{FF2B5EF4-FFF2-40B4-BE49-F238E27FC236}">
                <a16:creationId xmlns:a16="http://schemas.microsoft.com/office/drawing/2014/main" id="{DEE12C85-1AAE-434B-AF41-82C6539D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34340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DBE78200-B96F-4F1A-B17F-01FE6FAE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672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Docker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E16AFE-22D6-4209-B48B-9B48DF71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910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30" name="rect">
            <a:extLst xmlns:a="http://schemas.openxmlformats.org/drawingml/2006/main">
              <a:ext uri="{FF2B5EF4-FFF2-40B4-BE49-F238E27FC236}">
                <a16:creationId xmlns:a16="http://schemas.microsoft.com/office/drawing/2014/main" id="{BBAAC4F9-5CC3-4391-ADE6-F181DD1B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4340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5345CF72-FEAB-4716-A5EA-E3C17DC2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4672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Prefect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A5872D-EB57-4548-A615-E1D02B93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910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33" name="rect">
            <a:extLst xmlns:a="http://schemas.openxmlformats.org/drawingml/2006/main">
              <a:ext uri="{FF2B5EF4-FFF2-40B4-BE49-F238E27FC236}">
                <a16:creationId xmlns:a16="http://schemas.microsoft.com/office/drawing/2014/main" id="{6647CE70-2D1F-4442-8DF2-C4A0360D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4340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37622F06-0619-468E-8D1C-122632D3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672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Documentation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15E054-3B8E-48F5-B048-E25EE28E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5910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36" name="rect">
            <a:extLst xmlns:a="http://schemas.openxmlformats.org/drawingml/2006/main">
              <a:ext uri="{FF2B5EF4-FFF2-40B4-BE49-F238E27FC236}">
                <a16:creationId xmlns:a16="http://schemas.microsoft.com/office/drawing/2014/main" id="{470AB45C-989B-487B-8CB3-188A594F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343400"/>
            <a:ext cx="1219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F4D27A7C-AE13-4AC1-A2D3-F33C14AA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672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9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Production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D05B2B3D-738D-4E68-AF82-FA70B881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676900"/>
            <a:ext cx="960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Message clé : la mission ne consistait pas seulement à traduire du R en Python, mais à conserver la logique fonctionnelle tout en industrialisant les traitements.</a:t>
            </a:r>
          </a:p>
        </p:txBody>
      </p:sp>
    </p:spTree>
    <p:extLst>
      <p:ext uri="{BB962C8B-B14F-4D97-AF65-F5344CB8AC3E}">
        <p14:creationId xmlns:p14="http://schemas.microsoft.com/office/powerpoint/2010/main" val="4246616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EE250F-4D66-439C-806A-C92A6C92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Stack technique du projet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94456F6-7280-4E27-A5D0-3DD6040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622A60B9-AE7E-4B05-8069-A563466B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67241-30D9-4317-B910-FF34B65A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61A69353-EE4D-4678-B8C2-CDA34679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42861FE7-4302-4E42-9BD2-873A9C77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447675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F6D3D29-6C58-4CAE-ADC3-EEA13687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193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Les outils utilisés couvraient les besoins principaux du projet :</a:t>
            </a:r>
          </a:p>
        </p:txBody>
      </p:sp>
      <p:sp>
        <p:nvSpPr>
          <p:cNvPr id="8" name="rect">
            <a:extLst xmlns:a="http://schemas.openxmlformats.org/drawingml/2006/main">
              <a:ext uri="{FF2B5EF4-FFF2-40B4-BE49-F238E27FC236}">
                <a16:creationId xmlns:a16="http://schemas.microsoft.com/office/drawing/2014/main" id="{E228C3DD-4BBA-44E6-B98F-7C263377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7717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1ED5007-07A4-4F2A-A227-414221B6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86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Données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AC31534-96A2-419C-95D7-EBF7BB2B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Data Warehouse</a:t>
            </a:r>
          </a:p>
        </p:txBody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F53BCC95-5905-4A9D-A3D2-A2040B6E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4956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9D1E017-8097-4338-990B-63B2AC24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099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Développement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A154C89-A5CE-4539-ACEF-1F04CB0B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909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Pandas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SQLAlchemy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Poetry</a:t>
            </a:r>
          </a:p>
        </p:txBody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6EAEDC58-CD72-4440-B739-3565F8AD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2195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C5DF6FA-4D6B-42BF-9EC2-3E2A3B31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1338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Industrialisation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2787BFC-9D55-4088-A756-369FEEB4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Prefect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Docker</a:t>
            </a:r>
          </a:p>
        </p:txBody>
      </p:sp>
      <p:sp>
        <p:nvSpPr>
          <p:cNvPr id="17" name="rect">
            <a:extLst xmlns:a="http://schemas.openxmlformats.org/drawingml/2006/main">
              <a:ext uri="{FF2B5EF4-FFF2-40B4-BE49-F238E27FC236}">
                <a16:creationId xmlns:a16="http://schemas.microsoft.com/office/drawing/2014/main" id="{D4B7AE43-37C3-4C2A-92A4-165A9F99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434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3BBF649C-CBEE-4065-8C40-8AAF1C63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8577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Projet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201A879-C314-4B67-A544-45EF4B55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87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GitLab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Jira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Confluence</a:t>
            </a:r>
          </a:p>
        </p:txBody>
      </p:sp>
    </p:spTree>
    <p:extLst>
      <p:ext uri="{BB962C8B-B14F-4D97-AF65-F5344CB8AC3E}">
        <p14:creationId xmlns:p14="http://schemas.microsoft.com/office/powerpoint/2010/main" val="10785330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8AB12A-15BE-4036-88EE-0011F969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Solution : migration R vers Python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3AF3E11-A1FF-422F-A40A-F43D974B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3971E039-934A-44FC-AFD8-E4E1A97C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95620-0EDC-4825-B628-1A1D75AA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7158E6B1-D3F2-4AE2-8071-48CA5122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27CBE21A-EFD8-41CF-AFC3-15FDAE88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333375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69B01580-F5D4-44E1-8945-17CE1C2A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66675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3CC683C-1C7B-4095-98BE-F9109A59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Avant : ETL historique en 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DB81B08-0B16-437E-8F40-C737797D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293370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extraction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transformations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règles métier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chargement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exécution historique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F300AD2D-2AE9-4412-9EEE-80BC2E36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676400"/>
            <a:ext cx="333375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0BE0897D-9E1D-4ADC-A462-1419499B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676400"/>
            <a:ext cx="66675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BB6D6F2-C3A3-409E-9F14-C0A3B4FF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669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Après : ETL Python structuré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5AF9E13-A26D-464A-93AB-7643C2E3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47900"/>
            <a:ext cx="293370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code modulaire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dépendances gérées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tests automatisés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Docker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Prefect</a:t>
            </a:r>
          </a:p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GitLab et documentation</a:t>
            </a:r>
          </a:p>
        </p:txBody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423781AE-92C5-4AD0-8119-0396216C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81250"/>
            <a:ext cx="2933700" cy="1562100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8FB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FB97D4E-8AA6-49D1-921E-679422B4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00350"/>
            <a:ext cx="2324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Conservation stricte</a:t>
            </a:r>
          </a:p>
          <a:p xmlns:a="http://schemas.openxmlformats.org/drawingml/2006/main">
            <a:pPr algn="ctr">
              <a:defRPr sz="20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de la logique métier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4DCDEE-95C8-4BA8-958B-42A836BE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623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10118-A422-4822-81CC-00D7E23E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1623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3F426236-3BFB-4418-A3D0-58899177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Difficultés traitées</a:t>
            </a:r>
          </a:p>
        </p:txBody>
      </p:sp>
      <p:sp>
        <p:nvSpPr>
          <p:cNvPr id="19" name="rect">
            <a:extLst xmlns:a="http://schemas.openxmlformats.org/drawingml/2006/main">
              <a:ext uri="{FF2B5EF4-FFF2-40B4-BE49-F238E27FC236}">
                <a16:creationId xmlns:a16="http://schemas.microsoft.com/office/drawing/2014/main" id="{7A28A8F6-CA2D-43D7-ABB1-83DF1D85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76900"/>
            <a:ext cx="2190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8CA7AF15-AA7F-450A-AE2F-5C795D94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1924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06274"/>
                </a:solidFill>
                <a:latin typeface="Aptos"/>
                <a:ea typeface="Aptos"/>
                <a:cs typeface="Aptos"/>
              </a:rPr>
              <a:t>bibliothèques non équivalentes</a:t>
            </a:r>
          </a:p>
        </p:txBody>
      </p:sp>
      <p:sp>
        <p:nvSpPr>
          <p:cNvPr id="21" name="rect">
            <a:extLst xmlns:a="http://schemas.openxmlformats.org/drawingml/2006/main">
              <a:ext uri="{FF2B5EF4-FFF2-40B4-BE49-F238E27FC236}">
                <a16:creationId xmlns:a16="http://schemas.microsoft.com/office/drawing/2014/main" id="{1E665AB2-2D5B-41B1-AE0C-B40EFCF6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676900"/>
            <a:ext cx="2190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74E8F46A-D7F0-4845-8519-0AA1302B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791200"/>
            <a:ext cx="1924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06274"/>
                </a:solidFill>
                <a:latin typeface="Aptos"/>
                <a:ea typeface="Aptos"/>
                <a:cs typeface="Aptos"/>
              </a:rPr>
              <a:t>index R à 1 et Python à 0</a:t>
            </a:r>
          </a:p>
        </p:txBody>
      </p:sp>
      <p:sp>
        <p:nvSpPr>
          <p:cNvPr id="23" name="rect">
            <a:extLst xmlns:a="http://schemas.openxmlformats.org/drawingml/2006/main">
              <a:ext uri="{FF2B5EF4-FFF2-40B4-BE49-F238E27FC236}">
                <a16:creationId xmlns:a16="http://schemas.microsoft.com/office/drawing/2014/main" id="{74E1AE5C-338C-42B7-8E73-2856B630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676900"/>
            <a:ext cx="2190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82C5B4F-DB30-43EE-B86C-A069C80D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91200"/>
            <a:ext cx="1924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06274"/>
                </a:solidFill>
                <a:latin typeface="Aptos"/>
                <a:ea typeface="Aptos"/>
                <a:cs typeface="Aptos"/>
              </a:rPr>
              <a:t>NA en R et NULL en Python</a:t>
            </a:r>
          </a:p>
        </p:txBody>
      </p:sp>
      <p:sp>
        <p:nvSpPr>
          <p:cNvPr id="25" name="rect">
            <a:extLst xmlns:a="http://schemas.openxmlformats.org/drawingml/2006/main">
              <a:ext uri="{FF2B5EF4-FFF2-40B4-BE49-F238E27FC236}">
                <a16:creationId xmlns:a16="http://schemas.microsoft.com/office/drawing/2014/main" id="{75F18F97-14CA-4D57-92B4-FB543B03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676900"/>
            <a:ext cx="2190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04ECBD48-92BE-4A3A-B3B3-9D25C6F4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791200"/>
            <a:ext cx="1924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06274"/>
                </a:solidFill>
                <a:latin typeface="Aptos"/>
                <a:ea typeface="Aptos"/>
                <a:cs typeface="Aptos"/>
              </a:rPr>
              <a:t>cas métier historiques</a:t>
            </a:r>
          </a:p>
        </p:txBody>
      </p:sp>
    </p:spTree>
    <p:extLst>
      <p:ext uri="{BB962C8B-B14F-4D97-AF65-F5344CB8AC3E}">
        <p14:creationId xmlns:p14="http://schemas.microsoft.com/office/powerpoint/2010/main" val="9400652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72EA0D-DE88-4967-94CF-78A13F551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Solution : validation R / Python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28B7D30-67AF-4DF1-A10D-7F904AFF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61E9EE3E-D3D0-46BA-A26C-6B37D3C4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035C6-0BC6-4384-AFC1-BC9FD0F0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F928D132-BC40-435B-BF9C-96340460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B9B02081-3F20-4538-BB44-7D41E543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62100"/>
            <a:ext cx="34290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18A76D2-8407-43FC-B886-7BB9E3C3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954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Même source de données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FA8ADE-E09A-4AAD-926C-29B0F2FD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9" name="rect">
            <a:extLst xmlns:a="http://schemas.openxmlformats.org/drawingml/2006/main">
              <a:ext uri="{FF2B5EF4-FFF2-40B4-BE49-F238E27FC236}">
                <a16:creationId xmlns:a16="http://schemas.microsoft.com/office/drawing/2014/main" id="{A4CAB8EE-4AF7-4967-A47E-C8E92C20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647950"/>
            <a:ext cx="20002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140C0B3-F2EF-49E9-976C-7646ACF7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432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ETL R</a:t>
            </a:r>
          </a:p>
          <a:p xmlns:a="http://schemas.openxmlformats.org/drawingml/2006/main">
            <a:pPr algn="ctr">
              <a:defRPr sz="16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DMP</a:t>
            </a:r>
          </a:p>
        </p:txBody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750AAB4D-A000-4F6F-89E3-7AB56DA7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47950"/>
            <a:ext cx="20002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28D6D5F-9037-4280-8565-49D5D419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432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ETL Python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DMQ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3349BE-1626-44CB-AB0E-7DE06339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476500"/>
            <a:ext cx="242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D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0D4EC7-C4E8-4151-80D2-24A6769B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76500"/>
            <a:ext cx="242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D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01338-9AA9-43DB-84A7-97B02CA0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486150"/>
            <a:ext cx="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D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E7CEA5-48B6-48B1-9D5F-34D08BBA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486150"/>
            <a:ext cx="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DE5"/>
            </a:solidFill>
            <a:prstDash val="solid"/>
          </a:ln>
        </p:spPr>
      </p:sp>
      <p:sp>
        <p:nvSpPr>
          <p:cNvPr id="17" name="rect">
            <a:extLst xmlns:a="http://schemas.openxmlformats.org/drawingml/2006/main">
              <a:ext uri="{FF2B5EF4-FFF2-40B4-BE49-F238E27FC236}">
                <a16:creationId xmlns:a16="http://schemas.microsoft.com/office/drawing/2014/main" id="{E84E74D5-934C-4EA3-9E1C-38CA20AE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00500"/>
            <a:ext cx="3619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F812F7C-7063-4C25-8F63-67D55124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Script Python de comparaison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959384-73E1-43FF-9483-99666797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529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0" name="rect">
            <a:extLst xmlns:a="http://schemas.openxmlformats.org/drawingml/2006/main">
              <a:ext uri="{FF2B5EF4-FFF2-40B4-BE49-F238E27FC236}">
                <a16:creationId xmlns:a16="http://schemas.microsoft.com/office/drawing/2014/main" id="{AEF68284-E57E-41B9-B3FE-76112897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972050"/>
            <a:ext cx="3714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EB21FC14-4248-4D4C-84D7-35056511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1244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Résultat : taux de concordance</a:t>
            </a:r>
          </a:p>
        </p:txBody>
      </p:sp>
      <p:sp>
        <p:nvSpPr>
          <p:cNvPr id="22" name="rect">
            <a:extLst xmlns:a="http://schemas.openxmlformats.org/drawingml/2006/main">
              <a:ext uri="{FF2B5EF4-FFF2-40B4-BE49-F238E27FC236}">
                <a16:creationId xmlns:a16="http://schemas.microsoft.com/office/drawing/2014/main" id="{6C12ABB0-1C69-4E76-9D57-5A20FBD6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531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6B18F03-F821-4339-8F95-9D9C15D6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1581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lignes totales</a:t>
            </a:r>
          </a:p>
        </p:txBody>
      </p:sp>
      <p:sp>
        <p:nvSpPr>
          <p:cNvPr id="24" name="rect">
            <a:extLst xmlns:a="http://schemas.openxmlformats.org/drawingml/2006/main">
              <a:ext uri="{FF2B5EF4-FFF2-40B4-BE49-F238E27FC236}">
                <a16:creationId xmlns:a16="http://schemas.microsoft.com/office/drawing/2014/main" id="{25370797-2310-4059-9014-613F763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7531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ED0C03A8-99AA-4753-8CC8-427B2F2C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829300"/>
            <a:ext cx="1581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lignes manquantes</a:t>
            </a:r>
          </a:p>
        </p:txBody>
      </p:sp>
      <p:sp>
        <p:nvSpPr>
          <p:cNvPr id="26" name="rect">
            <a:extLst xmlns:a="http://schemas.openxmlformats.org/drawingml/2006/main">
              <a:ext uri="{FF2B5EF4-FFF2-40B4-BE49-F238E27FC236}">
                <a16:creationId xmlns:a16="http://schemas.microsoft.com/office/drawing/2014/main" id="{82E6833D-D1B4-4CDD-88AD-1B6BF561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7531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086273D-7B38-461D-A281-0FC9FBE2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829300"/>
            <a:ext cx="1581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valeurs differentes</a:t>
            </a:r>
          </a:p>
        </p:txBody>
      </p:sp>
      <p:sp>
        <p:nvSpPr>
          <p:cNvPr id="28" name="rect">
            <a:extLst xmlns:a="http://schemas.openxmlformats.org/drawingml/2006/main">
              <a:ext uri="{FF2B5EF4-FFF2-40B4-BE49-F238E27FC236}">
                <a16:creationId xmlns:a16="http://schemas.microsoft.com/office/drawing/2014/main" id="{AA930422-77FF-4ACD-A5FE-BC551AC3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7531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3813E254-EEBC-4672-AD73-2EE0BD44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829300"/>
            <a:ext cx="1581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CSV d'analyse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BB7ED41A-1F95-485A-BB00-DC9D3E15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341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100 % signifie que les résultats sont strictement identiques selon les critères de comparaison définis.</a:t>
            </a:r>
          </a:p>
        </p:txBody>
      </p:sp>
    </p:spTree>
    <p:extLst>
      <p:ext uri="{BB962C8B-B14F-4D97-AF65-F5344CB8AC3E}">
        <p14:creationId xmlns:p14="http://schemas.microsoft.com/office/powerpoint/2010/main" val="18462920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49FE73-3F62-47C4-825D-3DBE0830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Résultats de validation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A3D29D3-B250-4162-A0BE-5A96F1E6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AB41A40A-BF4E-430D-9E19-34F69E6D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09329-110A-459E-8328-0D284B4F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46E8AB83-5ABD-49C0-A00F-FD2231E2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8BC4E06-C179-489B-8E0E-68EE6C67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Tous les ETL migrés ont été validés fonctionnellement.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819150" y="2038350"/>
          <a:ext xmlns:a="http://schemas.openxmlformats.org/drawingml/2006/main" cx="67627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30abd1a53848c5"/>
          </a:graphicData>
        </a:graphic>
      </p:graphicFrame>
      <p:sp>
        <p:nvSpPr>
          <p:cNvPr id="8" name="rect">
            <a:extLst xmlns:a="http://schemas.openxmlformats.org/drawingml/2006/main">
              <a:ext uri="{FF2B5EF4-FFF2-40B4-BE49-F238E27FC236}">
                <a16:creationId xmlns:a16="http://schemas.microsoft.com/office/drawing/2014/main" id="{CF8AA40C-BAB9-4F29-A750-2D885824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38350"/>
            <a:ext cx="295275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46B1F51-317D-4970-AC38-B24AAB7D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≈ 10 ETL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E05D249-A13D-45B5-8B55-243EEFB7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813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migrés et validés</a:t>
            </a:r>
          </a:p>
        </p:txBody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659DF6DD-39CA-4953-BABA-989F0667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67100"/>
            <a:ext cx="2952750" cy="1676400"/>
          </a:xfrm>
          <a:prstGeom xmlns:a="http://schemas.openxmlformats.org/drawingml/2006/main" prst="roundRect">
            <a:avLst>
              <a:gd name="adj" fmla="val 7955"/>
            </a:avLst>
          </a:prstGeom>
          <a:solidFill xmlns:a="http://schemas.openxmlformats.org/drawingml/2006/main">
            <a:srgbClr val="FFF8EC"/>
          </a:solidFill>
          <a:ln xmlns:a="http://schemas.openxmlformats.org/drawingml/2006/main" w="9525">
            <a:solidFill>
              <a:srgbClr val="F3D4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rect">
            <a:extLst xmlns:a="http://schemas.openxmlformats.org/drawingml/2006/main">
              <a:ext uri="{FF2B5EF4-FFF2-40B4-BE49-F238E27FC236}">
                <a16:creationId xmlns:a16="http://schemas.microsoft.com/office/drawing/2014/main" id="{EA96C7E9-BB1A-4087-94FA-55E055AC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67100"/>
            <a:ext cx="66675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699F7E3-1FE0-454D-897B-46AFC750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576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Cas Reftool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330AE95-C9D4-43B6-B728-BB189065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38600"/>
            <a:ext cx="25527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Le taux de 55,79 % vient surtout de différences de représentation, par exemple NA en R et NULL en Python. Après analyse, le traitement a été validé fonctionnellement.</a:t>
            </a:r>
          </a:p>
        </p:txBody>
      </p:sp>
    </p:spTree>
    <p:extLst>
      <p:ext uri="{BB962C8B-B14F-4D97-AF65-F5344CB8AC3E}">
        <p14:creationId xmlns:p14="http://schemas.microsoft.com/office/powerpoint/2010/main" val="5909915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FBF3BA-518B-4739-94A0-F4312239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Prefect : orchestration des ETL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293AFD1-4298-4AD7-88BD-5B1BFDB3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4F522BF0-A731-4A09-ADB5-1605A424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EFEF01-3D64-48EF-BEC0-815284A5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CC5CF64F-F7D3-4509-871B-BAD4253D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1F2251AB-46D4-4EBA-BE0E-84560001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38300"/>
            <a:ext cx="4762500" cy="2914650"/>
          </a:xfrm>
          <a:prstGeom xmlns:a="http://schemas.openxmlformats.org/drawingml/2006/main" prst="roundRect">
            <a:avLst>
              <a:gd name="adj" fmla="val 45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0243DB9C-8C9A-44EC-9B11-78B642E9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38300"/>
            <a:ext cx="66675" cy="2914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F4E84D3-595A-4D1F-993A-46FEA40B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28800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Avant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8BF63AB-CD56-46E0-9AFA-93BDD828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9800"/>
            <a:ext cx="43624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Scripts lancés séparément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Planification moins centralisée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Logs dispersés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Suivi manuel des erreurs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16E581F5-9ADD-4D37-AFEF-12B08547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38300"/>
            <a:ext cx="4762500" cy="2914650"/>
          </a:xfrm>
          <a:prstGeom xmlns:a="http://schemas.openxmlformats.org/drawingml/2006/main" prst="roundRect">
            <a:avLst>
              <a:gd name="adj" fmla="val 45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B1563FE4-C753-42AF-8D66-7B30AFA4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38300"/>
            <a:ext cx="66675" cy="2914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2D349A3-F47C-490B-BBE1-4318ADE6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28800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Après avec Prefect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14CF669-B3C6-415F-B49C-9804348A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09800"/>
            <a:ext cx="43624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Orchestration centralisée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Planification des exécutions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Historique et logs regroupés</a:t>
            </a:r>
          </a:p>
          <a:p xmlns:a="http://schemas.openxmlformats.org/drawingml/2006/main">
            <a:pPr algn="l">
              <a:defRPr sz="15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Relance plus simple en cas d'échec</a:t>
            </a:r>
          </a:p>
        </p:txBody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2DADB4F8-6350-43B9-BFE8-39162CC3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67300"/>
            <a:ext cx="8801100" cy="87630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D3F00D68-4B32-44CC-AA84-785B52E2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959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Bénéfice principal : Prefect transforme des scripts isolés en traitements supervisés, traçables et plus faciles à maintenir.</a:t>
            </a:r>
          </a:p>
        </p:txBody>
      </p:sp>
    </p:spTree>
    <p:extLst>
      <p:ext uri="{BB962C8B-B14F-4D97-AF65-F5344CB8AC3E}">
        <p14:creationId xmlns:p14="http://schemas.microsoft.com/office/powerpoint/2010/main" val="13966487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0EE803-873A-4783-878F-81A3B657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Difficultés rencontrées et solutions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574098E-4ED7-45DF-A9CC-D211827C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57C7C7B7-9E30-428D-99FE-A839A8CE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ADF4F2-57BB-4ECF-9834-66A744BC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016CA983-CDA1-4F0D-827D-5682A648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F7EDCCD6-8E80-4426-ADF7-AA0B0992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333375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01907D93-D31E-4748-AE67-6A6AC93A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66675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4ADFB3F-8CE2-451A-8E48-8750EFE1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Migration R vers Python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E49CE9C-D900-4A98-B9E1-E579C6D4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293370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Problème : écosystèmes différents et règles métier historiques complexes.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Solution : analyse détaillée et tests systématiques R/Python.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CC0796CE-88BE-42D1-9F06-7EE5E7C7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76400"/>
            <a:ext cx="333375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1359AC0F-B512-4E35-BA76-73611168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76400"/>
            <a:ext cx="66675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5ACCC2B-9C45-419E-B115-20446728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669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Mise en production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69B09DB-D126-4661-BA2E-CD58BD55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47900"/>
            <a:ext cx="293370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Problème : nouvelle VM Linux et accès manquants.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Solution : coordination avec l'équipe IT et validation progressive de l'environnement.</a:t>
            </a:r>
          </a:p>
        </p:txBody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11051F4A-823D-4FB1-B7B3-DF6B16B3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76400"/>
            <a:ext cx="333375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">
            <a:extLst xmlns:a="http://schemas.openxmlformats.org/drawingml/2006/main">
              <a:ext uri="{FF2B5EF4-FFF2-40B4-BE49-F238E27FC236}">
                <a16:creationId xmlns:a16="http://schemas.microsoft.com/office/drawing/2014/main" id="{507D5E3E-BE89-4FB1-8262-65AEC5C7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76400"/>
            <a:ext cx="66675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2A1F6C2-6037-4C3C-8ED9-429093E2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669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Nettoyage du Data Warehouse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CCD05FA4-4913-435D-A9EA-1CDBDB92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47900"/>
            <a:ext cx="293370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Problème : très gros volumes et forte charge MariaDB.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Solution : suppression par partition et optimisation des DELETE.</a:t>
            </a:r>
          </a:p>
        </p:txBody>
      </p:sp>
      <p:sp>
        <p:nvSpPr>
          <p:cNvPr id="18" name="rect">
            <a:extLst xmlns:a="http://schemas.openxmlformats.org/drawingml/2006/main">
              <a:ext uri="{FF2B5EF4-FFF2-40B4-BE49-F238E27FC236}">
                <a16:creationId xmlns:a16="http://schemas.microsoft.com/office/drawing/2014/main" id="{C4E130A1-4C9C-4E3C-8D7F-85600AF5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124450"/>
            <a:ext cx="18097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44DD6D8-CC10-4FF1-9B3B-42368E60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267325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≈ 5 To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AAAD189D-2D90-421D-9089-D3AF8EE6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769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par table concernee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5C65BCDB-5094-4DB2-A03C-F24095A3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61975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Ces difficultés montrent les contraintes réelles du Data Engineering en production.</a:t>
            </a:r>
          </a:p>
        </p:txBody>
      </p:sp>
    </p:spTree>
    <p:extLst>
      <p:ext uri="{BB962C8B-B14F-4D97-AF65-F5344CB8AC3E}">
        <p14:creationId xmlns:p14="http://schemas.microsoft.com/office/powerpoint/2010/main" val="5703397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5F7E1D-5E92-41A9-A757-372536CA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Perspectives Data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5B8F1FF-AD2E-4C83-AC64-DAC149A6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B978D85F-9D20-4A6D-BD89-89E599D7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60D2C-E6B0-492C-875B-8AE833EA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0D89654C-C60B-49F6-928D-19DC99E1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C007A4B4-C995-40B4-82BF-00BABAF5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4953000" cy="1485900"/>
          </a:xfrm>
          <a:prstGeom xmlns:a="http://schemas.openxmlformats.org/drawingml/2006/main" prst="roundRect">
            <a:avLst>
              <a:gd name="adj" fmla="val 89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71C5B0B4-A812-466E-A44F-570FE071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66675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0E47525-4EB9-4218-88EB-D6D97A4B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90700"/>
            <a:ext cx="4552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ETL Reject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760E2BD-D585-4C64-9C2F-49959359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4552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Base source vers ETL Reject vers Data Warehouse vers application Lot Dispositioning.</a:t>
            </a:r>
          </a:p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Objectif : informations sur les wafers rejetés ou scrappés.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4A612B90-DC67-45B0-9E98-DDBD4B2A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00200"/>
            <a:ext cx="4953000" cy="1485900"/>
          </a:xfrm>
          <a:prstGeom xmlns:a="http://schemas.openxmlformats.org/drawingml/2006/main" prst="roundRect">
            <a:avLst>
              <a:gd name="adj" fmla="val 89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76DBD7F9-F690-4F32-B571-8A21BC85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00200"/>
            <a:ext cx="66675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5E4AB1D-4C93-4AA1-BAB9-4A44DA46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790700"/>
            <a:ext cx="4552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ETL Inline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9255B83-DD6A-4998-AD2B-631B63BC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71700"/>
            <a:ext cx="4552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API de métrologie vers extraction, transformation et chargement dans le Data Warehouse.</a:t>
            </a:r>
          </a:p>
          <a:p xmlns:a="http://schemas.openxmlformats.org/drawingml/2006/main">
            <a:pPr algn="l">
              <a:defRPr sz="127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Objectif : intégrer des données de métrologie.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AC32367-8B61-4525-8995-7E3869E4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Architecture Data cible simplifiée</a:t>
            </a:r>
          </a:p>
        </p:txBody>
      </p:sp>
      <p:sp>
        <p:nvSpPr>
          <p:cNvPr id="15" name="rect">
            <a:extLst xmlns:a="http://schemas.openxmlformats.org/drawingml/2006/main">
              <a:ext uri="{FF2B5EF4-FFF2-40B4-BE49-F238E27FC236}">
                <a16:creationId xmlns:a16="http://schemas.microsoft.com/office/drawing/2014/main" id="{E0F5D4D0-352E-4A09-8346-650CDAAC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13525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021CEF83-B2A1-4513-8C0F-25458A65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54BCF-6CAA-4FB3-8BCB-7A49F4D2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0532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8" name="rect">
            <a:extLst xmlns:a="http://schemas.openxmlformats.org/drawingml/2006/main">
              <a:ext uri="{FF2B5EF4-FFF2-40B4-BE49-F238E27FC236}">
                <a16:creationId xmlns:a16="http://schemas.microsoft.com/office/drawing/2014/main" id="{88D5143F-AC6C-49B6-8BF4-40606BA9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13525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AC63841-C67D-4728-A957-A49F9C4F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8150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Ingestion</a:t>
            </a:r>
          </a:p>
          <a:p xmlns:a="http://schemas.openxmlformats.org/drawingml/2006/main">
            <a:pPr algn="ctr">
              <a:defRPr sz="1013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orchestration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6CA449-582E-4BC5-8830-2F0A65F5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0532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1" name="rect">
            <a:extLst xmlns:a="http://schemas.openxmlformats.org/drawingml/2006/main">
              <a:ext uri="{FF2B5EF4-FFF2-40B4-BE49-F238E27FC236}">
                <a16:creationId xmlns:a16="http://schemas.microsoft.com/office/drawing/2014/main" id="{A4293205-B5E8-45DA-9DFB-3A1D6CB2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71950"/>
            <a:ext cx="13525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CFEEDFA-CF89-4734-8368-939C3A6B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8150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Lake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BF8BF4-9045-4D55-AC80-AC753838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50532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4" name="rect">
            <a:extLst xmlns:a="http://schemas.openxmlformats.org/drawingml/2006/main">
              <a:ext uri="{FF2B5EF4-FFF2-40B4-BE49-F238E27FC236}">
                <a16:creationId xmlns:a16="http://schemas.microsoft.com/office/drawing/2014/main" id="{B5845DAA-6676-4F1D-AC0A-5BF8C181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71950"/>
            <a:ext cx="13525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9755872C-07DB-47E5-A2DD-837CBE56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150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Transformation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0894FF-2519-45B7-8059-3DA9FC86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0532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7" name="rect">
            <a:extLst xmlns:a="http://schemas.openxmlformats.org/drawingml/2006/main">
              <a:ext uri="{FF2B5EF4-FFF2-40B4-BE49-F238E27FC236}">
                <a16:creationId xmlns:a16="http://schemas.microsoft.com/office/drawing/2014/main" id="{A49E1345-BFC4-4173-BCF9-43AEC909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71950"/>
            <a:ext cx="13525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3EBD55EC-589F-4FAF-A6A0-915A2368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8150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Warehouse</a:t>
            </a:r>
          </a:p>
          <a:p xmlns:a="http://schemas.openxmlformats.org/drawingml/2006/main">
            <a:pPr algn="ctr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Data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C856DF-D55F-4A2B-9BFA-A6B67FA8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50532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30" name="rect">
            <a:extLst xmlns:a="http://schemas.openxmlformats.org/drawingml/2006/main">
              <a:ext uri="{FF2B5EF4-FFF2-40B4-BE49-F238E27FC236}">
                <a16:creationId xmlns:a16="http://schemas.microsoft.com/office/drawing/2014/main" id="{7630C3D9-5FB4-4088-BDEC-91085246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171950"/>
            <a:ext cx="13525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B8DDE5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441FF646-59EB-4879-8D45-41D419DC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8150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DataMart</a:t>
            </a:r>
          </a:p>
          <a:p xmlns:a="http://schemas.openxmlformats.org/drawingml/2006/main">
            <a:pPr algn="ctr">
              <a:defRPr sz="1013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outils métier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C06A3BAA-B862-4C7C-8459-0CF5543C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483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Ces travaux participent à une plateforme Data plus homogène, maintenable et évolutive.</a:t>
            </a:r>
          </a:p>
        </p:txBody>
      </p:sp>
    </p:spTree>
    <p:extLst>
      <p:ext uri="{BB962C8B-B14F-4D97-AF65-F5344CB8AC3E}">
        <p14:creationId xmlns:p14="http://schemas.microsoft.com/office/powerpoint/2010/main" val="21350750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C35794-A56D-4499-93FA-80F03E4F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Conclusion et bilan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0F4DCF2-9467-48F8-8262-43E3DD75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311A40EE-1F81-4995-A102-6F1CBFE5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Soutenance de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5EC90-7E4A-4635-A1C0-091F293E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DF6DE59C-7038-4943-BA32-C016B27D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19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Migration ETL R vers Python - X-FAB France</a:t>
            </a:r>
          </a:p>
        </p:txBody>
      </p:sp>
      <p:sp>
        <p:nvSpPr>
          <p:cNvPr id="6" name="rect">
            <a:extLst xmlns:a="http://schemas.openxmlformats.org/drawingml/2006/main">
              <a:ext uri="{FF2B5EF4-FFF2-40B4-BE49-F238E27FC236}">
                <a16:creationId xmlns:a16="http://schemas.microsoft.com/office/drawing/2014/main" id="{AE947A2F-5EEF-4DEC-A55D-A3675B8A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3276600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">
            <a:extLst xmlns:a="http://schemas.openxmlformats.org/drawingml/2006/main">
              <a:ext uri="{FF2B5EF4-FFF2-40B4-BE49-F238E27FC236}">
                <a16:creationId xmlns:a16="http://schemas.microsoft.com/office/drawing/2014/main" id="{F895D793-F2E7-4B56-9E9E-32725F9F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6675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1A0E50D-76C2-4226-B26B-BAEAB3CF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Réalisations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6038E77-6465-44E6-AD30-032B9E49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90750"/>
            <a:ext cx="28765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≈ 10 ETL migrés et validés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tests de non-régression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orchestration Prefect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préparation Docker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nouveaux pipelines ETL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documentation technique</a:t>
            </a:r>
          </a:p>
        </p:txBody>
      </p:sp>
      <p:sp>
        <p:nvSpPr>
          <p:cNvPr id="10" name="rect">
            <a:extLst xmlns:a="http://schemas.openxmlformats.org/drawingml/2006/main">
              <a:ext uri="{FF2B5EF4-FFF2-40B4-BE49-F238E27FC236}">
                <a16:creationId xmlns:a16="http://schemas.microsoft.com/office/drawing/2014/main" id="{AA5F0921-0E05-4BA6-828D-B01D5B1E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19250"/>
            <a:ext cx="3276600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">
            <a:extLst xmlns:a="http://schemas.openxmlformats.org/drawingml/2006/main">
              <a:ext uri="{FF2B5EF4-FFF2-40B4-BE49-F238E27FC236}">
                <a16:creationId xmlns:a16="http://schemas.microsoft.com/office/drawing/2014/main" id="{961EB804-8EC8-4154-A218-AAB5CED7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19250"/>
            <a:ext cx="66675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D7B4ED0-7AC7-4091-86DB-DB1F69CD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097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Compétences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703D1285-6D3A-45EE-8D9E-3BAFFDEC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90750"/>
            <a:ext cx="28765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Data Engineering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Python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SQL et Data Warehouse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orchestration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conteneurisation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tests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collaboration Data / IT / métier</a:t>
            </a:r>
          </a:p>
        </p:txBody>
      </p:sp>
      <p:sp>
        <p:nvSpPr>
          <p:cNvPr id="14" name="rect">
            <a:extLst xmlns:a="http://schemas.openxmlformats.org/drawingml/2006/main">
              <a:ext uri="{FF2B5EF4-FFF2-40B4-BE49-F238E27FC236}">
                <a16:creationId xmlns:a16="http://schemas.microsoft.com/office/drawing/2014/main" id="{A1914534-E48A-4BA6-872C-23625F7E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3276600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">
            <a:extLst xmlns:a="http://schemas.openxmlformats.org/drawingml/2006/main">
              <a:ext uri="{FF2B5EF4-FFF2-40B4-BE49-F238E27FC236}">
                <a16:creationId xmlns:a16="http://schemas.microsoft.com/office/drawing/2014/main" id="{814FCE9F-050E-4A1B-8E33-2F78D5CF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66675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87826C1-F3DA-4996-BCFF-56373C69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097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Apport personnel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204FE0E-28D2-48C8-8BD4-DF18C641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90750"/>
            <a:ext cx="28765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autonomie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cycle de vie de la donnée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contraintes de production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conception technique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contexte industriel réel</a:t>
            </a:r>
          </a:p>
        </p:txBody>
      </p:sp>
      <p:sp>
        <p:nvSpPr>
          <p:cNvPr id="18" name="rect">
            <a:extLst xmlns:a="http://schemas.openxmlformats.org/drawingml/2006/main">
              <a:ext uri="{FF2B5EF4-FFF2-40B4-BE49-F238E27FC236}">
                <a16:creationId xmlns:a16="http://schemas.microsoft.com/office/drawing/2014/main" id="{124C01CD-09CD-4698-88C7-F6B016CA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10150"/>
            <a:ext cx="975360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8FB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85A509C-8182-43A9-AAA6-57AB6A7B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153025"/>
            <a:ext cx="9220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Une migration technique transformée en démarche de modernisation et d'industrialisation des traitements Data.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D5D68FC3-90E3-415B-AF4B-5CC98657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9245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Merci pour votre attention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D8BF1342-8FE0-4B66-B1E8-324C02C3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8864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3941319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2026-09-10T03:41:32.1830000Z</dcterms:created>
  <dcterms:modified xsi:type="dcterms:W3CDTF">2026-09-10T03:41:32.1830000Z</dcterms:modified>
</coreProperties>
</file>