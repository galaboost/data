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9b15dc27b2e4a25" /><Relationship Type="http://schemas.openxmlformats.org/officeDocument/2006/relationships/extended-properties" Target="/docProps/app.xml" Id="R9660ddf0d9e44984" /><Relationship Type="http://schemas.openxmlformats.org/officeDocument/2006/relationships/officeDocument" Target="/ppt/presentation.xml" Id="Rb0351cef172444b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6c4f60d6def4d6e"/>
  </p:sldMasterIdLst>
  <p:notesMasterIdLst>
    <p:notesMasterId xmlns:r="http://schemas.openxmlformats.org/officeDocument/2006/relationships" r:id="R353648aff80f43ad"/>
  </p:notesMasterIdLst>
  <p:sldIdLst>
    <p:sldId xmlns:r="http://schemas.openxmlformats.org/officeDocument/2006/relationships" id="256" r:id="Rb5562db7776349e8"/>
    <p:sldId xmlns:r="http://schemas.openxmlformats.org/officeDocument/2006/relationships" id="257" r:id="R5327b61b31e94ab6"/>
    <p:sldId xmlns:r="http://schemas.openxmlformats.org/officeDocument/2006/relationships" id="258" r:id="R2c4b30ba4b084c3c"/>
    <p:sldId xmlns:r="http://schemas.openxmlformats.org/officeDocument/2006/relationships" id="259" r:id="R4f0c22d377d4411b"/>
    <p:sldId xmlns:r="http://schemas.openxmlformats.org/officeDocument/2006/relationships" id="260" r:id="Rf28ea7f2683e49e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979e3576dc14a56" /><Relationship Type="http://schemas.openxmlformats.org/officeDocument/2006/relationships/slideMaster" Target="/ppt/slideMasters/slideMaster1.xml" Id="R36c4f60d6def4d6e" /><Relationship Type="http://schemas.openxmlformats.org/officeDocument/2006/relationships/notesMaster" Target="/ppt/notesMasters/notesMaster1.xml" Id="R353648aff80f43ad" /><Relationship Type="http://schemas.openxmlformats.org/officeDocument/2006/relationships/presProps" Target="/ppt/presProps.xml" Id="R598e5587b69b4819" /><Relationship Type="http://schemas.openxmlformats.org/officeDocument/2006/relationships/tableStyles" Target="/ppt/tableStyles.xml" Id="R21753f66819a46cb" /><Relationship Type="http://schemas.openxmlformats.org/officeDocument/2006/relationships/slide" Target="/ppt/slides/slide1.xml" Id="Rb5562db7776349e8" /><Relationship Type="http://schemas.openxmlformats.org/officeDocument/2006/relationships/slide" Target="/ppt/slides/slide2.xml" Id="R5327b61b31e94ab6" /><Relationship Type="http://schemas.openxmlformats.org/officeDocument/2006/relationships/slide" Target="/ppt/slides/slide3.xml" Id="R2c4b30ba4b084c3c" /><Relationship Type="http://schemas.openxmlformats.org/officeDocument/2006/relationships/slide" Target="/ppt/slides/slide4.xml" Id="R4f0c22d377d4411b" /><Relationship Type="http://schemas.openxmlformats.org/officeDocument/2006/relationships/slide" Target="/ppt/slides/slide5.xml" Id="Rf28ea7f2683e49e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145230b899c41d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d118fa2d1174270" /><Relationship Type="http://schemas.openxmlformats.org/officeDocument/2006/relationships/notesMaster" Target="/ppt/notesMasters/notesMaster1.xml" Id="Rcd1c927d257a479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569afbd8d6f4fc8" /><Relationship Type="http://schemas.openxmlformats.org/officeDocument/2006/relationships/notesMaster" Target="/ppt/notesMasters/notesMaster1.xml" Id="R4dbcb4af057d432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7a21c60621b41bd" /><Relationship Type="http://schemas.openxmlformats.org/officeDocument/2006/relationships/notesMaster" Target="/ppt/notesMasters/notesMaster1.xml" Id="R0061ce5f4a5d4e1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1f9f13c0dd14ebd" /><Relationship Type="http://schemas.openxmlformats.org/officeDocument/2006/relationships/notesMaster" Target="/ppt/notesMasters/notesMaster1.xml" Id="R16e4d62369844b1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7ac34f331024f39" /><Relationship Type="http://schemas.openxmlformats.org/officeDocument/2006/relationships/notesMaster" Target="/ppt/notesMasters/notesMaster1.xml" Id="R25fb38035189469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Template 2 - Moderne tech. Maquette de direction graphique uniquement. Contenu et donnees a remplacer par les elements du rapport de stage.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Template 2 - Moderne tech. Maquette de direction graphique uniquement. Contenu et donnees a remplacer par les elements du rapport de stage.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Template 2 - Moderne tech. Maquette de direction graphique uniquement. Contenu et donnees a remplacer par les elements du rapport de stage.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Template 2 - Moderne tech. Maquette de direction graphique uniquement. Contenu et donnees a remplacer par les elements du rapport de stage.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Template 2 - Moderne tech. Maquette de direction graphique uniquement. Contenu et donnees a remplacer par les elements du rapport de stage.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d4f803e528459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41ead1f9b4d492f" /><Relationship Type="http://schemas.openxmlformats.org/officeDocument/2006/relationships/slideLayout" Target="/ppt/slideLayouts/slideLayout1.xml" Id="R8067176c297f4ac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067176c297f4ac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dec2ef111d4176" /><Relationship Type="http://schemas.openxmlformats.org/officeDocument/2006/relationships/notesSlide" Target="/ppt/notesSlides/notesSlide1.xml" Id="R42c2867174844f9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4c9c77a9534bb5" /><Relationship Type="http://schemas.openxmlformats.org/officeDocument/2006/relationships/notesSlide" Target="/ppt/notesSlides/notesSlide2.xml" Id="R2fc9d327528f42c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ac98bab8554a05" /><Relationship Type="http://schemas.openxmlformats.org/officeDocument/2006/relationships/notesSlide" Target="/ppt/notesSlides/notesSlide3.xml" Id="R598c2e2d818a4db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34a1fd383f4dd4" /><Relationship Type="http://schemas.openxmlformats.org/officeDocument/2006/relationships/notesSlide" Target="/ppt/notesSlides/notesSlide4.xml" Id="R6e9e282d1aa646a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ce1549248f4897" /><Relationship Type="http://schemas.openxmlformats.org/officeDocument/2006/relationships/notesSlide" Target="/ppt/notesSlides/notesSlide5.xml" Id="R95601e5b70a540e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hape">
            <a:extLst xmlns:a="http://schemas.openxmlformats.org/drawingml/2006/main">
              <a:ext uri="{FF2B5EF4-FFF2-40B4-BE49-F238E27FC236}">
                <a16:creationId xmlns:a16="http://schemas.microsoft.com/office/drawing/2014/main" id="{6746D896-66B6-4B4A-8F97-71618B061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723900"/>
            <a:ext cx="3429000" cy="4953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E7F6F7"/>
          </a:solidFill>
          <a:ln xmlns:a="http://schemas.openxmlformats.org/drawingml/2006/main" w="9525">
            <a:solidFill>
              <a:srgbClr val="B8DDE5"/>
            </a:solidFill>
            <a:prstDash val="solid"/>
          </a:ln>
        </p:spPr>
      </p:sp>
      <p:sp>
        <p:nvSpPr>
          <p:cNvPr id="2" name="shape">
            <a:extLst xmlns:a="http://schemas.openxmlformats.org/drawingml/2006/main">
              <a:ext uri="{FF2B5EF4-FFF2-40B4-BE49-F238E27FC236}">
                <a16:creationId xmlns:a16="http://schemas.microsoft.com/office/drawing/2014/main" id="{A3EE1036-1349-4BD5-B0EF-F37F28AF6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238250"/>
            <a:ext cx="15240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8F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F0CC63-26AD-4482-B4B8-3C941AA40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352550"/>
            <a:ext cx="0" cy="36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DE5"/>
            </a:solidFill>
            <a:prstDash val="solid"/>
          </a:ln>
        </p:spPr>
      </p:sp>
      <p:sp>
        <p:nvSpPr>
          <p:cNvPr id="4" name="shape">
            <a:extLst xmlns:a="http://schemas.openxmlformats.org/drawingml/2006/main">
              <a:ext uri="{FF2B5EF4-FFF2-40B4-BE49-F238E27FC236}">
                <a16:creationId xmlns:a16="http://schemas.microsoft.com/office/drawing/2014/main" id="{0B994C16-E72E-4243-AC17-C45B884CA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828800"/>
            <a:ext cx="15240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9D0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3C816B-9076-49B7-BAE8-B205C36C4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43100"/>
            <a:ext cx="0" cy="36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DE5"/>
            </a:solidFill>
            <a:prstDash val="solid"/>
          </a:ln>
        </p:spPr>
      </p:sp>
      <p:sp>
        <p:nvSpPr>
          <p:cNvPr id="6" name="shape">
            <a:extLst xmlns:a="http://schemas.openxmlformats.org/drawingml/2006/main">
              <a:ext uri="{FF2B5EF4-FFF2-40B4-BE49-F238E27FC236}">
                <a16:creationId xmlns:a16="http://schemas.microsoft.com/office/drawing/2014/main" id="{BD618CB5-5E3E-444B-8888-006D55BEA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19350"/>
            <a:ext cx="15240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8F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CDF26B-CE47-4ADC-B655-7F37985F0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33650"/>
            <a:ext cx="0" cy="36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DE5"/>
            </a:solidFill>
            <a:prstDash val="solid"/>
          </a:ln>
        </p:spPr>
      </p:sp>
      <p:sp>
        <p:nvSpPr>
          <p:cNvPr id="8" name="shape">
            <a:extLst xmlns:a="http://schemas.openxmlformats.org/drawingml/2006/main">
              <a:ext uri="{FF2B5EF4-FFF2-40B4-BE49-F238E27FC236}">
                <a16:creationId xmlns:a16="http://schemas.microsoft.com/office/drawing/2014/main" id="{E81E044B-533C-479E-8799-CAE1B1B28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09900"/>
            <a:ext cx="15240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9D0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8FB5B5-1A1E-43C1-95A5-E4A4C6B9C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124200"/>
            <a:ext cx="0" cy="36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DE5"/>
            </a:solidFill>
            <a:prstDash val="solid"/>
          </a:ln>
        </p:spPr>
      </p:sp>
      <p:sp>
        <p:nvSpPr>
          <p:cNvPr id="10" name="shape">
            <a:extLst xmlns:a="http://schemas.openxmlformats.org/drawingml/2006/main">
              <a:ext uri="{FF2B5EF4-FFF2-40B4-BE49-F238E27FC236}">
                <a16:creationId xmlns:a16="http://schemas.microsoft.com/office/drawing/2014/main" id="{9CF1F1FA-D561-4CA2-8057-B857418D9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600450"/>
            <a:ext cx="15240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8F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AE6BD4-B436-41DD-BDC7-10019926F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714750"/>
            <a:ext cx="0" cy="36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DE5"/>
            </a:solidFill>
            <a:prstDash val="solid"/>
          </a:ln>
        </p:spPr>
      </p:sp>
      <p:sp>
        <p:nvSpPr>
          <p:cNvPr id="12" name="shape">
            <a:extLst xmlns:a="http://schemas.openxmlformats.org/drawingml/2006/main">
              <a:ext uri="{FF2B5EF4-FFF2-40B4-BE49-F238E27FC236}">
                <a16:creationId xmlns:a16="http://schemas.microsoft.com/office/drawing/2014/main" id="{98EC2CF5-A994-4A05-9F89-E43AF6920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191000"/>
            <a:ext cx="15240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9D0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F257E0-0EDE-42CB-BE7A-F46D18D25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305300"/>
            <a:ext cx="0" cy="36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DE5"/>
            </a:solidFill>
            <a:prstDash val="solid"/>
          </a:ln>
        </p:spPr>
      </p:sp>
      <p:sp>
        <p:nvSpPr>
          <p:cNvPr id="14" name="shape">
            <a:extLst xmlns:a="http://schemas.openxmlformats.org/drawingml/2006/main">
              <a:ext uri="{FF2B5EF4-FFF2-40B4-BE49-F238E27FC236}">
                <a16:creationId xmlns:a16="http://schemas.microsoft.com/office/drawing/2014/main" id="{62C49D89-AE18-4CD3-80B8-3C65CFE79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81550"/>
            <a:ext cx="15240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8F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377D19-976A-4F85-9A63-B2AF664C4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895850"/>
            <a:ext cx="0" cy="36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DE5"/>
            </a:solidFill>
            <a:prstDash val="solid"/>
          </a:ln>
        </p:spPr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F80E99BB-669E-41F2-84B4-A51D93559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06680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8FB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8FBD"/>
                </a:solidFill>
                <a:latin typeface="Aptos"/>
                <a:ea typeface="Aptos"/>
                <a:cs typeface="Aptos"/>
              </a:rPr>
              <a:t>IA et developpement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D8BEC534-0C8A-4BBC-9D4A-B4817A7C8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66875"/>
            <a:ext cx="571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081B2D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081B2D"/>
                </a:solidFill>
                <a:latin typeface="Aptos Display"/>
                <a:ea typeface="Aptos Display"/>
                <a:cs typeface="Aptos Display"/>
              </a:rPr>
              <a:t>Rapport de stage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D19A2C27-1D25-461D-84F4-C14AEFCC3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00300"/>
            <a:ext cx="5905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81B2D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081B2D"/>
                </a:solidFill>
                <a:latin typeface="Aptos Display"/>
                <a:ea typeface="Aptos Display"/>
                <a:cs typeface="Aptos Display"/>
              </a:rPr>
              <a:t>Direction graphique</a:t>
            </a:r>
          </a:p>
          <a:p xmlns:a="http://schemas.openxmlformats.org/drawingml/2006/main">
            <a:pPr algn="l">
              <a:defRPr sz="3450" b="1">
                <a:solidFill>
                  <a:srgbClr val="081B2D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081B2D"/>
                </a:solidFill>
                <a:latin typeface="Aptos Display"/>
                <a:ea typeface="Aptos Display"/>
                <a:cs typeface="Aptos Display"/>
              </a:rPr>
              <a:t>pour soutenance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E4278361-9A18-4B2E-8523-95789463C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57625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Informatique, IA, Codex et developpement logiciel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BEF27A50-7ADB-4AEE-8328-C8BB8765B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34000"/>
            <a:ext cx="4953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Nom de l'etudiant</a:t>
            </a:r>
          </a:p>
          <a:p xmlns:a="http://schemas.openxmlformats.org/drawingml/2006/main">
            <a:pPr algn="l">
              <a:defRPr sz="135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Formation</a:t>
            </a:r>
          </a:p>
          <a:p xmlns:a="http://schemas.openxmlformats.org/drawingml/2006/main">
            <a:pPr algn="l">
              <a:defRPr sz="135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Entreprise d'accueil</a:t>
            </a:r>
          </a:p>
        </p:txBody>
      </p:sp>
    </p:spTree>
    <p:extLst>
      <p:ext uri="{BB962C8B-B14F-4D97-AF65-F5344CB8AC3E}">
        <p14:creationId xmlns:p14="http://schemas.microsoft.com/office/powerpoint/2010/main" val="30172898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23A7055-7A71-4C6D-9910-5ED74E0D1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"/>
            <a:ext cx="838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81B2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81B2D"/>
                </a:solidFill>
                <a:latin typeface="Aptos Display"/>
                <a:ea typeface="Aptos Display"/>
                <a:cs typeface="Aptos Display"/>
              </a:rPr>
              <a:t>Sommaire</a:t>
            </a:r>
          </a:p>
        </p:txBody>
      </p:sp>
      <p:sp>
        <p:nvSpPr>
          <p:cNvPr id="2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8628294C-8F9B-495C-A443-A46536F00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4572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0B8FB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8FB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484CA3-1C6D-43B3-BC97-B3ECDC810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00125"/>
            <a:ext cx="10744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DE5"/>
            </a:solidFill>
            <a:prstDash val="solid"/>
          </a:ln>
        </p:spPr>
      </p:sp>
      <p:sp>
        <p:nvSpPr>
          <p:cNvPr id="4" name="shape">
            <a:extLst xmlns:a="http://schemas.openxmlformats.org/drawingml/2006/main">
              <a:ext uri="{FF2B5EF4-FFF2-40B4-BE49-F238E27FC236}">
                <a16:creationId xmlns:a16="http://schemas.microsoft.com/office/drawing/2014/main" id="{A62DC836-B025-4FF3-9596-53E7BD02F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514475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8F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BED61946-CEB2-4E40-AEC9-F06EE6784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1419225"/>
            <a:ext cx="438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Contexte du stage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0E780368-C240-4E4A-8EBA-FCFF1AB27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781175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Une section courte, lisible et facile a presenter.</a:t>
            </a:r>
          </a:p>
        </p:txBody>
      </p:sp>
      <p:sp>
        <p:nvSpPr>
          <p:cNvPr id="7" name="shape">
            <a:extLst xmlns:a="http://schemas.openxmlformats.org/drawingml/2006/main">
              <a:ext uri="{FF2B5EF4-FFF2-40B4-BE49-F238E27FC236}">
                <a16:creationId xmlns:a16="http://schemas.microsoft.com/office/drawing/2014/main" id="{BEB4E8E3-9540-48AB-9157-AEEA0B6AE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76475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9D0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7B528832-91C5-4E87-BD47-D89FF73C4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181225"/>
            <a:ext cx="438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Problematique technique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1A552B5F-E3AA-4996-9168-9BADD6F72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543175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Une section courte, lisible et facile a presenter.</a:t>
            </a:r>
          </a:p>
        </p:txBody>
      </p:sp>
      <p:sp>
        <p:nvSpPr>
          <p:cNvPr id="10" name="shape">
            <a:extLst xmlns:a="http://schemas.openxmlformats.org/drawingml/2006/main">
              <a:ext uri="{FF2B5EF4-FFF2-40B4-BE49-F238E27FC236}">
                <a16:creationId xmlns:a16="http://schemas.microsoft.com/office/drawing/2014/main" id="{423D7A84-9A69-4F70-ACF6-69AAAD0B1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38475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8F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1D88D42F-D055-494F-B58B-79BB17968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943225"/>
            <a:ext cx="438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Demarche de conception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0F3AD689-6276-466E-80D4-ED2AB8735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305175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Une section courte, lisible et facile a presenter.</a:t>
            </a:r>
          </a:p>
        </p:txBody>
      </p:sp>
      <p:sp>
        <p:nvSpPr>
          <p:cNvPr id="13" name="shape">
            <a:extLst xmlns:a="http://schemas.openxmlformats.org/drawingml/2006/main">
              <a:ext uri="{FF2B5EF4-FFF2-40B4-BE49-F238E27FC236}">
                <a16:creationId xmlns:a16="http://schemas.microsoft.com/office/drawing/2014/main" id="{AA3513BD-CDD7-4166-AD9B-AC549B87E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00475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9D0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26F4B060-0E48-4166-A1C8-5777A7DEE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705225"/>
            <a:ext cx="438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Resultats et limites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BD57D518-DD65-4D84-AE00-4BACBA74C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067175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Une section courte, lisible et facile a presenter.</a:t>
            </a:r>
          </a:p>
        </p:txBody>
      </p:sp>
      <p:sp>
        <p:nvSpPr>
          <p:cNvPr id="16" name="shape">
            <a:extLst xmlns:a="http://schemas.openxmlformats.org/drawingml/2006/main">
              <a:ext uri="{FF2B5EF4-FFF2-40B4-BE49-F238E27FC236}">
                <a16:creationId xmlns:a16="http://schemas.microsoft.com/office/drawing/2014/main" id="{1503BBFA-B38F-4C7D-8B88-1E69E17C1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562475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8F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DB148BD3-4FAC-411F-8AB5-E3564E5D1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467225"/>
            <a:ext cx="438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Bilan personnel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6E19BA90-8335-4C2A-A18E-B9705AD45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29175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Une section courte, lisible et facile a presenter.</a:t>
            </a:r>
          </a:p>
        </p:txBody>
      </p:sp>
      <p:sp>
        <p:nvSpPr>
          <p:cNvPr id="19" name="shape">
            <a:extLst xmlns:a="http://schemas.openxmlformats.org/drawingml/2006/main">
              <a:ext uri="{FF2B5EF4-FFF2-40B4-BE49-F238E27FC236}">
                <a16:creationId xmlns:a16="http://schemas.microsoft.com/office/drawing/2014/main" id="{9AAA2AD1-0688-448C-846D-3EA6E0FFC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428750"/>
            <a:ext cx="3429000" cy="3429000"/>
          </a:xfrm>
          <a:prstGeom xmlns:a="http://schemas.openxmlformats.org/drawingml/2006/main" prst="roundRect">
            <a:avLst>
              <a:gd name="adj" fmla="val 3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D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01A76308-BA26-462A-8F67-FE0969E6B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7907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81B2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81B2D"/>
                </a:solidFill>
                <a:latin typeface="Aptos Display"/>
                <a:ea typeface="Aptos Display"/>
                <a:cs typeface="Aptos Display"/>
              </a:rPr>
              <a:t>Principes du template</a:t>
            </a:r>
          </a:p>
        </p:txBody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61C1CD5A-2EC6-4213-967E-EF374626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24100"/>
            <a:ext cx="259080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Typographie: Aptos / Consolas</a:t>
            </a:r>
          </a:p>
          <a:p xmlns:a="http://schemas.openxmlformats.org/drawingml/2006/main">
            <a:pPr algn="l">
              <a:defRPr sz="135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Palette: #0B8FBD, #39D0B6</a:t>
            </a:r>
          </a:p>
          <a:p xmlns:a="http://schemas.openxmlformats.org/drawingml/2006/main">
            <a:pPr algn="l">
              <a:defRPr sz="135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Titres: courts, forts, tres lisibles</a:t>
            </a:r>
          </a:p>
          <a:p xmlns:a="http://schemas.openxmlformats.org/drawingml/2006/main">
            <a:pPr algn="l">
              <a:defRPr sz="135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Blocs: aeration et zones edditables</a:t>
            </a:r>
          </a:p>
          <a:p xmlns:a="http://schemas.openxmlformats.org/drawingml/2006/main">
            <a:pPr algn="l">
              <a:defRPr sz="135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Icones: lignes simples et reperes tech</a:t>
            </a:r>
          </a:p>
        </p:txBody>
      </p:sp>
    </p:spTree>
    <p:extLst>
      <p:ext uri="{BB962C8B-B14F-4D97-AF65-F5344CB8AC3E}">
        <p14:creationId xmlns:p14="http://schemas.microsoft.com/office/powerpoint/2010/main" val="68481838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C9FDB49-C4BC-4D80-B1A8-E0B477718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"/>
            <a:ext cx="838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81B2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81B2D"/>
                </a:solidFill>
                <a:latin typeface="Aptos Display"/>
                <a:ea typeface="Aptos Display"/>
                <a:cs typeface="Aptos Display"/>
              </a:rPr>
              <a:t>Architecture de la solution</a:t>
            </a:r>
          </a:p>
        </p:txBody>
      </p:sp>
      <p:sp>
        <p:nvSpPr>
          <p:cNvPr id="2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CB963C89-1E6C-49AA-A42D-D899431C8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4572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0B8FB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8FB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38AC97-AC03-4E27-A582-DD099FD7B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00125"/>
            <a:ext cx="10744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DE5"/>
            </a:solidFill>
            <a:prstDash val="solid"/>
          </a:ln>
        </p:spPr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773A502C-1383-47A2-AC41-9CF621894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381125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B8FB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B8FBD"/>
                </a:solidFill>
                <a:latin typeface="Aptos"/>
                <a:ea typeface="Aptos"/>
                <a:cs typeface="Aptos"/>
              </a:rPr>
              <a:t>Objectif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45C0BBCC-C906-4C9E-B372-F7F42EA61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62125"/>
            <a:ext cx="4095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081B2D"/>
                </a:solidFill>
                <a:latin typeface="Aptos"/>
                <a:ea typeface="Aptos"/>
                <a:cs typeface="Aptos"/>
              </a:rPr>
              <a:t>Presenter le probleme technique en quelques lignes, puis montrer la structure retenue.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5B1014CF-4088-4C50-96BB-FBC377AB5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2895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Points a commenter</a:t>
            </a:r>
          </a:p>
        </p:txBody>
      </p:sp>
      <p:sp>
        <p:nvSpPr>
          <p:cNvPr id="7" name="shape">
            <a:extLst xmlns:a="http://schemas.openxmlformats.org/drawingml/2006/main">
              <a:ext uri="{FF2B5EF4-FFF2-40B4-BE49-F238E27FC236}">
                <a16:creationId xmlns:a16="http://schemas.microsoft.com/office/drawing/2014/main" id="{53158CF0-DCAB-4433-862B-222476D64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861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8F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79A354C8-8941-49EE-8580-06052D8EC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371850"/>
            <a:ext cx="361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Choix d'architecture</a:t>
            </a:r>
          </a:p>
        </p:txBody>
      </p:sp>
      <p:sp>
        <p:nvSpPr>
          <p:cNvPr id="9" name="shape">
            <a:extLst xmlns:a="http://schemas.openxmlformats.org/drawingml/2006/main">
              <a:ext uri="{FF2B5EF4-FFF2-40B4-BE49-F238E27FC236}">
                <a16:creationId xmlns:a16="http://schemas.microsoft.com/office/drawing/2014/main" id="{DB7B9ADF-5525-4068-A065-8549A190E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3860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8F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C846E3DF-84A1-4D31-82CD-E3AA53A69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924300"/>
            <a:ext cx="361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Role de Codex ou de l'IA</a:t>
            </a:r>
          </a:p>
        </p:txBody>
      </p:sp>
      <p:sp>
        <p:nvSpPr>
          <p:cNvPr id="11" name="shape">
            <a:extLst xmlns:a="http://schemas.openxmlformats.org/drawingml/2006/main">
              <a:ext uri="{FF2B5EF4-FFF2-40B4-BE49-F238E27FC236}">
                <a16:creationId xmlns:a16="http://schemas.microsoft.com/office/drawing/2014/main" id="{F7B39B82-8DCE-47FD-8FFD-B76F948B4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91050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8FB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6822B0F2-B45B-4ABC-8E7B-80F00AF95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476750"/>
            <a:ext cx="361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Limites et arbitrages</a:t>
            </a:r>
          </a:p>
        </p:txBody>
      </p:sp>
      <p:sp>
        <p:nvSpPr>
          <p:cNvPr id="13" name="shape">
            <a:extLst xmlns:a="http://schemas.openxmlformats.org/drawingml/2006/main">
              <a:ext uri="{FF2B5EF4-FFF2-40B4-BE49-F238E27FC236}">
                <a16:creationId xmlns:a16="http://schemas.microsoft.com/office/drawing/2014/main" id="{CD12847D-B966-4382-A714-4D96E7B91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466850"/>
            <a:ext cx="4762500" cy="333375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8DD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BAA3E8A7-A607-45AC-AB8C-3E9B8EB1E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7526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Schema editable</a:t>
            </a:r>
          </a:p>
        </p:txBody>
      </p:sp>
      <p:sp>
        <p:nvSpPr>
          <p:cNvPr id="15" name="shape">
            <a:extLst xmlns:a="http://schemas.openxmlformats.org/drawingml/2006/main">
              <a:ext uri="{FF2B5EF4-FFF2-40B4-BE49-F238E27FC236}">
                <a16:creationId xmlns:a16="http://schemas.microsoft.com/office/drawing/2014/main" id="{D9A77AB7-0C68-44A4-BF7B-5872A17EC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628900"/>
            <a:ext cx="1200150" cy="68580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E7F6F7"/>
          </a:solidFill>
          <a:ln xmlns:a="http://schemas.openxmlformats.org/drawingml/2006/main" w="9525">
            <a:solidFill>
              <a:srgbClr val="B8DDE5"/>
            </a:solidFill>
            <a:prstDash val="solid"/>
          </a:ln>
        </p:spPr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F4921D25-1897-4FFD-909D-4446CE31F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38450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Donnees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C07ACF-8710-4AE4-BF6F-DA0F1EC2B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971800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9D0B6"/>
            </a:solidFill>
            <a:prstDash val="solid"/>
          </a:ln>
        </p:spPr>
      </p:sp>
      <p:sp>
        <p:nvSpPr>
          <p:cNvPr id="18" name="shape">
            <a:extLst xmlns:a="http://schemas.openxmlformats.org/drawingml/2006/main">
              <a:ext uri="{FF2B5EF4-FFF2-40B4-BE49-F238E27FC236}">
                <a16:creationId xmlns:a16="http://schemas.microsoft.com/office/drawing/2014/main" id="{9FE458F1-DCDD-451C-BB3D-8D85ACB1D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628900"/>
            <a:ext cx="1200150" cy="68580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0B8FBD"/>
          </a:solidFill>
          <a:ln xmlns:a="http://schemas.openxmlformats.org/drawingml/2006/main" w="9525">
            <a:solidFill>
              <a:srgbClr val="0B8FBD"/>
            </a:solidFill>
            <a:prstDash val="solid"/>
          </a:ln>
        </p:spPr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8A790511-7CB4-45B2-9DA9-31FF049BF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838450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Traitement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43633F-5872-4F25-8223-8DDC101E7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971800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9D0B6"/>
            </a:solidFill>
            <a:prstDash val="solid"/>
          </a:ln>
        </p:spPr>
      </p:sp>
      <p:sp>
        <p:nvSpPr>
          <p:cNvPr id="21" name="shape">
            <a:extLst xmlns:a="http://schemas.openxmlformats.org/drawingml/2006/main">
              <a:ext uri="{FF2B5EF4-FFF2-40B4-BE49-F238E27FC236}">
                <a16:creationId xmlns:a16="http://schemas.microsoft.com/office/drawing/2014/main" id="{0C748BB3-B95F-4098-AB50-F2A2DE600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628900"/>
            <a:ext cx="1200150" cy="68580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E7F6F7"/>
          </a:solidFill>
          <a:ln xmlns:a="http://schemas.openxmlformats.org/drawingml/2006/main" w="9525">
            <a:solidFill>
              <a:srgbClr val="B8DDE5"/>
            </a:solidFill>
            <a:prstDash val="solid"/>
          </a:ln>
        </p:spPr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53E0299E-1CFA-424D-956B-0127607A9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838450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Restitution</a:t>
            </a:r>
          </a:p>
        </p:txBody>
      </p:sp>
      <p:sp>
        <p:nvSpPr>
          <p:cNvPr id="23" name="graphic-placeholder">
            <a:extLst xmlns:a="http://schemas.openxmlformats.org/drawingml/2006/main">
              <a:ext uri="{FF2B5EF4-FFF2-40B4-BE49-F238E27FC236}">
                <a16:creationId xmlns:a16="http://schemas.microsoft.com/office/drawing/2014/main" id="{C0F8A95A-4ADF-4F04-A7BC-86679D026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676650"/>
            <a:ext cx="3905250" cy="723900"/>
          </a:xfrm>
          <a:prstGeom xmlns:a="http://schemas.openxmlformats.org/drawingml/2006/main" prst="roundRect">
            <a:avLst>
              <a:gd name="adj" fmla="val 13158"/>
            </a:avLst>
          </a:prstGeom>
          <a:solidFill xmlns:a="http://schemas.openxmlformats.org/drawingml/2006/main">
            <a:srgbClr val="E7F6F7"/>
          </a:solidFill>
          <a:ln xmlns:a="http://schemas.openxmlformats.org/drawingml/2006/main" w="13335">
            <a:solidFill>
              <a:srgbClr val="B8DDE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20407F9-92A2-4D2C-83E1-3F7415FE6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943350"/>
            <a:ext cx="337185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DE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2F60093-C8EF-49F9-9FCD-14EFF804A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1338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DE5"/>
            </a:solidFill>
            <a:prstDash val="solid"/>
          </a:ln>
        </p:spPr>
      </p:sp>
      <p:sp>
        <p:nvSpPr>
          <p:cNvPr id="26" name="graphic-label">
            <a:extLst xmlns:a="http://schemas.openxmlformats.org/drawingml/2006/main">
              <a:ext uri="{FF2B5EF4-FFF2-40B4-BE49-F238E27FC236}">
                <a16:creationId xmlns:a16="http://schemas.microsoft.com/office/drawing/2014/main" id="{3CD06BBF-3FC1-4D7B-8789-0D46665BE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867150"/>
            <a:ext cx="3409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06274"/>
                </a:solidFill>
                <a:latin typeface="Aptos"/>
                <a:ea typeface="Aptos"/>
                <a:cs typeface="Aptos"/>
              </a:rPr>
              <a:t>Espace graphique ou indicateurs</a:t>
            </a:r>
          </a:p>
        </p:txBody>
      </p:sp>
    </p:spTree>
    <p:extLst>
      <p:ext uri="{BB962C8B-B14F-4D97-AF65-F5344CB8AC3E}">
        <p14:creationId xmlns:p14="http://schemas.microsoft.com/office/powerpoint/2010/main" val="141841506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2291898-8979-4C0C-8C23-9797B2DC2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"/>
            <a:ext cx="838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81B2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81B2D"/>
                </a:solidFill>
                <a:latin typeface="Aptos Display"/>
                <a:ea typeface="Aptos Display"/>
                <a:cs typeface="Aptos Display"/>
              </a:rPr>
              <a:t>Prototype et exemples</a:t>
            </a:r>
          </a:p>
        </p:txBody>
      </p:sp>
      <p:sp>
        <p:nvSpPr>
          <p:cNvPr id="2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DE21F604-15FB-40EB-B1EC-F6CA72514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4572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0B8FB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8FB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542063-7A53-4DDF-85A4-1387B7725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00125"/>
            <a:ext cx="10744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DE5"/>
            </a:solidFill>
            <a:prstDash val="solid"/>
          </a:ln>
        </p:spPr>
      </p:sp>
      <p:sp>
        <p:nvSpPr>
          <p:cNvPr id="4" name="image-placeholder">
            <a:extLst xmlns:a="http://schemas.openxmlformats.org/drawingml/2006/main">
              <a:ext uri="{FF2B5EF4-FFF2-40B4-BE49-F238E27FC236}">
                <a16:creationId xmlns:a16="http://schemas.microsoft.com/office/drawing/2014/main" id="{064866C9-3F90-40A0-B603-EE7DCE946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28750"/>
            <a:ext cx="6572250" cy="4000500"/>
          </a:xfrm>
          <a:prstGeom xmlns:a="http://schemas.openxmlformats.org/drawingml/2006/main" prst="roundRect">
            <a:avLst>
              <a:gd name="adj" fmla="val 2381"/>
            </a:avLst>
          </a:prstGeom>
          <a:solidFill xmlns:a="http://schemas.openxmlformats.org/drawingml/2006/main">
            <a:srgbClr val="E7F6F7"/>
          </a:solidFill>
          <a:ln xmlns:a="http://schemas.openxmlformats.org/drawingml/2006/main" w="13335">
            <a:solidFill>
              <a:srgbClr val="B8DDE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809F17-EE72-4654-BADC-FEB95A618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695450"/>
            <a:ext cx="6038850" cy="3467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DE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FA5124-4270-4E27-BD88-E2773161E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162550"/>
            <a:ext cx="6038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DE5"/>
            </a:solidFill>
            <a:prstDash val="solid"/>
          </a:ln>
        </p:spPr>
      </p:sp>
      <p:sp>
        <p:nvSpPr>
          <p:cNvPr id="7" name="image-label">
            <a:extLst xmlns:a="http://schemas.openxmlformats.org/drawingml/2006/main">
              <a:ext uri="{FF2B5EF4-FFF2-40B4-BE49-F238E27FC236}">
                <a16:creationId xmlns:a16="http://schemas.microsoft.com/office/drawing/2014/main" id="{6AB74CDF-DD7C-40BF-A509-9BCB80637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57550"/>
            <a:ext cx="6076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06274"/>
                </a:solidFill>
                <a:latin typeface="Aptos"/>
                <a:ea typeface="Aptos"/>
                <a:cs typeface="Aptos"/>
              </a:rPr>
              <a:t>Capture d'ecran de l'application</a:t>
            </a:r>
          </a:p>
        </p:txBody>
      </p:sp>
      <p:sp>
        <p:nvSpPr>
          <p:cNvPr id="8" name="code-panel">
            <a:extLst xmlns:a="http://schemas.openxmlformats.org/drawingml/2006/main">
              <a:ext uri="{FF2B5EF4-FFF2-40B4-BE49-F238E27FC236}">
                <a16:creationId xmlns:a16="http://schemas.microsoft.com/office/drawing/2014/main" id="{748A9DD2-7482-4C50-9B48-B072FCE14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1428750"/>
            <a:ext cx="3429000" cy="40005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8DD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F4F18587-76A1-437E-B36B-776FD4E87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7335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Extrait de code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54B470DD-6866-4CCA-B60C-66230276C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43150"/>
            <a:ext cx="27241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06274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506274"/>
                </a:solidFill>
                <a:latin typeface="Consolas"/>
                <a:ea typeface="Consolas"/>
                <a:cs typeface="Consolas"/>
              </a:rPr>
              <a:t>async function analyse(input) {</a:t>
            </a:r>
          </a:p>
          <a:p xmlns:a="http://schemas.openxmlformats.org/drawingml/2006/main">
            <a:pPr algn="l">
              <a:defRPr sz="1350" b="0">
                <a:solidFill>
                  <a:srgbClr val="506274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506274"/>
                </a:solidFill>
                <a:latin typeface="Consolas"/>
                <a:ea typeface="Consolas"/>
                <a:cs typeface="Consolas"/>
              </a:rPr>
              <a:t>  const plan = await codex.run(input);</a:t>
            </a:r>
          </a:p>
          <a:p xmlns:a="http://schemas.openxmlformats.org/drawingml/2006/main">
            <a:pPr algn="l">
              <a:defRPr sz="1350" b="0">
                <a:solidFill>
                  <a:srgbClr val="506274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506274"/>
                </a:solidFill>
                <a:latin typeface="Consolas"/>
                <a:ea typeface="Consolas"/>
                <a:cs typeface="Consolas"/>
              </a:rPr>
              <a:t>  return validate(plan);</a:t>
            </a:r>
          </a:p>
          <a:p xmlns:a="http://schemas.openxmlformats.org/drawingml/2006/main">
            <a:pPr algn="l">
              <a:defRPr sz="1350" b="0">
                <a:solidFill>
                  <a:srgbClr val="506274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506274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FEA64794-F168-416D-AD64-16C2ED389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171950"/>
            <a:ext cx="2571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Commentaire oral court sur la logique, les tests et les limites.</a:t>
            </a:r>
          </a:p>
        </p:txBody>
      </p:sp>
    </p:spTree>
    <p:extLst>
      <p:ext uri="{BB962C8B-B14F-4D97-AF65-F5344CB8AC3E}">
        <p14:creationId xmlns:p14="http://schemas.microsoft.com/office/powerpoint/2010/main" val="50383840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hape">
            <a:extLst xmlns:a="http://schemas.openxmlformats.org/drawingml/2006/main">
              <a:ext uri="{FF2B5EF4-FFF2-40B4-BE49-F238E27FC236}">
                <a16:creationId xmlns:a16="http://schemas.microsoft.com/office/drawing/2014/main" id="{67FFA8B1-4BC6-40A9-A37A-BBD177245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876300"/>
            <a:ext cx="10668000" cy="428625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DE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394420E1-0F5E-42D5-88EF-326C609DC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200150"/>
            <a:ext cx="6286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81B2D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081B2D"/>
                </a:solidFill>
                <a:latin typeface="Aptos Display"/>
                <a:ea typeface="Aptos Display"/>
                <a:cs typeface="Aptos Display"/>
              </a:rPr>
              <a:t>Conclusion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2A66E2AF-B5D9-496A-B67B-47F291E86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955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06274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506274"/>
                </a:solidFill>
                <a:latin typeface="Aptos"/>
                <a:ea typeface="Aptos"/>
                <a:cs typeface="Aptos"/>
              </a:rPr>
              <a:t>Ce que le stage a permis de construire</a:t>
            </a:r>
          </a:p>
        </p:txBody>
      </p:sp>
      <p:sp>
        <p:nvSpPr>
          <p:cNvPr id="4" name="shape">
            <a:extLst xmlns:a="http://schemas.openxmlformats.org/drawingml/2006/main">
              <a:ext uri="{FF2B5EF4-FFF2-40B4-BE49-F238E27FC236}">
                <a16:creationId xmlns:a16="http://schemas.microsoft.com/office/drawing/2014/main" id="{082788F3-DCAA-4CC4-A338-59F8F36C0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38500"/>
            <a:ext cx="20002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E7F6F7"/>
          </a:solidFill>
          <a:ln xmlns:a="http://schemas.openxmlformats.org/drawingml/2006/main" w="9525">
            <a:solidFill>
              <a:srgbClr val="B8DDE5"/>
            </a:solidFill>
            <a:prstDash val="solid"/>
          </a:ln>
        </p:spPr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048C71A1-D651-4DEA-8FD2-963CF7A38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05200"/>
            <a:ext cx="1619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Competences techniques</a:t>
            </a:r>
          </a:p>
        </p:txBody>
      </p:sp>
      <p:sp>
        <p:nvSpPr>
          <p:cNvPr id="6" name="shape">
            <a:extLst xmlns:a="http://schemas.openxmlformats.org/drawingml/2006/main">
              <a:ext uri="{FF2B5EF4-FFF2-40B4-BE49-F238E27FC236}">
                <a16:creationId xmlns:a16="http://schemas.microsoft.com/office/drawing/2014/main" id="{E18AE690-7E94-440F-B8D6-2183D79D5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238500"/>
            <a:ext cx="20002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0B8FBD"/>
          </a:solidFill>
          <a:ln xmlns:a="http://schemas.openxmlformats.org/drawingml/2006/main" w="9525">
            <a:solidFill>
              <a:srgbClr val="0B8FBD"/>
            </a:solidFill>
            <a:prstDash val="solid"/>
          </a:ln>
        </p:spPr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DF20BAA2-DC84-4F00-9E4F-72322E357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505200"/>
            <a:ext cx="1619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Apports pour l'entreprise</a:t>
            </a:r>
          </a:p>
        </p:txBody>
      </p:sp>
      <p:sp>
        <p:nvSpPr>
          <p:cNvPr id="8" name="shape">
            <a:extLst xmlns:a="http://schemas.openxmlformats.org/drawingml/2006/main">
              <a:ext uri="{FF2B5EF4-FFF2-40B4-BE49-F238E27FC236}">
                <a16:creationId xmlns:a16="http://schemas.microsoft.com/office/drawing/2014/main" id="{FC956C3F-076E-46CF-9B60-3F57D0670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238500"/>
            <a:ext cx="20002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E7F6F7"/>
          </a:solidFill>
          <a:ln xmlns:a="http://schemas.openxmlformats.org/drawingml/2006/main" w="9525">
            <a:solidFill>
              <a:srgbClr val="B8DDE5"/>
            </a:solidFill>
            <a:prstDash val="solid"/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E501CE04-458B-4509-8544-01585DD6D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505200"/>
            <a:ext cx="1619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81B2D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81B2D"/>
                </a:solidFill>
                <a:latin typeface="Aptos"/>
                <a:ea typeface="Aptos"/>
                <a:cs typeface="Aptos"/>
              </a:rPr>
              <a:t>Pistes d'amelioration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B48239AF-E8D0-401B-977B-7EE0D2F58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667375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B8FBD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0B8FBD"/>
                </a:solidFill>
                <a:latin typeface="Aptos Display"/>
                <a:ea typeface="Aptos Display"/>
                <a:cs typeface="Aptos Display"/>
              </a:rPr>
              <a:t>Questions</a:t>
            </a:r>
          </a:p>
        </p:txBody>
      </p:sp>
    </p:spTree>
    <p:extLst>
      <p:ext uri="{BB962C8B-B14F-4D97-AF65-F5344CB8AC3E}">
        <p14:creationId xmlns:p14="http://schemas.microsoft.com/office/powerpoint/2010/main" val="36366790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2026-09-09T21:37:37.9930000Z</dcterms:created>
  <dcterms:modified xsi:type="dcterms:W3CDTF">2026-09-09T21:37:37.9930000Z</dcterms:modified>
</coreProperties>
</file>