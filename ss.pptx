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0b1608d0614ec6" /><Relationship Type="http://schemas.openxmlformats.org/officeDocument/2006/relationships/extended-properties" Target="/docProps/app.xml" Id="R26e4b835b7254845" /><Relationship Type="http://schemas.openxmlformats.org/officeDocument/2006/relationships/officeDocument" Target="/ppt/presentation.xml" Id="R3066511bfa324c31" /></Relationships>
</file>

<file path=ppt/presentation.xml><?xml version="1.0" encoding="utf-8"?>
<p:presentation xmlns:p="http://schemas.openxmlformats.org/presentationml/2006/main">
  <p:sldMasterIdLst>
    <p:sldMasterId xmlns:r="http://schemas.openxmlformats.org/officeDocument/2006/relationships" id="2147483648" r:id="R3034bf3d9d5e4db8"/>
  </p:sldMasterIdLst>
  <p:notesMasterIdLst>
    <p:notesMasterId xmlns:r="http://schemas.openxmlformats.org/officeDocument/2006/relationships" r:id="Rde12be73ace746d6"/>
  </p:notesMasterIdLst>
  <p:sldIdLst>
    <p:sldId xmlns:r="http://schemas.openxmlformats.org/officeDocument/2006/relationships" id="256" r:id="Rbffc4737bb0b4856"/>
    <p:sldId xmlns:r="http://schemas.openxmlformats.org/officeDocument/2006/relationships" id="257" r:id="Rfa7753efb08b421e"/>
    <p:sldId xmlns:r="http://schemas.openxmlformats.org/officeDocument/2006/relationships" id="258" r:id="R98427339d30c4bcb"/>
    <p:sldId xmlns:r="http://schemas.openxmlformats.org/officeDocument/2006/relationships" id="259" r:id="Rb0e666d3dbc3484f"/>
    <p:sldId xmlns:r="http://schemas.openxmlformats.org/officeDocument/2006/relationships" id="260" r:id="R6215bd85f38b4b10"/>
    <p:sldId xmlns:r="http://schemas.openxmlformats.org/officeDocument/2006/relationships" id="261" r:id="R04527fb20e0e40ad"/>
    <p:sldId xmlns:r="http://schemas.openxmlformats.org/officeDocument/2006/relationships" id="262" r:id="R5d1251b4cef848dc"/>
    <p:sldId xmlns:r="http://schemas.openxmlformats.org/officeDocument/2006/relationships" id="263" r:id="R2f1b17d5a9c4436b"/>
    <p:sldId xmlns:r="http://schemas.openxmlformats.org/officeDocument/2006/relationships" id="264" r:id="R093095ca46344be2"/>
    <p:sldId xmlns:r="http://schemas.openxmlformats.org/officeDocument/2006/relationships" id="265" r:id="Ra40f4bc37d8b4258"/>
    <p:sldId xmlns:r="http://schemas.openxmlformats.org/officeDocument/2006/relationships" id="266" r:id="R63390c50c59f4dc8"/>
    <p:sldId xmlns:r="http://schemas.openxmlformats.org/officeDocument/2006/relationships" id="267" r:id="R7be8754d74e24864"/>
    <p:sldId xmlns:r="http://schemas.openxmlformats.org/officeDocument/2006/relationships" id="268" r:id="R0a5f86b04b304de5"/>
    <p:sldId xmlns:r="http://schemas.openxmlformats.org/officeDocument/2006/relationships" id="269" r:id="R01fdd0279b6d4e6d"/>
    <p:sldId xmlns:r="http://schemas.openxmlformats.org/officeDocument/2006/relationships" id="270" r:id="R31888369dffa4a0d"/>
    <p:sldId xmlns:r="http://schemas.openxmlformats.org/officeDocument/2006/relationships" id="271" r:id="R02cd08a467ce48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b48714c870440a" /><Relationship Type="http://schemas.openxmlformats.org/officeDocument/2006/relationships/slideMaster" Target="/ppt/slideMasters/slideMaster1.xml" Id="R3034bf3d9d5e4db8" /><Relationship Type="http://schemas.openxmlformats.org/officeDocument/2006/relationships/notesMaster" Target="/ppt/notesMasters/notesMaster1.xml" Id="Rde12be73ace746d6" /><Relationship Type="http://schemas.openxmlformats.org/officeDocument/2006/relationships/presProps" Target="/ppt/presProps.xml" Id="R657fbe2b404a4b9c" /><Relationship Type="http://schemas.openxmlformats.org/officeDocument/2006/relationships/tableStyles" Target="/ppt/tableStyles.xml" Id="R0df32f5b34c64eb6" /><Relationship Type="http://schemas.openxmlformats.org/officeDocument/2006/relationships/slide" Target="/ppt/slides/slide1.xml" Id="Rbffc4737bb0b4856" /><Relationship Type="http://schemas.openxmlformats.org/officeDocument/2006/relationships/slide" Target="/ppt/slides/slide2.xml" Id="Rfa7753efb08b421e" /><Relationship Type="http://schemas.openxmlformats.org/officeDocument/2006/relationships/slide" Target="/ppt/slides/slide3.xml" Id="R98427339d30c4bcb" /><Relationship Type="http://schemas.openxmlformats.org/officeDocument/2006/relationships/slide" Target="/ppt/slides/slide4.xml" Id="Rb0e666d3dbc3484f" /><Relationship Type="http://schemas.openxmlformats.org/officeDocument/2006/relationships/slide" Target="/ppt/slides/slide5.xml" Id="R6215bd85f38b4b10" /><Relationship Type="http://schemas.openxmlformats.org/officeDocument/2006/relationships/slide" Target="/ppt/slides/slide6.xml" Id="R04527fb20e0e40ad" /><Relationship Type="http://schemas.openxmlformats.org/officeDocument/2006/relationships/slide" Target="/ppt/slides/slide7.xml" Id="R5d1251b4cef848dc" /><Relationship Type="http://schemas.openxmlformats.org/officeDocument/2006/relationships/slide" Target="/ppt/slides/slide8.xml" Id="R2f1b17d5a9c4436b" /><Relationship Type="http://schemas.openxmlformats.org/officeDocument/2006/relationships/slide" Target="/ppt/slides/slide9.xml" Id="R093095ca46344be2" /><Relationship Type="http://schemas.openxmlformats.org/officeDocument/2006/relationships/slide" Target="/ppt/slides/slide10.xml" Id="Ra40f4bc37d8b4258" /><Relationship Type="http://schemas.openxmlformats.org/officeDocument/2006/relationships/slide" Target="/ppt/slides/slide11.xml" Id="R63390c50c59f4dc8" /><Relationship Type="http://schemas.openxmlformats.org/officeDocument/2006/relationships/slide" Target="/ppt/slides/slide12.xml" Id="R7be8754d74e24864" /><Relationship Type="http://schemas.openxmlformats.org/officeDocument/2006/relationships/slide" Target="/ppt/slides/slide13.xml" Id="R0a5f86b04b304de5" /><Relationship Type="http://schemas.openxmlformats.org/officeDocument/2006/relationships/slide" Target="/ppt/slides/slide14.xml" Id="R01fdd0279b6d4e6d" /><Relationship Type="http://schemas.openxmlformats.org/officeDocument/2006/relationships/slide" Target="/ppt/slides/slide15.xml" Id="R31888369dffa4a0d" /><Relationship Type="http://schemas.openxmlformats.org/officeDocument/2006/relationships/slide" Target="/ppt/slides/slide16.xml" Id="R02cd08a467ce48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67f75897dc46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4bd501ab1d4f0e" /><Relationship Type="http://schemas.openxmlformats.org/officeDocument/2006/relationships/notesMaster" Target="/ppt/notesMasters/notesMaster1.xml" Id="Rbea8d58a629f4d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0ee0c36c7042ec" /><Relationship Type="http://schemas.openxmlformats.org/officeDocument/2006/relationships/notesMaster" Target="/ppt/notesMasters/notesMaster1.xml" Id="Rd74a15c7656041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91f78f748d449d" /><Relationship Type="http://schemas.openxmlformats.org/officeDocument/2006/relationships/notesMaster" Target="/ppt/notesMasters/notesMaster1.xml" Id="R10aef52a30dc4a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1258fe95bb45e0" /><Relationship Type="http://schemas.openxmlformats.org/officeDocument/2006/relationships/notesMaster" Target="/ppt/notesMasters/notesMaster1.xml" Id="R6945f619bfa148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0cac49c2df467d" /><Relationship Type="http://schemas.openxmlformats.org/officeDocument/2006/relationships/notesMaster" Target="/ppt/notesMasters/notesMaster1.xml" Id="R6ac6a28fca644e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575902718642fd" /><Relationship Type="http://schemas.openxmlformats.org/officeDocument/2006/relationships/notesMaster" Target="/ppt/notesMasters/notesMaster1.xml" Id="R7790f571963147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e4e64482f54e7c" /><Relationship Type="http://schemas.openxmlformats.org/officeDocument/2006/relationships/notesMaster" Target="/ppt/notesMasters/notesMaster1.xml" Id="Raa3978803eb249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fd6710b27a403a" /><Relationship Type="http://schemas.openxmlformats.org/officeDocument/2006/relationships/notesMaster" Target="/ppt/notesMasters/notesMaster1.xml" Id="R2a8fc64f81e54f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8589d309764cb4" /><Relationship Type="http://schemas.openxmlformats.org/officeDocument/2006/relationships/notesMaster" Target="/ppt/notesMasters/notesMaster1.xml" Id="Rd82b69532a2742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0c323afc554cf8" /><Relationship Type="http://schemas.openxmlformats.org/officeDocument/2006/relationships/notesMaster" Target="/ppt/notesMasters/notesMaster1.xml" Id="Rce78bdbb186540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e05d48c495473c" /><Relationship Type="http://schemas.openxmlformats.org/officeDocument/2006/relationships/notesMaster" Target="/ppt/notesMasters/notesMaster1.xml" Id="R42ff2cf3804349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24f72acdce4606" /><Relationship Type="http://schemas.openxmlformats.org/officeDocument/2006/relationships/notesMaster" Target="/ppt/notesMasters/notesMaster1.xml" Id="Rb82d2451f30740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7e6081c36240c2" /><Relationship Type="http://schemas.openxmlformats.org/officeDocument/2006/relationships/notesMaster" Target="/ppt/notesMasters/notesMaster1.xml" Id="Red23676970804b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8d6300263c4cda" /><Relationship Type="http://schemas.openxmlformats.org/officeDocument/2006/relationships/notesMaster" Target="/ppt/notesMasters/notesMaster1.xml" Id="R184fd9af73a44d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108692eda714ec2" /><Relationship Type="http://schemas.openxmlformats.org/officeDocument/2006/relationships/notesMaster" Target="/ppt/notesMasters/notesMaster1.xml" Id="R131b9f0735fe4d7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fbd000ca2d94cdb" /><Relationship Type="http://schemas.openxmlformats.org/officeDocument/2006/relationships/notesMaster" Target="/ppt/notesMasters/notesMaster1.xml" Id="Ref9f8659090843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de garde avec logos UVSQ et X-FAB fournis par l'utilisateur, et ajout des tuteurs entreprise.</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 demandé pour structurer la soutenance en quatre parties.</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Informations issues des sections 2.1 et 2.2 du rapport.</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C'est donc pour cela que la qualité du wafer est très importante : un défaut pendant la fabrication peut impacter un grand nombre de dies et avoir un impact économique important pour l'entreprise. C'est dans ce contexte qu'intervient le département Yield Enhancement. Son rôle est de suivre et d'améliorer le rendement de production, c'est-à-dire la proportion de dies conformes et fonctionnels produits sur les wafers. L'analyse des données de fabrication est essentielle pour détecter les dérives, comprendre les défauts et améliorer la qualité de production. C'est au sein de ce département, et plus précisément dans l'équipe YE Digital Support, que j'ai réalisé mon stage.</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adaptée au discours utilisateur : les ETL R existaient et fonctionnaient déjà. La migration répond à une volonté d'harmonisation, de modernisation et d'intégration dans un environnement Data moderne.</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Organisation du projet : suivi Jira, points réguliers avec le tuteur et réunion hebdomadaire avec l'équipe.</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Objectifs et cycle de migration décrits en section 3.1.1.</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Environnement technique issu de la section 3.2 du rapport.</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Méthode et difficultés de migration issues des sections 3.1.1 et 3.5.1.</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Stratégie de validation expliquée par l'utilisateur : utilisation de la même source de données, exécution de l'ETL R sur DMP, récupération des données générées dans la table cible comme t_wafer, exécution de l'ETL Python sur DMD, stockage dans une table créée comme t_wafer_copy, lancement d'un script Python de comparaison, génération d'un rapport et calcul du taux de concordance.</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Taux de concordance repris du tableau 3.1. La note Reftool reprend l'explication de la section 3.3.1.</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centrée uniquement sur Prefect : rôle d'orchestration, planification, supervision, logs, historique et relance des traitements.</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Difficultés issues de la section 3.5, dont les tables d'environ 5 To.</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Travaux complémentaires et perspectives issus des sections 3.4 et 4.3.</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issu des sections 4.1, 4.2 et 4.4.</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ajoutée à partir des deux images fournies par l'utilisateur : organigramme de l'équipe Digital Support et quatre piliers du Digital Support.</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f082bceedb40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6fa2d9ea774248" /><Relationship Type="http://schemas.openxmlformats.org/officeDocument/2006/relationships/slideLayout" Target="/ppt/slideLayouts/slideLayout1.xml" Id="Rb5c0d2be5a3947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c0d2be5a3947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b0f35f03704372" /><Relationship Type="http://schemas.openxmlformats.org/officeDocument/2006/relationships/image" Target="/ppt/media/image.png" Id="R92c7a351438b45f3" /><Relationship Type="http://schemas.openxmlformats.org/officeDocument/2006/relationships/image" Target="/ppt/media/image2.png" Id="R4a52fbafe5ba475e" /><Relationship Type="http://schemas.openxmlformats.org/officeDocument/2006/relationships/notesSlide" Target="/ppt/notesSlides/notesSlide1.xml" Id="R8f870a9b8d5748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c46bfa16a44d0b" /><Relationship Type="http://schemas.openxmlformats.org/officeDocument/2006/relationships/notesSlide" Target="/ppt/notesSlides/notesSlide2.xml" Id="Rf708a94f524f45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51159e61d440f1" /><Relationship Type="http://schemas.openxmlformats.org/officeDocument/2006/relationships/notesSlide" Target="/ppt/notesSlides/notesSlide3.xml" Id="Re99d4b3faf1641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339aa9b6c74823" /><Relationship Type="http://schemas.openxmlformats.org/officeDocument/2006/relationships/notesSlide" Target="/ppt/notesSlides/notesSlide4.xml" Id="R7597b3eb9f9545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49790d6ca04710" /><Relationship Type="http://schemas.openxmlformats.org/officeDocument/2006/relationships/notesSlide" Target="/ppt/notesSlides/notesSlide5.xml" Id="Rc98427cb75aa4b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82148cff184fd0" /><Relationship Type="http://schemas.openxmlformats.org/officeDocument/2006/relationships/notesSlide" Target="/ppt/notesSlides/notesSlide6.xml" Id="Rd77352689e1a4b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310042793948e1" /><Relationship Type="http://schemas.openxmlformats.org/officeDocument/2006/relationships/notesSlide" Target="/ppt/notesSlides/notesSlide7.xml" Id="R690602cd940941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d4753fd7094996" /><Relationship Type="http://schemas.openxmlformats.org/officeDocument/2006/relationships/notesSlide" Target="/ppt/notesSlides/notesSlide8.xml" Id="Rac323852629c44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705eadf9e62451b" /><Relationship Type="http://schemas.openxmlformats.org/officeDocument/2006/relationships/notesSlide" Target="/ppt/notesSlides/notesSlide9.xml" Id="R524e1d5f18cc47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913f3b9d354508" /><Relationship Type="http://schemas.openxmlformats.org/officeDocument/2006/relationships/notesSlide" Target="/ppt/notesSlides/notesSlide10.xml" Id="R4c9c0c6053ae49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a8cbd683fd4681" /><Relationship Type="http://schemas.openxmlformats.org/officeDocument/2006/relationships/chart" Target="/ppt/slides/charts/chart1.xml" Id="Rec9eaf2be0af43e3" /><Relationship Type="http://schemas.openxmlformats.org/officeDocument/2006/relationships/notesSlide" Target="/ppt/notesSlides/notesSlide11.xml" Id="R492f3c6075a840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8d53fa55334555" /><Relationship Type="http://schemas.openxmlformats.org/officeDocument/2006/relationships/notesSlide" Target="/ppt/notesSlides/notesSlide12.xml" Id="R6512e78a47f34d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a0973631914348" /><Relationship Type="http://schemas.openxmlformats.org/officeDocument/2006/relationships/notesSlide" Target="/ppt/notesSlides/notesSlide13.xml" Id="Re3875f0a309a48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9e141fc8d7479c" /><Relationship Type="http://schemas.openxmlformats.org/officeDocument/2006/relationships/notesSlide" Target="/ppt/notesSlides/notesSlide14.xml" Id="Rf071bb8e5adf47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ba52df66ac44f0f" /><Relationship Type="http://schemas.openxmlformats.org/officeDocument/2006/relationships/notesSlide" Target="/ppt/notesSlides/notesSlide15.xml" Id="R033dea81e64d4a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a59c5cc68cc4a95" /><Relationship Type="http://schemas.openxmlformats.org/officeDocument/2006/relationships/image" Target="/ppt/media/image3.png" Id="R77390a1058344aff" /><Relationship Type="http://schemas.openxmlformats.org/officeDocument/2006/relationships/image" Target="/ppt/media/image4.png" Id="R4037b6f62a714708" /><Relationship Type="http://schemas.openxmlformats.org/officeDocument/2006/relationships/notesSlide" Target="/ppt/notesSlides/notesSlide16.xml" Id="Rd17cb667738a429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Taux de concordance</c:v>
          </c:tx>
          <c:spPr>
            <a:solidFill xmlns:a="http://schemas.openxmlformats.org/drawingml/2006/main">
              <a:srgbClr val="0B8FBD"/>
            </a:solidFill>
          </c:spPr>
          <c:cat>
            <c:strRef>
              <c:f>'Chart Data'!$A$2:$A$10</c:f>
              <c:strCache>
                <c:ptCount val="9"/>
                <c:pt idx="0">
                  <c:v>Mastertoollist</c:v>
                </c:pt>
                <c:pt idx="1">
                  <c:v>Shipment</c:v>
                </c:pt>
                <c:pt idx="2">
                  <c:v>Symaro</c:v>
                </c:pt>
                <c:pt idx="3">
                  <c:v>Symaro_route</c:v>
                </c:pt>
                <c:pt idx="4">
                  <c:v>Reftool</c:v>
                </c:pt>
                <c:pt idx="5">
                  <c:v>Dbtrade</c:v>
                </c:pt>
                <c:pt idx="6">
                  <c:v>Dbiltr</c:v>
                </c:pt>
                <c:pt idx="7">
                  <c:v>Dbmaps 8</c:v>
                </c:pt>
                <c:pt idx="8">
                  <c:v>eda_csv</c:v>
                </c:pt>
              </c:strCache>
            </c:strRef>
          </c:cat>
          <c:val>
            <c:numRef>
              <c:f>'Chart Data'!$B$2:$B$10</c:f>
              <c:numCache>
                <c:formatCode>General</c:formatCode>
                <c:ptCount val="9"/>
                <c:pt idx="0">
                  <c:v>100</c:v>
                </c:pt>
                <c:pt idx="1">
                  <c:v>100</c:v>
                </c:pt>
                <c:pt idx="2">
                  <c:v>98.37</c:v>
                </c:pt>
                <c:pt idx="3">
                  <c:v>100</c:v>
                </c:pt>
                <c:pt idx="4">
                  <c:v>55.79</c:v>
                </c:pt>
                <c:pt idx="5">
                  <c:v>99.43</c:v>
                </c:pt>
                <c:pt idx="6">
                  <c:v>100</c:v>
                </c:pt>
                <c:pt idx="7">
                  <c:v>97.54</c:v>
                </c:pt>
                <c:pt idx="8">
                  <c:v>100</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2c7a351438b45f3"/>
          <a:stretch xmlns:a="http://schemas.openxmlformats.org/drawingml/2006/main"/>
        </p:blipFill>
        <p:spPr>
          <a:xfrm xmlns:a="http://schemas.openxmlformats.org/drawingml/2006/main">
            <a:off x="763304" y="457200"/>
            <a:ext cx="2321492" cy="11239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a52fbafe5ba475e"/>
          <a:stretch xmlns:a="http://schemas.openxmlformats.org/drawingml/2006/main"/>
        </p:blipFill>
        <p:spPr>
          <a:xfrm xmlns:a="http://schemas.openxmlformats.org/drawingml/2006/main">
            <a:off x="9076805" y="571500"/>
            <a:ext cx="2039389" cy="876300"/>
          </a:xfrm>
          <a:prstGeom xmlns:a="http://schemas.openxmlformats.org/drawingml/2006/main" prst="rect">
            <a:avLst/>
          </a:prstGeom>
        </p:spPr>
      </p:pic>
      <p:sp>
        <p:nvSpPr>
          <p:cNvPr id="3" name="text">
            <a:extLst xmlns:a="http://schemas.openxmlformats.org/drawingml/2006/main">
              <a:ext uri="{FF2B5EF4-FFF2-40B4-BE49-F238E27FC236}">
                <a16:creationId xmlns:a16="http://schemas.microsoft.com/office/drawing/2014/main" id="{BDE2D73C-96F4-4B78-983B-168F40036E54}"/>
              </a:ext>
            </a:extLst>
          </p:cNvPr>
          <p:cNvSpPr>
            <a:spLocks xmlns:a="http://schemas.openxmlformats.org/drawingml/2006/main" noGrp="1"/>
          </p:cNvSpPr>
          <p:nvPr/>
        </p:nvSpPr>
        <p:spPr>
          <a:xfrm xmlns:a="http://schemas.openxmlformats.org/drawingml/2006/main">
            <a:off x="4000500" y="13525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200" b="1">
                <a:solidFill>
                  <a:srgbClr val="0B8FBD"/>
                </a:solidFill>
                <a:latin typeface="Aptos"/>
                <a:ea typeface="Aptos"/>
                <a:cs typeface="Aptos"/>
              </a:defRPr>
            </a:pPr>
            <a:r>
              <a:rPr sz="1200" b="1">
                <a:solidFill>
                  <a:srgbClr val="0B8FBD"/>
                </a:solidFill>
                <a:latin typeface="Aptos"/>
                <a:ea typeface="Aptos"/>
                <a:cs typeface="Aptos"/>
              </a:rPr>
              <a:t>Projet de fin d'études</a:t>
            </a:r>
          </a:p>
        </p:txBody>
      </p:sp>
      <p:sp>
        <p:nvSpPr>
          <p:cNvPr id="4" name="text">
            <a:extLst xmlns:a="http://schemas.openxmlformats.org/drawingml/2006/main">
              <a:ext uri="{FF2B5EF4-FFF2-40B4-BE49-F238E27FC236}">
                <a16:creationId xmlns:a16="http://schemas.microsoft.com/office/drawing/2014/main" id="{942142DE-CA1E-47AA-97D3-A235C33A8ACB}"/>
              </a:ext>
            </a:extLst>
          </p:cNvPr>
          <p:cNvSpPr>
            <a:spLocks xmlns:a="http://schemas.openxmlformats.org/drawingml/2006/main" noGrp="1"/>
          </p:cNvSpPr>
          <p:nvPr/>
        </p:nvSpPr>
        <p:spPr>
          <a:xfrm xmlns:a="http://schemas.openxmlformats.org/drawingml/2006/main">
            <a:off x="2038350" y="1924050"/>
            <a:ext cx="81153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3600" b="1">
                <a:solidFill>
                  <a:srgbClr val="081B2D"/>
                </a:solidFill>
                <a:latin typeface="Aptos Display"/>
                <a:ea typeface="Aptos Display"/>
                <a:cs typeface="Aptos Display"/>
              </a:defRPr>
            </a:pPr>
            <a:r>
              <a:rPr sz="3600" b="1">
                <a:solidFill>
                  <a:srgbClr val="081B2D"/>
                </a:solidFill>
                <a:latin typeface="Aptos Display"/>
                <a:ea typeface="Aptos Display"/>
                <a:cs typeface="Aptos Display"/>
              </a:rPr>
              <a:t>Migration et modernisation</a:t>
            </a:r>
          </a:p>
          <a:p xmlns:a="http://schemas.openxmlformats.org/drawingml/2006/main">
            <a:pPr algn="ctr">
              <a:defRPr sz="3600" b="1">
                <a:solidFill>
                  <a:srgbClr val="081B2D"/>
                </a:solidFill>
                <a:latin typeface="Aptos Display"/>
                <a:ea typeface="Aptos Display"/>
                <a:cs typeface="Aptos Display"/>
              </a:defRPr>
            </a:pPr>
            <a:r>
              <a:rPr sz="3600" b="1">
                <a:solidFill>
                  <a:srgbClr val="081B2D"/>
                </a:solidFill>
                <a:latin typeface="Aptos Display"/>
                <a:ea typeface="Aptos Display"/>
                <a:cs typeface="Aptos Display"/>
              </a:rPr>
              <a:t>des processus ETL</a:t>
            </a:r>
          </a:p>
          <a:p xmlns:a="http://schemas.openxmlformats.org/drawingml/2006/main">
            <a:pPr algn="ctr">
              <a:defRPr sz="3600" b="1">
                <a:solidFill>
                  <a:srgbClr val="081B2D"/>
                </a:solidFill>
                <a:latin typeface="Aptos Display"/>
                <a:ea typeface="Aptos Display"/>
                <a:cs typeface="Aptos Display"/>
              </a:defRPr>
            </a:pPr>
            <a:r>
              <a:rPr sz="3600" b="1">
                <a:solidFill>
                  <a:srgbClr val="081B2D"/>
                </a:solidFill>
                <a:latin typeface="Aptos Display"/>
                <a:ea typeface="Aptos Display"/>
                <a:cs typeface="Aptos Display"/>
              </a:rPr>
              <a:t>de R vers Python</a:t>
            </a:r>
          </a:p>
        </p:txBody>
      </p:sp>
      <p:sp>
        <p:nvSpPr>
          <p:cNvPr id="5" name="text">
            <a:extLst xmlns:a="http://schemas.openxmlformats.org/drawingml/2006/main">
              <a:ext uri="{FF2B5EF4-FFF2-40B4-BE49-F238E27FC236}">
                <a16:creationId xmlns:a16="http://schemas.microsoft.com/office/drawing/2014/main" id="{5894AA76-6ECC-4797-974A-35407E6C5A39}"/>
              </a:ext>
            </a:extLst>
          </p:cNvPr>
          <p:cNvSpPr>
            <a:spLocks xmlns:a="http://schemas.openxmlformats.org/drawingml/2006/main" noGrp="1"/>
          </p:cNvSpPr>
          <p:nvPr/>
        </p:nvSpPr>
        <p:spPr>
          <a:xfrm xmlns:a="http://schemas.openxmlformats.org/drawingml/2006/main">
            <a:off x="3143250" y="373380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725" b="0">
                <a:solidFill>
                  <a:srgbClr val="506274"/>
                </a:solidFill>
                <a:latin typeface="Aptos"/>
                <a:ea typeface="Aptos"/>
                <a:cs typeface="Aptos"/>
              </a:defRPr>
            </a:pPr>
            <a:r>
              <a:rPr sz="1725" b="0">
                <a:solidFill>
                  <a:srgbClr val="506274"/>
                </a:solidFill>
                <a:latin typeface="Aptos"/>
                <a:ea typeface="Aptos"/>
                <a:cs typeface="Aptos"/>
              </a:rPr>
              <a:t>Master 2 Informatique DataScale</a:t>
            </a:r>
          </a:p>
        </p:txBody>
      </p:sp>
      <p:sp>
        <p:nvSpPr>
          <p:cNvPr id="6" name="text">
            <a:extLst xmlns:a="http://schemas.openxmlformats.org/drawingml/2006/main">
              <a:ext uri="{FF2B5EF4-FFF2-40B4-BE49-F238E27FC236}">
                <a16:creationId xmlns:a16="http://schemas.microsoft.com/office/drawing/2014/main" id="{19B92410-4717-4EAA-936D-A7308E4E26EF}"/>
              </a:ext>
            </a:extLst>
          </p:cNvPr>
          <p:cNvSpPr>
            <a:spLocks xmlns:a="http://schemas.openxmlformats.org/drawingml/2006/main" noGrp="1"/>
          </p:cNvSpPr>
          <p:nvPr/>
        </p:nvSpPr>
        <p:spPr>
          <a:xfrm xmlns:a="http://schemas.openxmlformats.org/drawingml/2006/main">
            <a:off x="1524000" y="5067300"/>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00" b="0">
                <a:solidFill>
                  <a:srgbClr val="506274"/>
                </a:solidFill>
                <a:latin typeface="Aptos"/>
                <a:ea typeface="Aptos"/>
                <a:cs typeface="Aptos"/>
              </a:defRPr>
            </a:pPr>
            <a:r>
              <a:rPr sz="1500" b="0">
                <a:solidFill>
                  <a:srgbClr val="506274"/>
                </a:solidFill>
                <a:latin typeface="Aptos"/>
                <a:ea typeface="Aptos"/>
                <a:cs typeface="Aptos"/>
              </a:rPr>
              <a:t>Kévin SU</a:t>
            </a:r>
          </a:p>
          <a:p xmlns:a="http://schemas.openxmlformats.org/drawingml/2006/main">
            <a:pPr algn="ctr">
              <a:defRPr sz="1500" b="0">
                <a:solidFill>
                  <a:srgbClr val="506274"/>
                </a:solidFill>
                <a:latin typeface="Aptos"/>
                <a:ea typeface="Aptos"/>
                <a:cs typeface="Aptos"/>
              </a:defRPr>
            </a:pPr>
            <a:r>
              <a:rPr sz="1500" b="0">
                <a:solidFill>
                  <a:srgbClr val="506274"/>
                </a:solidFill>
                <a:latin typeface="Aptos"/>
                <a:ea typeface="Aptos"/>
                <a:cs typeface="Aptos"/>
              </a:rPr>
              <a:t>X-FAB France</a:t>
            </a:r>
          </a:p>
          <a:p xmlns:a="http://schemas.openxmlformats.org/drawingml/2006/main">
            <a:pPr algn="ctr">
              <a:defRPr sz="1500" b="0">
                <a:solidFill>
                  <a:srgbClr val="506274"/>
                </a:solidFill>
                <a:latin typeface="Aptos"/>
                <a:ea typeface="Aptos"/>
                <a:cs typeface="Aptos"/>
              </a:defRPr>
            </a:pPr>
            <a:r>
              <a:rPr sz="1500" b="0">
                <a:solidFill>
                  <a:srgbClr val="506274"/>
                </a:solidFill>
                <a:latin typeface="Aptos"/>
                <a:ea typeface="Aptos"/>
                <a:cs typeface="Aptos"/>
              </a:rPr>
              <a:t>2025-2026</a:t>
            </a:r>
          </a:p>
        </p:txBody>
      </p:sp>
      <p:sp>
        <p:nvSpPr>
          <p:cNvPr id="7" name="rect">
            <a:extLst xmlns:a="http://schemas.openxmlformats.org/drawingml/2006/main">
              <a:ext uri="{FF2B5EF4-FFF2-40B4-BE49-F238E27FC236}">
                <a16:creationId xmlns:a16="http://schemas.microsoft.com/office/drawing/2014/main" id="{BC64B51D-727B-45C8-A029-FC66EB048EFE}"/>
              </a:ext>
            </a:extLst>
          </p:cNvPr>
          <p:cNvSpPr>
            <a:spLocks xmlns:a="http://schemas.openxmlformats.org/drawingml/2006/main" noGrp="1"/>
          </p:cNvSpPr>
          <p:nvPr/>
        </p:nvSpPr>
        <p:spPr>
          <a:xfrm xmlns:a="http://schemas.openxmlformats.org/drawingml/2006/main">
            <a:off x="4857750" y="4876800"/>
            <a:ext cx="2476500" cy="1104900"/>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text">
            <a:extLst xmlns:a="http://schemas.openxmlformats.org/drawingml/2006/main">
              <a:ext uri="{FF2B5EF4-FFF2-40B4-BE49-F238E27FC236}">
                <a16:creationId xmlns:a16="http://schemas.microsoft.com/office/drawing/2014/main" id="{FC33E584-38DE-485C-9238-726DF6EEFD88}"/>
              </a:ext>
            </a:extLst>
          </p:cNvPr>
          <p:cNvSpPr>
            <a:spLocks xmlns:a="http://schemas.openxmlformats.org/drawingml/2006/main" noGrp="1"/>
          </p:cNvSpPr>
          <p:nvPr/>
        </p:nvSpPr>
        <p:spPr>
          <a:xfrm xmlns:a="http://schemas.openxmlformats.org/drawingml/2006/main">
            <a:off x="5086350" y="5105400"/>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0B8FBD"/>
                </a:solidFill>
                <a:latin typeface="Aptos"/>
                <a:ea typeface="Aptos"/>
                <a:cs typeface="Aptos"/>
              </a:defRPr>
            </a:pPr>
            <a:r>
              <a:rPr sz="1050" b="1">
                <a:solidFill>
                  <a:srgbClr val="0B8FBD"/>
                </a:solidFill>
                <a:latin typeface="Aptos"/>
                <a:ea typeface="Aptos"/>
                <a:cs typeface="Aptos"/>
              </a:rPr>
              <a:t>Tuteurs entreprise</a:t>
            </a:r>
          </a:p>
        </p:txBody>
      </p:sp>
      <p:sp>
        <p:nvSpPr>
          <p:cNvPr id="9" name="text">
            <a:extLst xmlns:a="http://schemas.openxmlformats.org/drawingml/2006/main">
              <a:ext uri="{FF2B5EF4-FFF2-40B4-BE49-F238E27FC236}">
                <a16:creationId xmlns:a16="http://schemas.microsoft.com/office/drawing/2014/main" id="{3D99DA33-2BF8-4C59-9EE3-414810FA8C6A}"/>
              </a:ext>
            </a:extLst>
          </p:cNvPr>
          <p:cNvSpPr>
            <a:spLocks xmlns:a="http://schemas.openxmlformats.org/drawingml/2006/main" noGrp="1"/>
          </p:cNvSpPr>
          <p:nvPr/>
        </p:nvSpPr>
        <p:spPr>
          <a:xfrm xmlns:a="http://schemas.openxmlformats.org/drawingml/2006/main">
            <a:off x="5086350" y="539115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275" b="0">
                <a:solidFill>
                  <a:srgbClr val="506274"/>
                </a:solidFill>
                <a:latin typeface="Aptos"/>
                <a:ea typeface="Aptos"/>
                <a:cs typeface="Aptos"/>
              </a:defRPr>
            </a:pPr>
            <a:r>
              <a:rPr sz="1275" b="0">
                <a:solidFill>
                  <a:srgbClr val="506274"/>
                </a:solidFill>
                <a:latin typeface="Aptos"/>
                <a:ea typeface="Aptos"/>
                <a:cs typeface="Aptos"/>
              </a:rPr>
              <a:t>Corentin Bresselle</a:t>
            </a:r>
          </a:p>
          <a:p xmlns:a="http://schemas.openxmlformats.org/drawingml/2006/main">
            <a:pPr algn="ctr">
              <a:defRPr sz="1275" b="0">
                <a:solidFill>
                  <a:srgbClr val="506274"/>
                </a:solidFill>
                <a:latin typeface="Aptos"/>
                <a:ea typeface="Aptos"/>
                <a:cs typeface="Aptos"/>
              </a:defRPr>
            </a:pPr>
            <a:r>
              <a:rPr sz="1275" b="0">
                <a:solidFill>
                  <a:srgbClr val="506274"/>
                </a:solidFill>
                <a:latin typeface="Aptos"/>
                <a:ea typeface="Aptos"/>
                <a:cs typeface="Aptos"/>
              </a:rPr>
              <a:t>Aurélie Uemura</a:t>
            </a:r>
          </a:p>
        </p:txBody>
      </p:sp>
      <p:sp>
        <p:nvSpPr>
          <p:cNvPr id="10" name="rect">
            <a:extLst xmlns:a="http://schemas.openxmlformats.org/drawingml/2006/main">
              <a:ext uri="{FF2B5EF4-FFF2-40B4-BE49-F238E27FC236}">
                <a16:creationId xmlns:a16="http://schemas.microsoft.com/office/drawing/2014/main" id="{E5929688-371D-4C3E-B377-0C13D974A04F}"/>
              </a:ext>
            </a:extLst>
          </p:cNvPr>
          <p:cNvSpPr>
            <a:spLocks xmlns:a="http://schemas.openxmlformats.org/drawingml/2006/main" noGrp="1"/>
          </p:cNvSpPr>
          <p:nvPr/>
        </p:nvSpPr>
        <p:spPr>
          <a:xfrm xmlns:a="http://schemas.openxmlformats.org/drawingml/2006/main">
            <a:off x="7810500" y="5067300"/>
            <a:ext cx="2857500" cy="685800"/>
          </a:xfrm>
          <a:prstGeom xmlns:a="http://schemas.openxmlformats.org/drawingml/2006/main" prst="roundRect">
            <a:avLst>
              <a:gd name="adj" fmla="val 25000"/>
            </a:avLst>
          </a:prstGeom>
          <a:solidFill xmlns:a="http://schemas.openxmlformats.org/drawingml/2006/main">
            <a:srgbClr val="E7F6F7"/>
          </a:solidFill>
          <a:ln xmlns:a="http://schemas.openxmlformats.org/drawingml/2006/main" w="9525">
            <a:solidFill>
              <a:srgbClr val="B8DDE5"/>
            </a:solidFill>
            <a:prstDash val="solid"/>
          </a:ln>
        </p:spPr>
      </p:sp>
      <p:sp>
        <p:nvSpPr>
          <p:cNvPr id="11" name="rect">
            <a:extLst xmlns:a="http://schemas.openxmlformats.org/drawingml/2006/main">
              <a:ext uri="{FF2B5EF4-FFF2-40B4-BE49-F238E27FC236}">
                <a16:creationId xmlns:a16="http://schemas.microsoft.com/office/drawing/2014/main" id="{EEEE0A9A-D4CC-4BA1-BDF3-DCFD3843816C}"/>
              </a:ext>
            </a:extLst>
          </p:cNvPr>
          <p:cNvSpPr>
            <a:spLocks xmlns:a="http://schemas.openxmlformats.org/drawingml/2006/main" noGrp="1"/>
          </p:cNvSpPr>
          <p:nvPr/>
        </p:nvSpPr>
        <p:spPr>
          <a:xfrm xmlns:a="http://schemas.openxmlformats.org/drawingml/2006/main">
            <a:off x="8153400" y="5248275"/>
            <a:ext cx="514350" cy="323850"/>
          </a:xfrm>
          <a:prstGeom xmlns:a="http://schemas.openxmlformats.org/drawingml/2006/main" prst="roundRect">
            <a:avLst>
              <a:gd name="adj" fmla="val 50000"/>
            </a:avLst>
          </a:prstGeom>
          <a:solidFill xmlns:a="http://schemas.openxmlformats.org/drawingml/2006/main">
            <a:srgbClr val="506274"/>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48E5AC9B-5C35-40D0-A52D-93AE91E06B1C}"/>
              </a:ext>
            </a:extLst>
          </p:cNvPr>
          <p:cNvSpPr>
            <a:spLocks xmlns:a="http://schemas.openxmlformats.org/drawingml/2006/main" noGrp="1"/>
          </p:cNvSpPr>
          <p:nvPr/>
        </p:nvSpPr>
        <p:spPr>
          <a:xfrm xmlns:a="http://schemas.openxmlformats.org/drawingml/2006/main">
            <a:off x="8267700" y="5324475"/>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R</a:t>
            </a:r>
          </a:p>
        </p:txBody>
      </p:sp>
      <p:sp>
        <p:nvSpPr>
          <p:cNvPr id="13" name="rect">
            <a:extLst xmlns:a="http://schemas.openxmlformats.org/drawingml/2006/main">
              <a:ext uri="{FF2B5EF4-FFF2-40B4-BE49-F238E27FC236}">
                <a16:creationId xmlns:a16="http://schemas.microsoft.com/office/drawing/2014/main" id="{FAB3FC5E-30A5-46F4-8B24-31157B070D52}"/>
              </a:ext>
            </a:extLst>
          </p:cNvPr>
          <p:cNvSpPr>
            <a:spLocks xmlns:a="http://schemas.openxmlformats.org/drawingml/2006/main" noGrp="1"/>
          </p:cNvSpPr>
          <p:nvPr/>
        </p:nvSpPr>
        <p:spPr>
          <a:xfrm xmlns:a="http://schemas.openxmlformats.org/drawingml/2006/main">
            <a:off x="8839200" y="5248275"/>
            <a:ext cx="876300" cy="3238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ADDC78BD-9606-42DD-A49B-66A8299BAD89}"/>
              </a:ext>
            </a:extLst>
          </p:cNvPr>
          <p:cNvSpPr>
            <a:spLocks xmlns:a="http://schemas.openxmlformats.org/drawingml/2006/main" noGrp="1"/>
          </p:cNvSpPr>
          <p:nvPr/>
        </p:nvSpPr>
        <p:spPr>
          <a:xfrm xmlns:a="http://schemas.openxmlformats.org/drawingml/2006/main">
            <a:off x="8953500" y="5324475"/>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Python</a:t>
            </a:r>
          </a:p>
        </p:txBody>
      </p:sp>
      <p:sp>
        <p:nvSpPr>
          <p:cNvPr id="15" name="rect">
            <a:extLst xmlns:a="http://schemas.openxmlformats.org/drawingml/2006/main">
              <a:ext uri="{FF2B5EF4-FFF2-40B4-BE49-F238E27FC236}">
                <a16:creationId xmlns:a16="http://schemas.microsoft.com/office/drawing/2014/main" id="{7EAE784F-FE7F-411C-BD94-64B6F36CE933}"/>
              </a:ext>
            </a:extLst>
          </p:cNvPr>
          <p:cNvSpPr>
            <a:spLocks xmlns:a="http://schemas.openxmlformats.org/drawingml/2006/main" noGrp="1"/>
          </p:cNvSpPr>
          <p:nvPr/>
        </p:nvSpPr>
        <p:spPr>
          <a:xfrm xmlns:a="http://schemas.openxmlformats.org/drawingml/2006/main">
            <a:off x="9886950" y="5248275"/>
            <a:ext cx="666750" cy="3238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E9BBB048-89B9-452D-BAE6-309A7718E10D}"/>
              </a:ext>
            </a:extLst>
          </p:cNvPr>
          <p:cNvSpPr>
            <a:spLocks xmlns:a="http://schemas.openxmlformats.org/drawingml/2006/main" noGrp="1"/>
          </p:cNvSpPr>
          <p:nvPr/>
        </p:nvSpPr>
        <p:spPr>
          <a:xfrm xmlns:a="http://schemas.openxmlformats.org/drawingml/2006/main">
            <a:off x="10001250" y="53244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ETL</a:t>
            </a:r>
          </a:p>
        </p:txBody>
      </p:sp>
    </p:spTree>
    <p:extLst>
      <p:ext uri="{BB962C8B-B14F-4D97-AF65-F5344CB8AC3E}">
        <p14:creationId xmlns:p14="http://schemas.microsoft.com/office/powerpoint/2010/main" val="610096250"/>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C2FC550D-A581-4B44-B5AD-04DB5CC41C03}"/>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Plan de la soutenance</a:t>
            </a:r>
          </a:p>
        </p:txBody>
      </p:sp>
      <p:sp>
        <p:nvSpPr>
          <p:cNvPr id="2" name="slide-number">
            <a:extLst xmlns:a="http://schemas.openxmlformats.org/drawingml/2006/main">
              <a:ext uri="{FF2B5EF4-FFF2-40B4-BE49-F238E27FC236}">
                <a16:creationId xmlns:a16="http://schemas.microsoft.com/office/drawing/2014/main" id="{2380FB31-3F74-49D7-A464-325018F187C5}"/>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02</a:t>
            </a:r>
          </a:p>
        </p:txBody>
      </p:sp>
      <p:sp>
        <p:nvSpPr>
          <p:cNvPr id="3" name="kicker">
            <a:extLst xmlns:a="http://schemas.openxmlformats.org/drawingml/2006/main">
              <a:ext uri="{FF2B5EF4-FFF2-40B4-BE49-F238E27FC236}">
                <a16:creationId xmlns:a16="http://schemas.microsoft.com/office/drawing/2014/main" id="{634AE51D-8D39-4BE5-BACA-E8EE6D9A56DE}"/>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CDED2DBF-1942-4AEB-9D56-DC9D93BEC88E}"/>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68EAB91D-2551-4673-AF7B-382CDF82CDB1}"/>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08CE10AA-136D-449D-8C8A-602438C08579}"/>
              </a:ext>
            </a:extLst>
          </p:cNvPr>
          <p:cNvSpPr>
            <a:spLocks xmlns:a="http://schemas.openxmlformats.org/drawingml/2006/main" noGrp="1"/>
          </p:cNvSpPr>
          <p:nvPr/>
        </p:nvSpPr>
        <p:spPr>
          <a:xfrm xmlns:a="http://schemas.openxmlformats.org/drawingml/2006/main">
            <a:off x="1104900" y="1676400"/>
            <a:ext cx="99822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45C15FC9-9D35-4FC0-B0BA-91F264518B5B}"/>
              </a:ext>
            </a:extLst>
          </p:cNvPr>
          <p:cNvSpPr>
            <a:spLocks xmlns:a="http://schemas.openxmlformats.org/drawingml/2006/main" noGrp="1"/>
          </p:cNvSpPr>
          <p:nvPr/>
        </p:nvSpPr>
        <p:spPr>
          <a:xfrm xmlns:a="http://schemas.openxmlformats.org/drawingml/2006/main">
            <a:off x="1352550" y="1847850"/>
            <a:ext cx="495300" cy="3429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31FBFD56-D919-4299-AD0E-E6E27D59D114}"/>
              </a:ext>
            </a:extLst>
          </p:cNvPr>
          <p:cNvSpPr>
            <a:spLocks xmlns:a="http://schemas.openxmlformats.org/drawingml/2006/main" noGrp="1"/>
          </p:cNvSpPr>
          <p:nvPr/>
        </p:nvSpPr>
        <p:spPr>
          <a:xfrm xmlns:a="http://schemas.openxmlformats.org/drawingml/2006/main">
            <a:off x="1352550" y="193357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Consolas"/>
                <a:ea typeface="Consolas"/>
                <a:cs typeface="Consolas"/>
              </a:defRPr>
            </a:pPr>
            <a:r>
              <a:rPr sz="975" b="1">
                <a:solidFill>
                  <a:srgbClr val="FFFFFF"/>
                </a:solidFill>
                <a:latin typeface="Consolas"/>
                <a:ea typeface="Consolas"/>
                <a:cs typeface="Consolas"/>
              </a:rPr>
              <a:t>1.</a:t>
            </a:r>
          </a:p>
        </p:txBody>
      </p:sp>
      <p:sp>
        <p:nvSpPr>
          <p:cNvPr id="9" name="text">
            <a:extLst xmlns:a="http://schemas.openxmlformats.org/drawingml/2006/main">
              <a:ext uri="{FF2B5EF4-FFF2-40B4-BE49-F238E27FC236}">
                <a16:creationId xmlns:a16="http://schemas.microsoft.com/office/drawing/2014/main" id="{C496965C-F958-4E98-849C-CB7F99A301C9}"/>
              </a:ext>
            </a:extLst>
          </p:cNvPr>
          <p:cNvSpPr>
            <a:spLocks xmlns:a="http://schemas.openxmlformats.org/drawingml/2006/main" noGrp="1"/>
          </p:cNvSpPr>
          <p:nvPr/>
        </p:nvSpPr>
        <p:spPr>
          <a:xfrm xmlns:a="http://schemas.openxmlformats.org/drawingml/2006/main">
            <a:off x="2152650" y="1809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81B2D"/>
                </a:solidFill>
                <a:latin typeface="Aptos"/>
                <a:ea typeface="Aptos"/>
                <a:cs typeface="Aptos"/>
              </a:defRPr>
            </a:pPr>
            <a:r>
              <a:rPr sz="1725" b="1">
                <a:solidFill>
                  <a:srgbClr val="081B2D"/>
                </a:solidFill>
                <a:latin typeface="Aptos"/>
                <a:ea typeface="Aptos"/>
                <a:cs typeface="Aptos"/>
              </a:rPr>
              <a:t>Présentation de X-FAB</a:t>
            </a:r>
          </a:p>
        </p:txBody>
      </p:sp>
      <p:sp>
        <p:nvSpPr>
          <p:cNvPr id="10" name="text">
            <a:extLst xmlns:a="http://schemas.openxmlformats.org/drawingml/2006/main">
              <a:ext uri="{FF2B5EF4-FFF2-40B4-BE49-F238E27FC236}">
                <a16:creationId xmlns:a16="http://schemas.microsoft.com/office/drawing/2014/main" id="{286A3A70-2D2A-4E5E-B63D-5ADB290894B0}"/>
              </a:ext>
            </a:extLst>
          </p:cNvPr>
          <p:cNvSpPr>
            <a:spLocks xmlns:a="http://schemas.openxmlformats.org/drawingml/2006/main" noGrp="1"/>
          </p:cNvSpPr>
          <p:nvPr/>
        </p:nvSpPr>
        <p:spPr>
          <a:xfrm xmlns:a="http://schemas.openxmlformats.org/drawingml/2006/main">
            <a:off x="5810250" y="18002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Entreprise X-FAB</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Organisation</a:t>
            </a:r>
          </a:p>
        </p:txBody>
      </p:sp>
      <p:sp>
        <p:nvSpPr>
          <p:cNvPr id="11" name="rect">
            <a:extLst xmlns:a="http://schemas.openxmlformats.org/drawingml/2006/main">
              <a:ext uri="{FF2B5EF4-FFF2-40B4-BE49-F238E27FC236}">
                <a16:creationId xmlns:a16="http://schemas.microsoft.com/office/drawing/2014/main" id="{061869E0-A37C-4ACF-A023-75335470B86A}"/>
              </a:ext>
            </a:extLst>
          </p:cNvPr>
          <p:cNvSpPr>
            <a:spLocks xmlns:a="http://schemas.openxmlformats.org/drawingml/2006/main" noGrp="1"/>
          </p:cNvSpPr>
          <p:nvPr/>
        </p:nvSpPr>
        <p:spPr>
          <a:xfrm xmlns:a="http://schemas.openxmlformats.org/drawingml/2006/main">
            <a:off x="1104900" y="2686050"/>
            <a:ext cx="99822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rect">
            <a:extLst xmlns:a="http://schemas.openxmlformats.org/drawingml/2006/main">
              <a:ext uri="{FF2B5EF4-FFF2-40B4-BE49-F238E27FC236}">
                <a16:creationId xmlns:a16="http://schemas.microsoft.com/office/drawing/2014/main" id="{33BB3338-A92E-47E8-9B7A-0D27E412C2D3}"/>
              </a:ext>
            </a:extLst>
          </p:cNvPr>
          <p:cNvSpPr>
            <a:spLocks xmlns:a="http://schemas.openxmlformats.org/drawingml/2006/main" noGrp="1"/>
          </p:cNvSpPr>
          <p:nvPr/>
        </p:nvSpPr>
        <p:spPr>
          <a:xfrm xmlns:a="http://schemas.openxmlformats.org/drawingml/2006/main">
            <a:off x="1352550" y="2857500"/>
            <a:ext cx="495300" cy="3429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5E4B387B-217F-46FB-938D-A24F62CF0A7C}"/>
              </a:ext>
            </a:extLst>
          </p:cNvPr>
          <p:cNvSpPr>
            <a:spLocks xmlns:a="http://schemas.openxmlformats.org/drawingml/2006/main" noGrp="1"/>
          </p:cNvSpPr>
          <p:nvPr/>
        </p:nvSpPr>
        <p:spPr>
          <a:xfrm xmlns:a="http://schemas.openxmlformats.org/drawingml/2006/main">
            <a:off x="1352550" y="29432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Consolas"/>
                <a:ea typeface="Consolas"/>
                <a:cs typeface="Consolas"/>
              </a:defRPr>
            </a:pPr>
            <a:r>
              <a:rPr sz="975" b="1">
                <a:solidFill>
                  <a:srgbClr val="FFFFFF"/>
                </a:solidFill>
                <a:latin typeface="Consolas"/>
                <a:ea typeface="Consolas"/>
                <a:cs typeface="Consolas"/>
              </a:rPr>
              <a:t>2.</a:t>
            </a:r>
          </a:p>
        </p:txBody>
      </p:sp>
      <p:sp>
        <p:nvSpPr>
          <p:cNvPr id="14" name="text">
            <a:extLst xmlns:a="http://schemas.openxmlformats.org/drawingml/2006/main">
              <a:ext uri="{FF2B5EF4-FFF2-40B4-BE49-F238E27FC236}">
                <a16:creationId xmlns:a16="http://schemas.microsoft.com/office/drawing/2014/main" id="{FB2F2CD0-77A9-42BE-AEC0-0EA28F6A666B}"/>
              </a:ext>
            </a:extLst>
          </p:cNvPr>
          <p:cNvSpPr>
            <a:spLocks xmlns:a="http://schemas.openxmlformats.org/drawingml/2006/main" noGrp="1"/>
          </p:cNvSpPr>
          <p:nvPr/>
        </p:nvSpPr>
        <p:spPr>
          <a:xfrm xmlns:a="http://schemas.openxmlformats.org/drawingml/2006/main">
            <a:off x="2152650" y="2819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81B2D"/>
                </a:solidFill>
                <a:latin typeface="Aptos"/>
                <a:ea typeface="Aptos"/>
                <a:cs typeface="Aptos"/>
              </a:defRPr>
            </a:pPr>
            <a:r>
              <a:rPr sz="1725" b="1">
                <a:solidFill>
                  <a:srgbClr val="081B2D"/>
                </a:solidFill>
                <a:latin typeface="Aptos"/>
                <a:ea typeface="Aptos"/>
                <a:cs typeface="Aptos"/>
              </a:rPr>
              <a:t>Contexte et objectifs</a:t>
            </a:r>
          </a:p>
        </p:txBody>
      </p:sp>
      <p:sp>
        <p:nvSpPr>
          <p:cNvPr id="15" name="text">
            <a:extLst xmlns:a="http://schemas.openxmlformats.org/drawingml/2006/main">
              <a:ext uri="{FF2B5EF4-FFF2-40B4-BE49-F238E27FC236}">
                <a16:creationId xmlns:a16="http://schemas.microsoft.com/office/drawing/2014/main" id="{00D5C732-1A2F-4C28-9D52-0D93BC405267}"/>
              </a:ext>
            </a:extLst>
          </p:cNvPr>
          <p:cNvSpPr>
            <a:spLocks xmlns:a="http://schemas.openxmlformats.org/drawingml/2006/main" noGrp="1"/>
          </p:cNvSpPr>
          <p:nvPr/>
        </p:nvSpPr>
        <p:spPr>
          <a:xfrm xmlns:a="http://schemas.openxmlformats.org/drawingml/2006/main">
            <a:off x="5810250" y="28098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Problématique</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Environnement technique</a:t>
            </a:r>
          </a:p>
        </p:txBody>
      </p:sp>
      <p:sp>
        <p:nvSpPr>
          <p:cNvPr id="16" name="rect">
            <a:extLst xmlns:a="http://schemas.openxmlformats.org/drawingml/2006/main">
              <a:ext uri="{FF2B5EF4-FFF2-40B4-BE49-F238E27FC236}">
                <a16:creationId xmlns:a16="http://schemas.microsoft.com/office/drawing/2014/main" id="{AC6EAC96-217C-46CF-9AA3-DB375761F74B}"/>
              </a:ext>
            </a:extLst>
          </p:cNvPr>
          <p:cNvSpPr>
            <a:spLocks xmlns:a="http://schemas.openxmlformats.org/drawingml/2006/main" noGrp="1"/>
          </p:cNvSpPr>
          <p:nvPr/>
        </p:nvSpPr>
        <p:spPr>
          <a:xfrm xmlns:a="http://schemas.openxmlformats.org/drawingml/2006/main">
            <a:off x="1104900" y="3695700"/>
            <a:ext cx="9982200" cy="685800"/>
          </a:xfrm>
          <a:prstGeom xmlns:a="http://schemas.openxmlformats.org/drawingml/2006/main" prst="roundRect">
            <a:avLst>
              <a:gd name="adj" fmla="val 22222"/>
            </a:avLst>
          </a:prstGeom>
          <a:solidFill xmlns:a="http://schemas.openxmlformats.org/drawingml/2006/main">
            <a:srgbClr val="0B8FBD"/>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rect">
            <a:extLst xmlns:a="http://schemas.openxmlformats.org/drawingml/2006/main">
              <a:ext uri="{FF2B5EF4-FFF2-40B4-BE49-F238E27FC236}">
                <a16:creationId xmlns:a16="http://schemas.microsoft.com/office/drawing/2014/main" id="{0E2E5DBE-BCDF-45C2-A8A9-CF2A0B003D37}"/>
              </a:ext>
            </a:extLst>
          </p:cNvPr>
          <p:cNvSpPr>
            <a:spLocks xmlns:a="http://schemas.openxmlformats.org/drawingml/2006/main" noGrp="1"/>
          </p:cNvSpPr>
          <p:nvPr/>
        </p:nvSpPr>
        <p:spPr>
          <a:xfrm xmlns:a="http://schemas.openxmlformats.org/drawingml/2006/main">
            <a:off x="1352550" y="3867150"/>
            <a:ext cx="495300" cy="3429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9A3B0DEE-8377-4AF2-A98E-5CA36DC66885}"/>
              </a:ext>
            </a:extLst>
          </p:cNvPr>
          <p:cNvSpPr>
            <a:spLocks xmlns:a="http://schemas.openxmlformats.org/drawingml/2006/main" noGrp="1"/>
          </p:cNvSpPr>
          <p:nvPr/>
        </p:nvSpPr>
        <p:spPr>
          <a:xfrm xmlns:a="http://schemas.openxmlformats.org/drawingml/2006/main">
            <a:off x="1352550" y="395287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Consolas"/>
                <a:ea typeface="Consolas"/>
                <a:cs typeface="Consolas"/>
              </a:defRPr>
            </a:pPr>
            <a:r>
              <a:rPr sz="975" b="1">
                <a:solidFill>
                  <a:srgbClr val="FFFFFF"/>
                </a:solidFill>
                <a:latin typeface="Consolas"/>
                <a:ea typeface="Consolas"/>
                <a:cs typeface="Consolas"/>
              </a:rPr>
              <a:t>3.</a:t>
            </a:r>
          </a:p>
        </p:txBody>
      </p:sp>
      <p:sp>
        <p:nvSpPr>
          <p:cNvPr id="19" name="text">
            <a:extLst xmlns:a="http://schemas.openxmlformats.org/drawingml/2006/main">
              <a:ext uri="{FF2B5EF4-FFF2-40B4-BE49-F238E27FC236}">
                <a16:creationId xmlns:a16="http://schemas.microsoft.com/office/drawing/2014/main" id="{A1498BB8-9814-4E35-B0BE-4EDCBCE61DCD}"/>
              </a:ext>
            </a:extLst>
          </p:cNvPr>
          <p:cNvSpPr>
            <a:spLocks xmlns:a="http://schemas.openxmlformats.org/drawingml/2006/main" noGrp="1"/>
          </p:cNvSpPr>
          <p:nvPr/>
        </p:nvSpPr>
        <p:spPr>
          <a:xfrm xmlns:a="http://schemas.openxmlformats.org/drawingml/2006/main">
            <a:off x="2152650" y="38290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Solution mise en place</a:t>
            </a:r>
          </a:p>
        </p:txBody>
      </p:sp>
      <p:sp>
        <p:nvSpPr>
          <p:cNvPr id="20" name="text">
            <a:extLst xmlns:a="http://schemas.openxmlformats.org/drawingml/2006/main">
              <a:ext uri="{FF2B5EF4-FFF2-40B4-BE49-F238E27FC236}">
                <a16:creationId xmlns:a16="http://schemas.microsoft.com/office/drawing/2014/main" id="{3E0DCD06-44C1-40A1-B9B4-BA72B59D332C}"/>
              </a:ext>
            </a:extLst>
          </p:cNvPr>
          <p:cNvSpPr>
            <a:spLocks xmlns:a="http://schemas.openxmlformats.org/drawingml/2006/main" noGrp="1"/>
          </p:cNvSpPr>
          <p:nvPr/>
        </p:nvSpPr>
        <p:spPr>
          <a:xfrm xmlns:a="http://schemas.openxmlformats.org/drawingml/2006/main">
            <a:off x="5810250" y="38195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E7F6F7"/>
                </a:solidFill>
                <a:latin typeface="Aptos"/>
                <a:ea typeface="Aptos"/>
                <a:cs typeface="Aptos"/>
              </a:defRPr>
            </a:pPr>
            <a:r>
              <a:rPr sz="1275" b="0">
                <a:solidFill>
                  <a:srgbClr val="E7F6F7"/>
                </a:solidFill>
                <a:latin typeface="Aptos"/>
                <a:ea typeface="Aptos"/>
                <a:cs typeface="Aptos"/>
              </a:rPr>
              <a:t>-&gt; Prefect</a:t>
            </a:r>
          </a:p>
          <a:p xmlns:a="http://schemas.openxmlformats.org/drawingml/2006/main">
            <a:pPr algn="l">
              <a:defRPr sz="1275" b="0">
                <a:solidFill>
                  <a:srgbClr val="E7F6F7"/>
                </a:solidFill>
                <a:latin typeface="Aptos"/>
                <a:ea typeface="Aptos"/>
                <a:cs typeface="Aptos"/>
              </a:defRPr>
            </a:pPr>
            <a:r>
              <a:rPr sz="1275" b="0">
                <a:solidFill>
                  <a:srgbClr val="E7F6F7"/>
                </a:solidFill>
                <a:latin typeface="Aptos"/>
                <a:ea typeface="Aptos"/>
                <a:cs typeface="Aptos"/>
              </a:rPr>
              <a:t>-&gt; Tests de validation</a:t>
            </a:r>
          </a:p>
        </p:txBody>
      </p:sp>
      <p:sp>
        <p:nvSpPr>
          <p:cNvPr id="21" name="rect">
            <a:extLst xmlns:a="http://schemas.openxmlformats.org/drawingml/2006/main">
              <a:ext uri="{FF2B5EF4-FFF2-40B4-BE49-F238E27FC236}">
                <a16:creationId xmlns:a16="http://schemas.microsoft.com/office/drawing/2014/main" id="{979F7AA2-6ABA-4B50-BB73-167FCC6F229F}"/>
              </a:ext>
            </a:extLst>
          </p:cNvPr>
          <p:cNvSpPr>
            <a:spLocks xmlns:a="http://schemas.openxmlformats.org/drawingml/2006/main" noGrp="1"/>
          </p:cNvSpPr>
          <p:nvPr/>
        </p:nvSpPr>
        <p:spPr>
          <a:xfrm xmlns:a="http://schemas.openxmlformats.org/drawingml/2006/main">
            <a:off x="1104900" y="4705350"/>
            <a:ext cx="99822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rect">
            <a:extLst xmlns:a="http://schemas.openxmlformats.org/drawingml/2006/main">
              <a:ext uri="{FF2B5EF4-FFF2-40B4-BE49-F238E27FC236}">
                <a16:creationId xmlns:a16="http://schemas.microsoft.com/office/drawing/2014/main" id="{7BAF8458-8DEE-40F0-9099-0145CEDFDA78}"/>
              </a:ext>
            </a:extLst>
          </p:cNvPr>
          <p:cNvSpPr>
            <a:spLocks xmlns:a="http://schemas.openxmlformats.org/drawingml/2006/main" noGrp="1"/>
          </p:cNvSpPr>
          <p:nvPr/>
        </p:nvSpPr>
        <p:spPr>
          <a:xfrm xmlns:a="http://schemas.openxmlformats.org/drawingml/2006/main">
            <a:off x="1352550" y="4876800"/>
            <a:ext cx="495300" cy="3429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DBF70E65-4F2D-4018-AACF-D8F86D0D9A38}"/>
              </a:ext>
            </a:extLst>
          </p:cNvPr>
          <p:cNvSpPr>
            <a:spLocks xmlns:a="http://schemas.openxmlformats.org/drawingml/2006/main" noGrp="1"/>
          </p:cNvSpPr>
          <p:nvPr/>
        </p:nvSpPr>
        <p:spPr>
          <a:xfrm xmlns:a="http://schemas.openxmlformats.org/drawingml/2006/main">
            <a:off x="1352550" y="4962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Consolas"/>
                <a:ea typeface="Consolas"/>
                <a:cs typeface="Consolas"/>
              </a:defRPr>
            </a:pPr>
            <a:r>
              <a:rPr sz="975" b="1">
                <a:solidFill>
                  <a:srgbClr val="FFFFFF"/>
                </a:solidFill>
                <a:latin typeface="Consolas"/>
                <a:ea typeface="Consolas"/>
                <a:cs typeface="Consolas"/>
              </a:rPr>
              <a:t>4.</a:t>
            </a:r>
          </a:p>
        </p:txBody>
      </p:sp>
      <p:sp>
        <p:nvSpPr>
          <p:cNvPr id="24" name="text">
            <a:extLst xmlns:a="http://schemas.openxmlformats.org/drawingml/2006/main">
              <a:ext uri="{FF2B5EF4-FFF2-40B4-BE49-F238E27FC236}">
                <a16:creationId xmlns:a16="http://schemas.microsoft.com/office/drawing/2014/main" id="{391E2A87-617D-428D-9AF8-38D445854828}"/>
              </a:ext>
            </a:extLst>
          </p:cNvPr>
          <p:cNvSpPr>
            <a:spLocks xmlns:a="http://schemas.openxmlformats.org/drawingml/2006/main" noGrp="1"/>
          </p:cNvSpPr>
          <p:nvPr/>
        </p:nvSpPr>
        <p:spPr>
          <a:xfrm xmlns:a="http://schemas.openxmlformats.org/drawingml/2006/main">
            <a:off x="2152650" y="4838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81B2D"/>
                </a:solidFill>
                <a:latin typeface="Aptos"/>
                <a:ea typeface="Aptos"/>
                <a:cs typeface="Aptos"/>
              </a:defRPr>
            </a:pPr>
            <a:r>
              <a:rPr sz="1725" b="1">
                <a:solidFill>
                  <a:srgbClr val="081B2D"/>
                </a:solidFill>
                <a:latin typeface="Aptos"/>
                <a:ea typeface="Aptos"/>
                <a:cs typeface="Aptos"/>
              </a:rPr>
              <a:t>Conclusion</a:t>
            </a:r>
          </a:p>
        </p:txBody>
      </p:sp>
      <p:sp>
        <p:nvSpPr>
          <p:cNvPr id="25" name="text">
            <a:extLst xmlns:a="http://schemas.openxmlformats.org/drawingml/2006/main">
              <a:ext uri="{FF2B5EF4-FFF2-40B4-BE49-F238E27FC236}">
                <a16:creationId xmlns:a16="http://schemas.microsoft.com/office/drawing/2014/main" id="{3BB01232-8B60-407C-9333-19F4D76CCC7C}"/>
              </a:ext>
            </a:extLst>
          </p:cNvPr>
          <p:cNvSpPr>
            <a:spLocks xmlns:a="http://schemas.openxmlformats.org/drawingml/2006/main" noGrp="1"/>
          </p:cNvSpPr>
          <p:nvPr/>
        </p:nvSpPr>
        <p:spPr>
          <a:xfrm xmlns:a="http://schemas.openxmlformats.org/drawingml/2006/main">
            <a:off x="5810250" y="48291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Difficultés</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Perspectives</a:t>
            </a:r>
          </a:p>
        </p:txBody>
      </p:sp>
      <p:sp>
        <p:nvSpPr>
          <p:cNvPr id="26" name="text">
            <a:extLst xmlns:a="http://schemas.openxmlformats.org/drawingml/2006/main">
              <a:ext uri="{FF2B5EF4-FFF2-40B4-BE49-F238E27FC236}">
                <a16:creationId xmlns:a16="http://schemas.microsoft.com/office/drawing/2014/main" id="{68D00C64-6176-46EA-9535-C327EFAF8287}"/>
              </a:ext>
            </a:extLst>
          </p:cNvPr>
          <p:cNvSpPr>
            <a:spLocks xmlns:a="http://schemas.openxmlformats.org/drawingml/2006/main" noGrp="1"/>
          </p:cNvSpPr>
          <p:nvPr/>
        </p:nvSpPr>
        <p:spPr>
          <a:xfrm xmlns:a="http://schemas.openxmlformats.org/drawingml/2006/main">
            <a:off x="1428750" y="592455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00" b="1">
                <a:solidFill>
                  <a:srgbClr val="081B2D"/>
                </a:solidFill>
                <a:latin typeface="Aptos"/>
                <a:ea typeface="Aptos"/>
                <a:cs typeface="Aptos"/>
              </a:defRPr>
            </a:pPr>
            <a:r>
              <a:rPr sz="1500" b="1">
                <a:solidFill>
                  <a:srgbClr val="081B2D"/>
                </a:solidFill>
                <a:latin typeface="Aptos"/>
                <a:ea typeface="Aptos"/>
                <a:cs typeface="Aptos"/>
              </a:rPr>
              <a:t>Fil conducteur : présenter le cadre, expliquer le besoin, détailler la solution, puis conclure sur les apports du stage.</a:t>
            </a:r>
          </a:p>
        </p:txBody>
      </p:sp>
    </p:spTree>
    <p:extLst>
      <p:ext uri="{BB962C8B-B14F-4D97-AF65-F5344CB8AC3E}">
        <p14:creationId xmlns:p14="http://schemas.microsoft.com/office/powerpoint/2010/main" val="982928173"/>
      </p:ext>
    </p:extLst>
  </p:cSld>
</p:sld>
</file>

<file path=ppt/slides/slide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37DFFD36-6243-4C3E-8470-E82876C67FB6}"/>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Présentation de X-FAB</a:t>
            </a:r>
          </a:p>
        </p:txBody>
      </p:sp>
      <p:sp>
        <p:nvSpPr>
          <p:cNvPr id="2" name="slide-number">
            <a:extLst xmlns:a="http://schemas.openxmlformats.org/drawingml/2006/main">
              <a:ext uri="{FF2B5EF4-FFF2-40B4-BE49-F238E27FC236}">
                <a16:creationId xmlns:a16="http://schemas.microsoft.com/office/drawing/2014/main" id="{27577873-35C0-4790-8F69-77C6C20AF5DD}"/>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03</a:t>
            </a:r>
          </a:p>
        </p:txBody>
      </p:sp>
      <p:sp>
        <p:nvSpPr>
          <p:cNvPr id="3" name="kicker">
            <a:extLst xmlns:a="http://schemas.openxmlformats.org/drawingml/2006/main">
              <a:ext uri="{FF2B5EF4-FFF2-40B4-BE49-F238E27FC236}">
                <a16:creationId xmlns:a16="http://schemas.microsoft.com/office/drawing/2014/main" id="{C1CF0E45-DE73-4D17-927D-EBB6D8AF59DD}"/>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6884CAA7-7500-4199-BC11-6CEFD48C4E97}"/>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AC5FC9A4-C647-4748-A402-0B8DE666D27F}"/>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506947F5-9F64-4987-93FA-16E4BDC3EF0B}"/>
              </a:ext>
            </a:extLst>
          </p:cNvPr>
          <p:cNvSpPr>
            <a:spLocks xmlns:a="http://schemas.openxmlformats.org/drawingml/2006/main" noGrp="1"/>
          </p:cNvSpPr>
          <p:nvPr/>
        </p:nvSpPr>
        <p:spPr>
          <a:xfrm xmlns:a="http://schemas.openxmlformats.org/drawingml/2006/main">
            <a:off x="723900" y="1562100"/>
            <a:ext cx="2524125"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D51C175D-BF54-4474-A983-99BD4A1938B2}"/>
              </a:ext>
            </a:extLst>
          </p:cNvPr>
          <p:cNvSpPr>
            <a:spLocks xmlns:a="http://schemas.openxmlformats.org/drawingml/2006/main" noGrp="1"/>
          </p:cNvSpPr>
          <p:nvPr/>
        </p:nvSpPr>
        <p:spPr>
          <a:xfrm xmlns:a="http://schemas.openxmlformats.org/drawingml/2006/main">
            <a:off x="723900" y="1562100"/>
            <a:ext cx="66675" cy="13525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FC9D12BC-CD59-4D8D-A5F2-2C9ACC46292F}"/>
              </a:ext>
            </a:extLst>
          </p:cNvPr>
          <p:cNvSpPr>
            <a:spLocks xmlns:a="http://schemas.openxmlformats.org/drawingml/2006/main" noGrp="1"/>
          </p:cNvSpPr>
          <p:nvPr/>
        </p:nvSpPr>
        <p:spPr>
          <a:xfrm xmlns:a="http://schemas.openxmlformats.org/drawingml/2006/main">
            <a:off x="933450" y="1752600"/>
            <a:ext cx="2124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X-FAB en bref</a:t>
            </a:r>
          </a:p>
        </p:txBody>
      </p:sp>
      <p:sp>
        <p:nvSpPr>
          <p:cNvPr id="9" name="text">
            <a:extLst xmlns:a="http://schemas.openxmlformats.org/drawingml/2006/main">
              <a:ext uri="{FF2B5EF4-FFF2-40B4-BE49-F238E27FC236}">
                <a16:creationId xmlns:a16="http://schemas.microsoft.com/office/drawing/2014/main" id="{38483F8D-62D6-4AE7-98A2-59D10BE43356}"/>
              </a:ext>
            </a:extLst>
          </p:cNvPr>
          <p:cNvSpPr>
            <a:spLocks xmlns:a="http://schemas.openxmlformats.org/drawingml/2006/main" noGrp="1"/>
          </p:cNvSpPr>
          <p:nvPr/>
        </p:nvSpPr>
        <p:spPr>
          <a:xfrm xmlns:a="http://schemas.openxmlformats.org/drawingml/2006/main">
            <a:off x="933450" y="2133600"/>
            <a:ext cx="2124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Fonderie spécialisée dans les semi-conducteurs analogiques, mixed-signal et MEMS.</a:t>
            </a:r>
          </a:p>
        </p:txBody>
      </p:sp>
      <p:sp>
        <p:nvSpPr>
          <p:cNvPr id="10" name="rect">
            <a:extLst xmlns:a="http://schemas.openxmlformats.org/drawingml/2006/main">
              <a:ext uri="{FF2B5EF4-FFF2-40B4-BE49-F238E27FC236}">
                <a16:creationId xmlns:a16="http://schemas.microsoft.com/office/drawing/2014/main" id="{0A133086-AAF8-4D36-A6D8-29A3CF89C5A6}"/>
              </a:ext>
            </a:extLst>
          </p:cNvPr>
          <p:cNvSpPr>
            <a:spLocks xmlns:a="http://schemas.openxmlformats.org/drawingml/2006/main" noGrp="1"/>
          </p:cNvSpPr>
          <p:nvPr/>
        </p:nvSpPr>
        <p:spPr>
          <a:xfrm xmlns:a="http://schemas.openxmlformats.org/drawingml/2006/main">
            <a:off x="3562350" y="1562100"/>
            <a:ext cx="2238375"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532FEAB2-7056-4DD5-A78A-68FA1F97C248}"/>
              </a:ext>
            </a:extLst>
          </p:cNvPr>
          <p:cNvSpPr>
            <a:spLocks xmlns:a="http://schemas.openxmlformats.org/drawingml/2006/main" noGrp="1"/>
          </p:cNvSpPr>
          <p:nvPr/>
        </p:nvSpPr>
        <p:spPr>
          <a:xfrm xmlns:a="http://schemas.openxmlformats.org/drawingml/2006/main">
            <a:off x="3562350" y="1562100"/>
            <a:ext cx="66675" cy="13525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0175B23F-9597-44F6-AEB7-40ADB53D350E}"/>
              </a:ext>
            </a:extLst>
          </p:cNvPr>
          <p:cNvSpPr>
            <a:spLocks xmlns:a="http://schemas.openxmlformats.org/drawingml/2006/main" noGrp="1"/>
          </p:cNvSpPr>
          <p:nvPr/>
        </p:nvSpPr>
        <p:spPr>
          <a:xfrm xmlns:a="http://schemas.openxmlformats.org/drawingml/2006/main">
            <a:off x="3771900" y="1752600"/>
            <a:ext cx="18383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Chiffres clés</a:t>
            </a:r>
          </a:p>
        </p:txBody>
      </p:sp>
      <p:sp>
        <p:nvSpPr>
          <p:cNvPr id="13" name="text">
            <a:extLst xmlns:a="http://schemas.openxmlformats.org/drawingml/2006/main">
              <a:ext uri="{FF2B5EF4-FFF2-40B4-BE49-F238E27FC236}">
                <a16:creationId xmlns:a16="http://schemas.microsoft.com/office/drawing/2014/main" id="{AC98C094-8EDD-4F08-9A8B-A3C4AA17600C}"/>
              </a:ext>
            </a:extLst>
          </p:cNvPr>
          <p:cNvSpPr>
            <a:spLocks xmlns:a="http://schemas.openxmlformats.org/drawingml/2006/main" noGrp="1"/>
          </p:cNvSpPr>
          <p:nvPr/>
        </p:nvSpPr>
        <p:spPr>
          <a:xfrm xmlns:a="http://schemas.openxmlformats.org/drawingml/2006/main">
            <a:off x="3771900" y="2133600"/>
            <a:ext cx="1838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6 sites de production</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environ 4 300 collaborateurs</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plus de 30 ans d'expérience</a:t>
            </a:r>
          </a:p>
        </p:txBody>
      </p:sp>
      <p:sp>
        <p:nvSpPr>
          <p:cNvPr id="14" name="rect">
            <a:extLst xmlns:a="http://schemas.openxmlformats.org/drawingml/2006/main">
              <a:ext uri="{FF2B5EF4-FFF2-40B4-BE49-F238E27FC236}">
                <a16:creationId xmlns:a16="http://schemas.microsoft.com/office/drawing/2014/main" id="{4B9B811D-3A6B-4AD2-AE82-399A2C6400E1}"/>
              </a:ext>
            </a:extLst>
          </p:cNvPr>
          <p:cNvSpPr>
            <a:spLocks xmlns:a="http://schemas.openxmlformats.org/drawingml/2006/main" noGrp="1"/>
          </p:cNvSpPr>
          <p:nvPr/>
        </p:nvSpPr>
        <p:spPr>
          <a:xfrm xmlns:a="http://schemas.openxmlformats.org/drawingml/2006/main">
            <a:off x="6115050" y="1562100"/>
            <a:ext cx="2428875"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
            <a:extLst xmlns:a="http://schemas.openxmlformats.org/drawingml/2006/main">
              <a:ext uri="{FF2B5EF4-FFF2-40B4-BE49-F238E27FC236}">
                <a16:creationId xmlns:a16="http://schemas.microsoft.com/office/drawing/2014/main" id="{CC31A150-91CB-4BB7-9AA0-B5AB9240A924}"/>
              </a:ext>
            </a:extLst>
          </p:cNvPr>
          <p:cNvSpPr>
            <a:spLocks xmlns:a="http://schemas.openxmlformats.org/drawingml/2006/main" noGrp="1"/>
          </p:cNvSpPr>
          <p:nvPr/>
        </p:nvSpPr>
        <p:spPr>
          <a:xfrm xmlns:a="http://schemas.openxmlformats.org/drawingml/2006/main">
            <a:off x="6115050" y="1562100"/>
            <a:ext cx="66675" cy="13525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0E7BAB76-E88A-49D5-B14C-1D8FC9396173}"/>
              </a:ext>
            </a:extLst>
          </p:cNvPr>
          <p:cNvSpPr>
            <a:spLocks xmlns:a="http://schemas.openxmlformats.org/drawingml/2006/main" noGrp="1"/>
          </p:cNvSpPr>
          <p:nvPr/>
        </p:nvSpPr>
        <p:spPr>
          <a:xfrm xmlns:a="http://schemas.openxmlformats.org/drawingml/2006/main">
            <a:off x="6324600" y="1752600"/>
            <a:ext cx="2028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Marchés</a:t>
            </a:r>
          </a:p>
        </p:txBody>
      </p:sp>
      <p:sp>
        <p:nvSpPr>
          <p:cNvPr id="17" name="text">
            <a:extLst xmlns:a="http://schemas.openxmlformats.org/drawingml/2006/main">
              <a:ext uri="{FF2B5EF4-FFF2-40B4-BE49-F238E27FC236}">
                <a16:creationId xmlns:a16="http://schemas.microsoft.com/office/drawing/2014/main" id="{64AF22F8-1964-4B7C-95EF-48F9FA719BB4}"/>
              </a:ext>
            </a:extLst>
          </p:cNvPr>
          <p:cNvSpPr>
            <a:spLocks xmlns:a="http://schemas.openxmlformats.org/drawingml/2006/main" noGrp="1"/>
          </p:cNvSpPr>
          <p:nvPr/>
        </p:nvSpPr>
        <p:spPr>
          <a:xfrm xmlns:a="http://schemas.openxmlformats.org/drawingml/2006/main">
            <a:off x="6324600" y="2133600"/>
            <a:ext cx="20288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Automobile</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Industrie</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Médical</a:t>
            </a:r>
          </a:p>
        </p:txBody>
      </p:sp>
      <p:sp>
        <p:nvSpPr>
          <p:cNvPr id="18" name="rect">
            <a:extLst xmlns:a="http://schemas.openxmlformats.org/drawingml/2006/main">
              <a:ext uri="{FF2B5EF4-FFF2-40B4-BE49-F238E27FC236}">
                <a16:creationId xmlns:a16="http://schemas.microsoft.com/office/drawing/2014/main" id="{C8362010-FB44-462F-924C-CF0C01693C87}"/>
              </a:ext>
            </a:extLst>
          </p:cNvPr>
          <p:cNvSpPr>
            <a:spLocks xmlns:a="http://schemas.openxmlformats.org/drawingml/2006/main" noGrp="1"/>
          </p:cNvSpPr>
          <p:nvPr/>
        </p:nvSpPr>
        <p:spPr>
          <a:xfrm xmlns:a="http://schemas.openxmlformats.org/drawingml/2006/main">
            <a:off x="8858250" y="1562100"/>
            <a:ext cx="23812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rect">
            <a:extLst xmlns:a="http://schemas.openxmlformats.org/drawingml/2006/main">
              <a:ext uri="{FF2B5EF4-FFF2-40B4-BE49-F238E27FC236}">
                <a16:creationId xmlns:a16="http://schemas.microsoft.com/office/drawing/2014/main" id="{D9E57F04-9D9D-4928-9843-C1ED1B5BB4E7}"/>
              </a:ext>
            </a:extLst>
          </p:cNvPr>
          <p:cNvSpPr>
            <a:spLocks xmlns:a="http://schemas.openxmlformats.org/drawingml/2006/main" noGrp="1"/>
          </p:cNvSpPr>
          <p:nvPr/>
        </p:nvSpPr>
        <p:spPr>
          <a:xfrm xmlns:a="http://schemas.openxmlformats.org/drawingml/2006/main">
            <a:off x="8858250" y="1562100"/>
            <a:ext cx="66675" cy="13525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20" name="text">
            <a:extLst xmlns:a="http://schemas.openxmlformats.org/drawingml/2006/main">
              <a:ext uri="{FF2B5EF4-FFF2-40B4-BE49-F238E27FC236}">
                <a16:creationId xmlns:a16="http://schemas.microsoft.com/office/drawing/2014/main" id="{D8C0EBB2-05DB-40AC-AA8A-4C6D2147D066}"/>
              </a:ext>
            </a:extLst>
          </p:cNvPr>
          <p:cNvSpPr>
            <a:spLocks xmlns:a="http://schemas.openxmlformats.org/drawingml/2006/main" noGrp="1"/>
          </p:cNvSpPr>
          <p:nvPr/>
        </p:nvSpPr>
        <p:spPr>
          <a:xfrm xmlns:a="http://schemas.openxmlformats.org/drawingml/2006/main">
            <a:off x="9067800" y="175260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X-FAB France</a:t>
            </a:r>
          </a:p>
        </p:txBody>
      </p:sp>
      <p:sp>
        <p:nvSpPr>
          <p:cNvPr id="21" name="text">
            <a:extLst xmlns:a="http://schemas.openxmlformats.org/drawingml/2006/main">
              <a:ext uri="{FF2B5EF4-FFF2-40B4-BE49-F238E27FC236}">
                <a16:creationId xmlns:a16="http://schemas.microsoft.com/office/drawing/2014/main" id="{24BF0D82-3ECD-4B32-8047-B6F108D10162}"/>
              </a:ext>
            </a:extLst>
          </p:cNvPr>
          <p:cNvSpPr>
            <a:spLocks xmlns:a="http://schemas.openxmlformats.org/drawingml/2006/main" noGrp="1"/>
          </p:cNvSpPr>
          <p:nvPr/>
        </p:nvSpPr>
        <p:spPr>
          <a:xfrm xmlns:a="http://schemas.openxmlformats.org/drawingml/2006/main">
            <a:off x="9067800" y="2133600"/>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Site de Corbeil-Essonnes</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fabrication de wafers</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suivi du yield</a:t>
            </a:r>
          </a:p>
        </p:txBody>
      </p:sp>
      <p:sp>
        <p:nvSpPr>
          <p:cNvPr id="22" name="text">
            <a:extLst xmlns:a="http://schemas.openxmlformats.org/drawingml/2006/main">
              <a:ext uri="{FF2B5EF4-FFF2-40B4-BE49-F238E27FC236}">
                <a16:creationId xmlns:a16="http://schemas.microsoft.com/office/drawing/2014/main" id="{7BADB43B-E5AF-4E89-B3A5-1AA82F026325}"/>
              </a:ext>
            </a:extLst>
          </p:cNvPr>
          <p:cNvSpPr>
            <a:spLocks xmlns:a="http://schemas.openxmlformats.org/drawingml/2006/main" noGrp="1"/>
          </p:cNvSpPr>
          <p:nvPr/>
        </p:nvSpPr>
        <p:spPr>
          <a:xfrm xmlns:a="http://schemas.openxmlformats.org/drawingml/2006/main">
            <a:off x="723900" y="33718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Positionnement du stage</a:t>
            </a:r>
          </a:p>
        </p:txBody>
      </p:sp>
      <p:sp>
        <p:nvSpPr>
          <p:cNvPr id="23" name="rect">
            <a:extLst xmlns:a="http://schemas.openxmlformats.org/drawingml/2006/main">
              <a:ext uri="{FF2B5EF4-FFF2-40B4-BE49-F238E27FC236}">
                <a16:creationId xmlns:a16="http://schemas.microsoft.com/office/drawing/2014/main" id="{5D73B215-8CD9-406A-BE12-208FDD645987}"/>
              </a:ext>
            </a:extLst>
          </p:cNvPr>
          <p:cNvSpPr>
            <a:spLocks xmlns:a="http://schemas.openxmlformats.org/drawingml/2006/main" noGrp="1"/>
          </p:cNvSpPr>
          <p:nvPr/>
        </p:nvSpPr>
        <p:spPr>
          <a:xfrm xmlns:a="http://schemas.openxmlformats.org/drawingml/2006/main">
            <a:off x="781050" y="4019550"/>
            <a:ext cx="16764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0478">
            <a:solidFill>
              <a:srgbClr val="B8DDE5"/>
            </a:solidFill>
            <a:prstDash val="solid"/>
          </a:ln>
        </p:spPr>
      </p:sp>
      <p:sp>
        <p:nvSpPr>
          <p:cNvPr id="24" name="text">
            <a:extLst xmlns:a="http://schemas.openxmlformats.org/drawingml/2006/main">
              <a:ext uri="{FF2B5EF4-FFF2-40B4-BE49-F238E27FC236}">
                <a16:creationId xmlns:a16="http://schemas.microsoft.com/office/drawing/2014/main" id="{09D5192B-44BC-42E7-97E2-454E55C9A858}"/>
              </a:ext>
            </a:extLst>
          </p:cNvPr>
          <p:cNvSpPr>
            <a:spLocks xmlns:a="http://schemas.openxmlformats.org/drawingml/2006/main" noGrp="1"/>
          </p:cNvSpPr>
          <p:nvPr/>
        </p:nvSpPr>
        <p:spPr>
          <a:xfrm xmlns:a="http://schemas.openxmlformats.org/drawingml/2006/main">
            <a:off x="87630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81B2D"/>
                </a:solidFill>
                <a:latin typeface="Aptos"/>
                <a:ea typeface="Aptos"/>
                <a:cs typeface="Aptos"/>
              </a:defRPr>
            </a:pPr>
            <a:r>
              <a:rPr sz="1125" b="1">
                <a:solidFill>
                  <a:srgbClr val="081B2D"/>
                </a:solidFill>
                <a:latin typeface="Aptos"/>
                <a:ea typeface="Aptos"/>
                <a:cs typeface="Aptos"/>
              </a:rPr>
              <a:t>X-FAB France</a:t>
            </a:r>
          </a:p>
        </p:txBody>
      </p:sp>
      <p:sp>
        <p:nvSpPr>
          <p:cNvPr id="25" name="">
            <a:extLst xmlns:a="http://schemas.openxmlformats.org/drawingml/2006/main">
              <a:ext uri="{FF2B5EF4-FFF2-40B4-BE49-F238E27FC236}">
                <a16:creationId xmlns:a16="http://schemas.microsoft.com/office/drawing/2014/main" id="{5B1C7927-E226-473D-9CC7-A9503EF0F3A4}"/>
              </a:ext>
            </a:extLst>
          </p:cNvPr>
          <p:cNvSpPr>
            <a:spLocks xmlns:a="http://schemas.openxmlformats.org/drawingml/2006/main" noGrp="1"/>
          </p:cNvSpPr>
          <p:nvPr/>
        </p:nvSpPr>
        <p:spPr>
          <a:xfrm xmlns:a="http://schemas.openxmlformats.org/drawingml/2006/main">
            <a:off x="2476500" y="437197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6" name="rect">
            <a:extLst xmlns:a="http://schemas.openxmlformats.org/drawingml/2006/main">
              <a:ext uri="{FF2B5EF4-FFF2-40B4-BE49-F238E27FC236}">
                <a16:creationId xmlns:a16="http://schemas.microsoft.com/office/drawing/2014/main" id="{1B0309B4-2BD0-4788-9772-25A658EF7131}"/>
              </a:ext>
            </a:extLst>
          </p:cNvPr>
          <p:cNvSpPr>
            <a:spLocks xmlns:a="http://schemas.openxmlformats.org/drawingml/2006/main" noGrp="1"/>
          </p:cNvSpPr>
          <p:nvPr/>
        </p:nvSpPr>
        <p:spPr>
          <a:xfrm xmlns:a="http://schemas.openxmlformats.org/drawingml/2006/main">
            <a:off x="2933700" y="4019550"/>
            <a:ext cx="16764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0478">
            <a:solidFill>
              <a:srgbClr val="B8DDE5"/>
            </a:solidFill>
            <a:prstDash val="solid"/>
          </a:ln>
        </p:spPr>
      </p:sp>
      <p:sp>
        <p:nvSpPr>
          <p:cNvPr id="27" name="text">
            <a:extLst xmlns:a="http://schemas.openxmlformats.org/drawingml/2006/main">
              <a:ext uri="{FF2B5EF4-FFF2-40B4-BE49-F238E27FC236}">
                <a16:creationId xmlns:a16="http://schemas.microsoft.com/office/drawing/2014/main" id="{578F291E-E150-443B-BE6D-2A7B1B56E483}"/>
              </a:ext>
            </a:extLst>
          </p:cNvPr>
          <p:cNvSpPr>
            <a:spLocks xmlns:a="http://schemas.openxmlformats.org/drawingml/2006/main" noGrp="1"/>
          </p:cNvSpPr>
          <p:nvPr/>
        </p:nvSpPr>
        <p:spPr>
          <a:xfrm xmlns:a="http://schemas.openxmlformats.org/drawingml/2006/main">
            <a:off x="302895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81B2D"/>
                </a:solidFill>
                <a:latin typeface="Aptos"/>
                <a:ea typeface="Aptos"/>
                <a:cs typeface="Aptos"/>
              </a:defRPr>
            </a:pPr>
            <a:r>
              <a:rPr sz="1125" b="1">
                <a:solidFill>
                  <a:srgbClr val="081B2D"/>
                </a:solidFill>
                <a:latin typeface="Aptos"/>
                <a:ea typeface="Aptos"/>
                <a:cs typeface="Aptos"/>
              </a:rPr>
              <a:t>Yield Enhancement</a:t>
            </a:r>
          </a:p>
        </p:txBody>
      </p:sp>
      <p:sp>
        <p:nvSpPr>
          <p:cNvPr id="28" name="">
            <a:extLst xmlns:a="http://schemas.openxmlformats.org/drawingml/2006/main">
              <a:ext uri="{FF2B5EF4-FFF2-40B4-BE49-F238E27FC236}">
                <a16:creationId xmlns:a16="http://schemas.microsoft.com/office/drawing/2014/main" id="{FDF2F743-6904-460E-AD82-7C87E1C487BC}"/>
              </a:ext>
            </a:extLst>
          </p:cNvPr>
          <p:cNvSpPr>
            <a:spLocks xmlns:a="http://schemas.openxmlformats.org/drawingml/2006/main" noGrp="1"/>
          </p:cNvSpPr>
          <p:nvPr/>
        </p:nvSpPr>
        <p:spPr>
          <a:xfrm xmlns:a="http://schemas.openxmlformats.org/drawingml/2006/main">
            <a:off x="4629150" y="437197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9" name="rect">
            <a:extLst xmlns:a="http://schemas.openxmlformats.org/drawingml/2006/main">
              <a:ext uri="{FF2B5EF4-FFF2-40B4-BE49-F238E27FC236}">
                <a16:creationId xmlns:a16="http://schemas.microsoft.com/office/drawing/2014/main" id="{8E31E82C-3C24-4E94-B6FA-CAEA93732D6B}"/>
              </a:ext>
            </a:extLst>
          </p:cNvPr>
          <p:cNvSpPr>
            <a:spLocks xmlns:a="http://schemas.openxmlformats.org/drawingml/2006/main" noGrp="1"/>
          </p:cNvSpPr>
          <p:nvPr/>
        </p:nvSpPr>
        <p:spPr>
          <a:xfrm xmlns:a="http://schemas.openxmlformats.org/drawingml/2006/main">
            <a:off x="5086350" y="4019550"/>
            <a:ext cx="16764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0478">
            <a:solidFill>
              <a:srgbClr val="B8DDE5"/>
            </a:solidFill>
            <a:prstDash val="solid"/>
          </a:ln>
        </p:spPr>
      </p:sp>
      <p:sp>
        <p:nvSpPr>
          <p:cNvPr id="30" name="text">
            <a:extLst xmlns:a="http://schemas.openxmlformats.org/drawingml/2006/main">
              <a:ext uri="{FF2B5EF4-FFF2-40B4-BE49-F238E27FC236}">
                <a16:creationId xmlns:a16="http://schemas.microsoft.com/office/drawing/2014/main" id="{E97341F3-551E-4B14-8585-B96FE6B7E88B}"/>
              </a:ext>
            </a:extLst>
          </p:cNvPr>
          <p:cNvSpPr>
            <a:spLocks xmlns:a="http://schemas.openxmlformats.org/drawingml/2006/main" noGrp="1"/>
          </p:cNvSpPr>
          <p:nvPr/>
        </p:nvSpPr>
        <p:spPr>
          <a:xfrm xmlns:a="http://schemas.openxmlformats.org/drawingml/2006/main">
            <a:off x="518160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YE / PCM &amp; Digital Support</a:t>
            </a:r>
          </a:p>
        </p:txBody>
      </p:sp>
      <p:sp>
        <p:nvSpPr>
          <p:cNvPr id="31" name="">
            <a:extLst xmlns:a="http://schemas.openxmlformats.org/drawingml/2006/main">
              <a:ext uri="{FF2B5EF4-FFF2-40B4-BE49-F238E27FC236}">
                <a16:creationId xmlns:a16="http://schemas.microsoft.com/office/drawing/2014/main" id="{A07CBE7D-9DC1-4DC5-9712-D19AD822A9A2}"/>
              </a:ext>
            </a:extLst>
          </p:cNvPr>
          <p:cNvSpPr>
            <a:spLocks xmlns:a="http://schemas.openxmlformats.org/drawingml/2006/main" noGrp="1"/>
          </p:cNvSpPr>
          <p:nvPr/>
        </p:nvSpPr>
        <p:spPr>
          <a:xfrm xmlns:a="http://schemas.openxmlformats.org/drawingml/2006/main">
            <a:off x="6781800" y="437197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2" name="rect">
            <a:extLst xmlns:a="http://schemas.openxmlformats.org/drawingml/2006/main">
              <a:ext uri="{FF2B5EF4-FFF2-40B4-BE49-F238E27FC236}">
                <a16:creationId xmlns:a16="http://schemas.microsoft.com/office/drawing/2014/main" id="{81093810-DBF2-4B32-8022-CA5953399178}"/>
              </a:ext>
            </a:extLst>
          </p:cNvPr>
          <p:cNvSpPr>
            <a:spLocks xmlns:a="http://schemas.openxmlformats.org/drawingml/2006/main" noGrp="1"/>
          </p:cNvSpPr>
          <p:nvPr/>
        </p:nvSpPr>
        <p:spPr>
          <a:xfrm xmlns:a="http://schemas.openxmlformats.org/drawingml/2006/main">
            <a:off x="7239000" y="4019550"/>
            <a:ext cx="16764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0478">
            <a:solidFill>
              <a:srgbClr val="B8DDE5"/>
            </a:solidFill>
            <a:prstDash val="solid"/>
          </a:ln>
        </p:spPr>
      </p:sp>
      <p:sp>
        <p:nvSpPr>
          <p:cNvPr id="33" name="text">
            <a:extLst xmlns:a="http://schemas.openxmlformats.org/drawingml/2006/main">
              <a:ext uri="{FF2B5EF4-FFF2-40B4-BE49-F238E27FC236}">
                <a16:creationId xmlns:a16="http://schemas.microsoft.com/office/drawing/2014/main" id="{EADE3BC9-8EF5-44A3-899E-EC48803D09B1}"/>
              </a:ext>
            </a:extLst>
          </p:cNvPr>
          <p:cNvSpPr>
            <a:spLocks xmlns:a="http://schemas.openxmlformats.org/drawingml/2006/main" noGrp="1"/>
          </p:cNvSpPr>
          <p:nvPr/>
        </p:nvSpPr>
        <p:spPr>
          <a:xfrm xmlns:a="http://schemas.openxmlformats.org/drawingml/2006/main">
            <a:off x="733425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81B2D"/>
                </a:solidFill>
                <a:latin typeface="Aptos"/>
                <a:ea typeface="Aptos"/>
                <a:cs typeface="Aptos"/>
              </a:defRPr>
            </a:pPr>
            <a:r>
              <a:rPr sz="1125" b="1">
                <a:solidFill>
                  <a:srgbClr val="081B2D"/>
                </a:solidFill>
                <a:latin typeface="Aptos"/>
                <a:ea typeface="Aptos"/>
                <a:cs typeface="Aptos"/>
              </a:rPr>
              <a:t>YE Digital Support</a:t>
            </a:r>
          </a:p>
        </p:txBody>
      </p:sp>
      <p:sp>
        <p:nvSpPr>
          <p:cNvPr id="34" name="">
            <a:extLst xmlns:a="http://schemas.openxmlformats.org/drawingml/2006/main">
              <a:ext uri="{FF2B5EF4-FFF2-40B4-BE49-F238E27FC236}">
                <a16:creationId xmlns:a16="http://schemas.microsoft.com/office/drawing/2014/main" id="{E0695BF3-2846-462A-9CE8-AE32EB662CE1}"/>
              </a:ext>
            </a:extLst>
          </p:cNvPr>
          <p:cNvSpPr>
            <a:spLocks xmlns:a="http://schemas.openxmlformats.org/drawingml/2006/main" noGrp="1"/>
          </p:cNvSpPr>
          <p:nvPr/>
        </p:nvSpPr>
        <p:spPr>
          <a:xfrm xmlns:a="http://schemas.openxmlformats.org/drawingml/2006/main">
            <a:off x="8934450" y="437197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5" name="rect">
            <a:extLst xmlns:a="http://schemas.openxmlformats.org/drawingml/2006/main">
              <a:ext uri="{FF2B5EF4-FFF2-40B4-BE49-F238E27FC236}">
                <a16:creationId xmlns:a16="http://schemas.microsoft.com/office/drawing/2014/main" id="{67DC4E2A-5F1B-42B1-91A7-2C0D07499FBC}"/>
              </a:ext>
            </a:extLst>
          </p:cNvPr>
          <p:cNvSpPr>
            <a:spLocks xmlns:a="http://schemas.openxmlformats.org/drawingml/2006/main" noGrp="1"/>
          </p:cNvSpPr>
          <p:nvPr/>
        </p:nvSpPr>
        <p:spPr>
          <a:xfrm xmlns:a="http://schemas.openxmlformats.org/drawingml/2006/main">
            <a:off x="9391650" y="4019550"/>
            <a:ext cx="1676400" cy="704850"/>
          </a:xfrm>
          <a:prstGeom xmlns:a="http://schemas.openxmlformats.org/drawingml/2006/main" prst="roundRect">
            <a:avLst>
              <a:gd name="adj" fmla="val 16216"/>
            </a:avLst>
          </a:prstGeom>
          <a:solidFill xmlns:a="http://schemas.openxmlformats.org/drawingml/2006/main">
            <a:srgbClr val="0B8FBD"/>
          </a:solidFill>
          <a:ln xmlns:a="http://schemas.openxmlformats.org/drawingml/2006/main" w="10478">
            <a:solidFill>
              <a:srgbClr val="B8DDE5"/>
            </a:solidFill>
            <a:prstDash val="solid"/>
          </a:ln>
        </p:spPr>
      </p:sp>
      <p:sp>
        <p:nvSpPr>
          <p:cNvPr id="36" name="text">
            <a:extLst xmlns:a="http://schemas.openxmlformats.org/drawingml/2006/main">
              <a:ext uri="{FF2B5EF4-FFF2-40B4-BE49-F238E27FC236}">
                <a16:creationId xmlns:a16="http://schemas.microsoft.com/office/drawing/2014/main" id="{B1287D97-9985-4347-AFC4-EF621930961B}"/>
              </a:ext>
            </a:extLst>
          </p:cNvPr>
          <p:cNvSpPr>
            <a:spLocks xmlns:a="http://schemas.openxmlformats.org/drawingml/2006/main" noGrp="1"/>
          </p:cNvSpPr>
          <p:nvPr/>
        </p:nvSpPr>
        <p:spPr>
          <a:xfrm xmlns:a="http://schemas.openxmlformats.org/drawingml/2006/main">
            <a:off x="948690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Stage Data Engineering</a:t>
            </a:r>
          </a:p>
        </p:txBody>
      </p:sp>
      <p:sp>
        <p:nvSpPr>
          <p:cNvPr id="37" name="text">
            <a:extLst xmlns:a="http://schemas.openxmlformats.org/drawingml/2006/main">
              <a:ext uri="{FF2B5EF4-FFF2-40B4-BE49-F238E27FC236}">
                <a16:creationId xmlns:a16="http://schemas.microsoft.com/office/drawing/2014/main" id="{ECE7F1CD-6C08-4973-B661-FCAD7C592EE9}"/>
              </a:ext>
            </a:extLst>
          </p:cNvPr>
          <p:cNvSpPr>
            <a:spLocks xmlns:a="http://schemas.openxmlformats.org/drawingml/2006/main" noGrp="1"/>
          </p:cNvSpPr>
          <p:nvPr/>
        </p:nvSpPr>
        <p:spPr>
          <a:xfrm xmlns:a="http://schemas.openxmlformats.org/drawingml/2006/main">
            <a:off x="1714500" y="521970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00" b="0">
                <a:solidFill>
                  <a:srgbClr val="506274"/>
                </a:solidFill>
                <a:latin typeface="Aptos"/>
                <a:ea typeface="Aptos"/>
                <a:cs typeface="Aptos"/>
              </a:defRPr>
            </a:pPr>
            <a:r>
              <a:rPr sz="1500" b="0">
                <a:solidFill>
                  <a:srgbClr val="506274"/>
                </a:solidFill>
                <a:latin typeface="Aptos"/>
                <a:ea typeface="Aptos"/>
                <a:cs typeface="Aptos"/>
              </a:rPr>
              <a:t>Équipe d'accueil : développement de solutions numériques, automatisation des traitements et mise à disposition des données pour les équipes métier.</a:t>
            </a:r>
          </a:p>
        </p:txBody>
      </p:sp>
    </p:spTree>
    <p:extLst>
      <p:ext uri="{BB962C8B-B14F-4D97-AF65-F5344CB8AC3E}">
        <p14:creationId xmlns:p14="http://schemas.microsoft.com/office/powerpoint/2010/main" val="1222871723"/>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750E1969-74F2-4DB6-A610-3AC93DAE8425}"/>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Yield Enhancement : qualité et rendement</a:t>
            </a:r>
          </a:p>
        </p:txBody>
      </p:sp>
      <p:sp>
        <p:nvSpPr>
          <p:cNvPr id="2" name="slide-number">
            <a:extLst xmlns:a="http://schemas.openxmlformats.org/drawingml/2006/main">
              <a:ext uri="{FF2B5EF4-FFF2-40B4-BE49-F238E27FC236}">
                <a16:creationId xmlns:a16="http://schemas.microsoft.com/office/drawing/2014/main" id="{F6DBC019-B7F6-4621-AE29-8CD7E4BBC35A}"/>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04</a:t>
            </a:r>
          </a:p>
        </p:txBody>
      </p:sp>
      <p:sp>
        <p:nvSpPr>
          <p:cNvPr id="3" name="kicker">
            <a:extLst xmlns:a="http://schemas.openxmlformats.org/drawingml/2006/main">
              <a:ext uri="{FF2B5EF4-FFF2-40B4-BE49-F238E27FC236}">
                <a16:creationId xmlns:a16="http://schemas.microsoft.com/office/drawing/2014/main" id="{6B155B16-0F97-482C-81E1-2D6806631DC6}"/>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8BC0471E-F5D3-4535-ACBA-595CA852163C}"/>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5EEDEF70-1EAC-4D44-8901-8EC57CC3F436}"/>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text">
            <a:extLst xmlns:a="http://schemas.openxmlformats.org/drawingml/2006/main">
              <a:ext uri="{FF2B5EF4-FFF2-40B4-BE49-F238E27FC236}">
                <a16:creationId xmlns:a16="http://schemas.microsoft.com/office/drawing/2014/main" id="{BF490116-F8DA-4588-8367-7185B074B525}"/>
              </a:ext>
            </a:extLst>
          </p:cNvPr>
          <p:cNvSpPr>
            <a:spLocks xmlns:a="http://schemas.openxmlformats.org/drawingml/2006/main" noGrp="1"/>
          </p:cNvSpPr>
          <p:nvPr/>
        </p:nvSpPr>
        <p:spPr>
          <a:xfrm xmlns:a="http://schemas.openxmlformats.org/drawingml/2006/main">
            <a:off x="1104900" y="1524000"/>
            <a:ext cx="998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250" b="1">
                <a:solidFill>
                  <a:srgbClr val="081B2D"/>
                </a:solidFill>
                <a:latin typeface="Aptos"/>
                <a:ea typeface="Aptos"/>
                <a:cs typeface="Aptos"/>
              </a:defRPr>
            </a:pPr>
            <a:r>
              <a:rPr sz="2250" b="1">
                <a:solidFill>
                  <a:srgbClr val="081B2D"/>
                </a:solidFill>
                <a:latin typeface="Aptos"/>
                <a:ea typeface="Aptos"/>
                <a:cs typeface="Aptos"/>
              </a:rPr>
              <a:t>La qualité du wafer a un impact direct sur le rendement de production.</a:t>
            </a:r>
          </a:p>
        </p:txBody>
      </p:sp>
      <p:sp>
        <p:nvSpPr>
          <p:cNvPr id="7" name="rect">
            <a:extLst xmlns:a="http://schemas.openxmlformats.org/drawingml/2006/main">
              <a:ext uri="{FF2B5EF4-FFF2-40B4-BE49-F238E27FC236}">
                <a16:creationId xmlns:a16="http://schemas.microsoft.com/office/drawing/2014/main" id="{997993A3-9632-41DC-9A9F-FB8134E7C28E}"/>
              </a:ext>
            </a:extLst>
          </p:cNvPr>
          <p:cNvSpPr>
            <a:spLocks xmlns:a="http://schemas.openxmlformats.org/drawingml/2006/main" noGrp="1"/>
          </p:cNvSpPr>
          <p:nvPr/>
        </p:nvSpPr>
        <p:spPr>
          <a:xfrm xmlns:a="http://schemas.openxmlformats.org/drawingml/2006/main">
            <a:off x="819150" y="2266950"/>
            <a:ext cx="3143250" cy="22098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rect">
            <a:extLst xmlns:a="http://schemas.openxmlformats.org/drawingml/2006/main">
              <a:ext uri="{FF2B5EF4-FFF2-40B4-BE49-F238E27FC236}">
                <a16:creationId xmlns:a16="http://schemas.microsoft.com/office/drawing/2014/main" id="{A6E67591-D3DE-4446-9971-49F865032E9C}"/>
              </a:ext>
            </a:extLst>
          </p:cNvPr>
          <p:cNvSpPr>
            <a:spLocks xmlns:a="http://schemas.openxmlformats.org/drawingml/2006/main" noGrp="1"/>
          </p:cNvSpPr>
          <p:nvPr/>
        </p:nvSpPr>
        <p:spPr>
          <a:xfrm xmlns:a="http://schemas.openxmlformats.org/drawingml/2006/main">
            <a:off x="819150" y="2266950"/>
            <a:ext cx="66675" cy="22098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9CE74002-C02C-43C8-8DF1-BDC38ACBF58A}"/>
              </a:ext>
            </a:extLst>
          </p:cNvPr>
          <p:cNvSpPr>
            <a:spLocks xmlns:a="http://schemas.openxmlformats.org/drawingml/2006/main" noGrp="1"/>
          </p:cNvSpPr>
          <p:nvPr/>
        </p:nvSpPr>
        <p:spPr>
          <a:xfrm xmlns:a="http://schemas.openxmlformats.org/drawingml/2006/main">
            <a:off x="1028700" y="245745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Wafer et dies</a:t>
            </a:r>
          </a:p>
        </p:txBody>
      </p:sp>
      <p:sp>
        <p:nvSpPr>
          <p:cNvPr id="10" name="text">
            <a:extLst xmlns:a="http://schemas.openxmlformats.org/drawingml/2006/main">
              <a:ext uri="{FF2B5EF4-FFF2-40B4-BE49-F238E27FC236}">
                <a16:creationId xmlns:a16="http://schemas.microsoft.com/office/drawing/2014/main" id="{59B9D12B-B9A4-477C-9F5F-46194B6E7472}"/>
              </a:ext>
            </a:extLst>
          </p:cNvPr>
          <p:cNvSpPr>
            <a:spLocks xmlns:a="http://schemas.openxmlformats.org/drawingml/2006/main" noGrp="1"/>
          </p:cNvSpPr>
          <p:nvPr/>
        </p:nvSpPr>
        <p:spPr>
          <a:xfrm xmlns:a="http://schemas.openxmlformats.org/drawingml/2006/main">
            <a:off x="1028700" y="2838450"/>
            <a:ext cx="27432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Un défaut pendant la fabrication peut toucher un grand nombre de dies et créer un impact économique important.</a:t>
            </a:r>
          </a:p>
        </p:txBody>
      </p:sp>
      <p:sp>
        <p:nvSpPr>
          <p:cNvPr id="11" name="rect">
            <a:extLst xmlns:a="http://schemas.openxmlformats.org/drawingml/2006/main">
              <a:ext uri="{FF2B5EF4-FFF2-40B4-BE49-F238E27FC236}">
                <a16:creationId xmlns:a16="http://schemas.microsoft.com/office/drawing/2014/main" id="{7F72C0C2-3C8F-4879-9663-B541139B49FC}"/>
              </a:ext>
            </a:extLst>
          </p:cNvPr>
          <p:cNvSpPr>
            <a:spLocks xmlns:a="http://schemas.openxmlformats.org/drawingml/2006/main" noGrp="1"/>
          </p:cNvSpPr>
          <p:nvPr/>
        </p:nvSpPr>
        <p:spPr>
          <a:xfrm xmlns:a="http://schemas.openxmlformats.org/drawingml/2006/main">
            <a:off x="4533900" y="2266950"/>
            <a:ext cx="3143250" cy="22098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rect">
            <a:extLst xmlns:a="http://schemas.openxmlformats.org/drawingml/2006/main">
              <a:ext uri="{FF2B5EF4-FFF2-40B4-BE49-F238E27FC236}">
                <a16:creationId xmlns:a16="http://schemas.microsoft.com/office/drawing/2014/main" id="{150EF6B5-3EF7-40CA-A814-2C6613986334}"/>
              </a:ext>
            </a:extLst>
          </p:cNvPr>
          <p:cNvSpPr>
            <a:spLocks xmlns:a="http://schemas.openxmlformats.org/drawingml/2006/main" noGrp="1"/>
          </p:cNvSpPr>
          <p:nvPr/>
        </p:nvSpPr>
        <p:spPr>
          <a:xfrm xmlns:a="http://schemas.openxmlformats.org/drawingml/2006/main">
            <a:off x="4533900" y="2266950"/>
            <a:ext cx="66675" cy="22098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1EB64545-8209-412D-9150-1332EE81C413}"/>
              </a:ext>
            </a:extLst>
          </p:cNvPr>
          <p:cNvSpPr>
            <a:spLocks xmlns:a="http://schemas.openxmlformats.org/drawingml/2006/main" noGrp="1"/>
          </p:cNvSpPr>
          <p:nvPr/>
        </p:nvSpPr>
        <p:spPr>
          <a:xfrm xmlns:a="http://schemas.openxmlformats.org/drawingml/2006/main">
            <a:off x="4743450" y="245745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Yield Enhancement</a:t>
            </a:r>
          </a:p>
        </p:txBody>
      </p:sp>
      <p:sp>
        <p:nvSpPr>
          <p:cNvPr id="14" name="text">
            <a:extLst xmlns:a="http://schemas.openxmlformats.org/drawingml/2006/main">
              <a:ext uri="{FF2B5EF4-FFF2-40B4-BE49-F238E27FC236}">
                <a16:creationId xmlns:a16="http://schemas.microsoft.com/office/drawing/2014/main" id="{4293B1C0-E73F-4F10-A4C1-81F700814576}"/>
              </a:ext>
            </a:extLst>
          </p:cNvPr>
          <p:cNvSpPr>
            <a:spLocks xmlns:a="http://schemas.openxmlformats.org/drawingml/2006/main" noGrp="1"/>
          </p:cNvSpPr>
          <p:nvPr/>
        </p:nvSpPr>
        <p:spPr>
          <a:xfrm xmlns:a="http://schemas.openxmlformats.org/drawingml/2006/main">
            <a:off x="4743450" y="2838450"/>
            <a:ext cx="27432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Le département suit et améliore le rendement : la proportion de dies conformes et fonctionnels.</a:t>
            </a:r>
          </a:p>
        </p:txBody>
      </p:sp>
      <p:sp>
        <p:nvSpPr>
          <p:cNvPr id="15" name="rect">
            <a:extLst xmlns:a="http://schemas.openxmlformats.org/drawingml/2006/main">
              <a:ext uri="{FF2B5EF4-FFF2-40B4-BE49-F238E27FC236}">
                <a16:creationId xmlns:a16="http://schemas.microsoft.com/office/drawing/2014/main" id="{1F3388A6-81C1-4F33-894B-723A4EFF44AE}"/>
              </a:ext>
            </a:extLst>
          </p:cNvPr>
          <p:cNvSpPr>
            <a:spLocks xmlns:a="http://schemas.openxmlformats.org/drawingml/2006/main" noGrp="1"/>
          </p:cNvSpPr>
          <p:nvPr/>
        </p:nvSpPr>
        <p:spPr>
          <a:xfrm xmlns:a="http://schemas.openxmlformats.org/drawingml/2006/main">
            <a:off x="8248650" y="2266950"/>
            <a:ext cx="3143250" cy="22098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rect">
            <a:extLst xmlns:a="http://schemas.openxmlformats.org/drawingml/2006/main">
              <a:ext uri="{FF2B5EF4-FFF2-40B4-BE49-F238E27FC236}">
                <a16:creationId xmlns:a16="http://schemas.microsoft.com/office/drawing/2014/main" id="{2043A786-D71F-4DB5-AE9F-3D5A488DD66C}"/>
              </a:ext>
            </a:extLst>
          </p:cNvPr>
          <p:cNvSpPr>
            <a:spLocks xmlns:a="http://schemas.openxmlformats.org/drawingml/2006/main" noGrp="1"/>
          </p:cNvSpPr>
          <p:nvPr/>
        </p:nvSpPr>
        <p:spPr>
          <a:xfrm xmlns:a="http://schemas.openxmlformats.org/drawingml/2006/main">
            <a:off x="8248650" y="2266950"/>
            <a:ext cx="66675" cy="22098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91FC1B3B-B325-4210-B71F-7201896D9B2D}"/>
              </a:ext>
            </a:extLst>
          </p:cNvPr>
          <p:cNvSpPr>
            <a:spLocks xmlns:a="http://schemas.openxmlformats.org/drawingml/2006/main" noGrp="1"/>
          </p:cNvSpPr>
          <p:nvPr/>
        </p:nvSpPr>
        <p:spPr>
          <a:xfrm xmlns:a="http://schemas.openxmlformats.org/drawingml/2006/main">
            <a:off x="8458200" y="245745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Analyse des données</a:t>
            </a:r>
          </a:p>
        </p:txBody>
      </p:sp>
      <p:sp>
        <p:nvSpPr>
          <p:cNvPr id="18" name="text">
            <a:extLst xmlns:a="http://schemas.openxmlformats.org/drawingml/2006/main">
              <a:ext uri="{FF2B5EF4-FFF2-40B4-BE49-F238E27FC236}">
                <a16:creationId xmlns:a16="http://schemas.microsoft.com/office/drawing/2014/main" id="{7C16536A-1801-408D-A3F7-EE8A560F1AEE}"/>
              </a:ext>
            </a:extLst>
          </p:cNvPr>
          <p:cNvSpPr>
            <a:spLocks xmlns:a="http://schemas.openxmlformats.org/drawingml/2006/main" noGrp="1"/>
          </p:cNvSpPr>
          <p:nvPr/>
        </p:nvSpPr>
        <p:spPr>
          <a:xfrm xmlns:a="http://schemas.openxmlformats.org/drawingml/2006/main">
            <a:off x="8458200" y="2838450"/>
            <a:ext cx="27432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Les données de fabrication aident à détecter les dérives, comprendre les défauts et améliorer la qualité.</a:t>
            </a:r>
          </a:p>
        </p:txBody>
      </p:sp>
      <p:sp>
        <p:nvSpPr>
          <p:cNvPr id="19" name="rect">
            <a:extLst xmlns:a="http://schemas.openxmlformats.org/drawingml/2006/main">
              <a:ext uri="{FF2B5EF4-FFF2-40B4-BE49-F238E27FC236}">
                <a16:creationId xmlns:a16="http://schemas.microsoft.com/office/drawing/2014/main" id="{2D39A6F6-D15F-4483-B2A3-6BAB2666BC6B}"/>
              </a:ext>
            </a:extLst>
          </p:cNvPr>
          <p:cNvSpPr>
            <a:spLocks xmlns:a="http://schemas.openxmlformats.org/drawingml/2006/main" noGrp="1"/>
          </p:cNvSpPr>
          <p:nvPr/>
        </p:nvSpPr>
        <p:spPr>
          <a:xfrm xmlns:a="http://schemas.openxmlformats.org/drawingml/2006/main">
            <a:off x="1657350" y="5219700"/>
            <a:ext cx="8877300" cy="647700"/>
          </a:xfrm>
          <a:prstGeom xmlns:a="http://schemas.openxmlformats.org/drawingml/2006/main" prst="roundRect">
            <a:avLst>
              <a:gd name="adj" fmla="val 26471"/>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text">
            <a:extLst xmlns:a="http://schemas.openxmlformats.org/drawingml/2006/main">
              <a:ext uri="{FF2B5EF4-FFF2-40B4-BE49-F238E27FC236}">
                <a16:creationId xmlns:a16="http://schemas.microsoft.com/office/drawing/2014/main" id="{7A96268C-ABE4-4C4C-BB83-EDFEDF5AE698}"/>
              </a:ext>
            </a:extLst>
          </p:cNvPr>
          <p:cNvSpPr>
            <a:spLocks xmlns:a="http://schemas.openxmlformats.org/drawingml/2006/main" noGrp="1"/>
          </p:cNvSpPr>
          <p:nvPr/>
        </p:nvSpPr>
        <p:spPr>
          <a:xfrm xmlns:a="http://schemas.openxmlformats.org/drawingml/2006/main">
            <a:off x="2095500" y="540067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Stage réalisé au sein du département Yield Enhancement, dans l'équipe YE Digital Support.</a:t>
            </a:r>
          </a:p>
        </p:txBody>
      </p:sp>
    </p:spTree>
    <p:extLst>
      <p:ext uri="{BB962C8B-B14F-4D97-AF65-F5344CB8AC3E}">
        <p14:creationId xmlns:p14="http://schemas.microsoft.com/office/powerpoint/2010/main" val="126851723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0015B056-2E8E-4D55-8596-F6BE774086D5}"/>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Contexte : des ETL R à moderniser</a:t>
            </a:r>
          </a:p>
        </p:txBody>
      </p:sp>
      <p:sp>
        <p:nvSpPr>
          <p:cNvPr id="2" name="slide-number">
            <a:extLst xmlns:a="http://schemas.openxmlformats.org/drawingml/2006/main">
              <a:ext uri="{FF2B5EF4-FFF2-40B4-BE49-F238E27FC236}">
                <a16:creationId xmlns:a16="http://schemas.microsoft.com/office/drawing/2014/main" id="{662C7F04-D719-4219-881A-3A44CD17B9F1}"/>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05</a:t>
            </a:r>
          </a:p>
        </p:txBody>
      </p:sp>
      <p:sp>
        <p:nvSpPr>
          <p:cNvPr id="3" name="kicker">
            <a:extLst xmlns:a="http://schemas.openxmlformats.org/drawingml/2006/main">
              <a:ext uri="{FF2B5EF4-FFF2-40B4-BE49-F238E27FC236}">
                <a16:creationId xmlns:a16="http://schemas.microsoft.com/office/drawing/2014/main" id="{16037730-75DD-43D4-86D9-A3F4E71FB9BD}"/>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F1A11F82-9DA1-4A6F-9AA1-53CF81C4B93F}"/>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30298439-F3C5-48B9-BF40-7DDA6F86936B}"/>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text">
            <a:extLst xmlns:a="http://schemas.openxmlformats.org/drawingml/2006/main">
              <a:ext uri="{FF2B5EF4-FFF2-40B4-BE49-F238E27FC236}">
                <a16:creationId xmlns:a16="http://schemas.microsoft.com/office/drawing/2014/main" id="{AEB5FCC6-9B10-42C4-8C77-27AF7C8887D8}"/>
              </a:ext>
            </a:extLst>
          </p:cNvPr>
          <p:cNvSpPr>
            <a:spLocks xmlns:a="http://schemas.openxmlformats.org/drawingml/2006/main" noGrp="1"/>
          </p:cNvSpPr>
          <p:nvPr/>
        </p:nvSpPr>
        <p:spPr>
          <a:xfrm xmlns:a="http://schemas.openxmlformats.org/drawingml/2006/main">
            <a:off x="857250" y="14859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B8FBD"/>
                </a:solidFill>
                <a:latin typeface="Aptos"/>
                <a:ea typeface="Aptos"/>
                <a:cs typeface="Aptos"/>
              </a:defRPr>
            </a:pPr>
            <a:r>
              <a:rPr sz="1800" b="1">
                <a:solidFill>
                  <a:srgbClr val="0B8FBD"/>
                </a:solidFill>
                <a:latin typeface="Aptos"/>
                <a:ea typeface="Aptos"/>
                <a:cs typeface="Aptos"/>
              </a:rPr>
              <a:t>À mon arrivée</a:t>
            </a:r>
          </a:p>
        </p:txBody>
      </p:sp>
      <p:sp>
        <p:nvSpPr>
          <p:cNvPr id="7" name="text">
            <a:extLst xmlns:a="http://schemas.openxmlformats.org/drawingml/2006/main">
              <a:ext uri="{FF2B5EF4-FFF2-40B4-BE49-F238E27FC236}">
                <a16:creationId xmlns:a16="http://schemas.microsoft.com/office/drawing/2014/main" id="{891EABE7-1EFD-4C04-8DD4-DA8CBA9ACAFD}"/>
              </a:ext>
            </a:extLst>
          </p:cNvPr>
          <p:cNvSpPr>
            <a:spLocks xmlns:a="http://schemas.openxmlformats.org/drawingml/2006/main" noGrp="1"/>
          </p:cNvSpPr>
          <p:nvPr/>
        </p:nvSpPr>
        <p:spPr>
          <a:xfrm xmlns:a="http://schemas.openxmlformats.org/drawingml/2006/main">
            <a:off x="857250" y="1828800"/>
            <a:ext cx="3638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081B2D"/>
                </a:solidFill>
                <a:latin typeface="Aptos"/>
                <a:ea typeface="Aptos"/>
                <a:cs typeface="Aptos"/>
              </a:defRPr>
            </a:pPr>
            <a:r>
              <a:rPr sz="1575" b="0">
                <a:solidFill>
                  <a:srgbClr val="081B2D"/>
                </a:solidFill>
                <a:latin typeface="Aptos"/>
                <a:ea typeface="Aptos"/>
                <a:cs typeface="Aptos"/>
              </a:rPr>
              <a:t>Des traitements de données existaient déjà sous forme de scripts R.</a:t>
            </a:r>
          </a:p>
        </p:txBody>
      </p:sp>
      <p:sp>
        <p:nvSpPr>
          <p:cNvPr id="8" name="text">
            <a:extLst xmlns:a="http://schemas.openxmlformats.org/drawingml/2006/main">
              <a:ext uri="{FF2B5EF4-FFF2-40B4-BE49-F238E27FC236}">
                <a16:creationId xmlns:a16="http://schemas.microsoft.com/office/drawing/2014/main" id="{07C03B5D-9671-47E6-9EC2-8B4EBA99C47B}"/>
              </a:ext>
            </a:extLst>
          </p:cNvPr>
          <p:cNvSpPr>
            <a:spLocks xmlns:a="http://schemas.openxmlformats.org/drawingml/2006/main" noGrp="1"/>
          </p:cNvSpPr>
          <p:nvPr/>
        </p:nvSpPr>
        <p:spPr>
          <a:xfrm xmlns:a="http://schemas.openxmlformats.org/drawingml/2006/main">
            <a:off x="857250" y="2457450"/>
            <a:ext cx="3638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506274"/>
                </a:solidFill>
                <a:latin typeface="Aptos"/>
                <a:ea typeface="Aptos"/>
                <a:cs typeface="Aptos"/>
              </a:defRPr>
            </a:pPr>
            <a:r>
              <a:rPr sz="1425" b="1">
                <a:solidFill>
                  <a:srgbClr val="506274"/>
                </a:solidFill>
                <a:latin typeface="Aptos"/>
                <a:ea typeface="Aptos"/>
                <a:cs typeface="Aptos"/>
              </a:rPr>
              <a:t>Ces scripts fonctionnaient. L'objectif n'était donc pas de corriger un système défaillant.</a:t>
            </a:r>
          </a:p>
        </p:txBody>
      </p:sp>
      <p:sp>
        <p:nvSpPr>
          <p:cNvPr id="9" name="rect">
            <a:extLst xmlns:a="http://schemas.openxmlformats.org/drawingml/2006/main">
              <a:ext uri="{FF2B5EF4-FFF2-40B4-BE49-F238E27FC236}">
                <a16:creationId xmlns:a16="http://schemas.microsoft.com/office/drawing/2014/main" id="{8AF37FC4-D671-4F8A-8258-ACC017CE556D}"/>
              </a:ext>
            </a:extLst>
          </p:cNvPr>
          <p:cNvSpPr>
            <a:spLocks xmlns:a="http://schemas.openxmlformats.org/drawingml/2006/main" noGrp="1"/>
          </p:cNvSpPr>
          <p:nvPr/>
        </p:nvSpPr>
        <p:spPr>
          <a:xfrm xmlns:a="http://schemas.openxmlformats.org/drawingml/2006/main">
            <a:off x="838200" y="3333750"/>
            <a:ext cx="3714750" cy="1504950"/>
          </a:xfrm>
          <a:prstGeom xmlns:a="http://schemas.openxmlformats.org/drawingml/2006/main" prst="roundRect">
            <a:avLst>
              <a:gd name="adj" fmla="val 1012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text">
            <a:extLst xmlns:a="http://schemas.openxmlformats.org/drawingml/2006/main">
              <a:ext uri="{FF2B5EF4-FFF2-40B4-BE49-F238E27FC236}">
                <a16:creationId xmlns:a16="http://schemas.microsoft.com/office/drawing/2014/main" id="{FE5F978B-A160-4189-AABB-AD388C06F191}"/>
              </a:ext>
            </a:extLst>
          </p:cNvPr>
          <p:cNvSpPr>
            <a:spLocks xmlns:a="http://schemas.openxmlformats.org/drawingml/2006/main" noGrp="1"/>
          </p:cNvSpPr>
          <p:nvPr/>
        </p:nvSpPr>
        <p:spPr>
          <a:xfrm xmlns:a="http://schemas.openxmlformats.org/drawingml/2006/main">
            <a:off x="1085850" y="35623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81B2D"/>
                </a:solidFill>
                <a:latin typeface="Aptos"/>
                <a:ea typeface="Aptos"/>
                <a:cs typeface="Aptos"/>
              </a:defRPr>
            </a:pPr>
            <a:r>
              <a:rPr sz="1575" b="1">
                <a:solidFill>
                  <a:srgbClr val="081B2D"/>
                </a:solidFill>
                <a:latin typeface="Aptos"/>
                <a:ea typeface="Aptos"/>
                <a:cs typeface="Aptos"/>
              </a:rPr>
              <a:t>Processus ETL</a:t>
            </a:r>
          </a:p>
        </p:txBody>
      </p:sp>
      <p:sp>
        <p:nvSpPr>
          <p:cNvPr id="11" name="rect">
            <a:extLst xmlns:a="http://schemas.openxmlformats.org/drawingml/2006/main">
              <a:ext uri="{FF2B5EF4-FFF2-40B4-BE49-F238E27FC236}">
                <a16:creationId xmlns:a16="http://schemas.microsoft.com/office/drawing/2014/main" id="{F343716F-4080-4A21-AC88-A8C3BE249E4A}"/>
              </a:ext>
            </a:extLst>
          </p:cNvPr>
          <p:cNvSpPr>
            <a:spLocks xmlns:a="http://schemas.openxmlformats.org/drawingml/2006/main" noGrp="1"/>
          </p:cNvSpPr>
          <p:nvPr/>
        </p:nvSpPr>
        <p:spPr>
          <a:xfrm xmlns:a="http://schemas.openxmlformats.org/drawingml/2006/main">
            <a:off x="1104900" y="4000500"/>
            <a:ext cx="876300" cy="361950"/>
          </a:xfrm>
          <a:prstGeom xmlns:a="http://schemas.openxmlformats.org/drawingml/2006/main" prst="roundRect">
            <a:avLst>
              <a:gd name="adj" fmla="val 31579"/>
            </a:avLst>
          </a:prstGeom>
          <a:solidFill xmlns:a="http://schemas.openxmlformats.org/drawingml/2006/main">
            <a:srgbClr val="E7F6F7"/>
          </a:solidFill>
          <a:ln xmlns:a="http://schemas.openxmlformats.org/drawingml/2006/main" w="10478">
            <a:solidFill>
              <a:srgbClr val="B8DDE5"/>
            </a:solidFill>
            <a:prstDash val="solid"/>
          </a:ln>
        </p:spPr>
      </p:sp>
      <p:sp>
        <p:nvSpPr>
          <p:cNvPr id="12" name="text">
            <a:extLst xmlns:a="http://schemas.openxmlformats.org/drawingml/2006/main">
              <a:ext uri="{FF2B5EF4-FFF2-40B4-BE49-F238E27FC236}">
                <a16:creationId xmlns:a16="http://schemas.microsoft.com/office/drawing/2014/main" id="{5198C74E-8FA9-4BBF-ADD1-4ADEF09690D4}"/>
              </a:ext>
            </a:extLst>
          </p:cNvPr>
          <p:cNvSpPr>
            <a:spLocks xmlns:a="http://schemas.openxmlformats.org/drawingml/2006/main" noGrp="1"/>
          </p:cNvSpPr>
          <p:nvPr/>
        </p:nvSpPr>
        <p:spPr>
          <a:xfrm xmlns:a="http://schemas.openxmlformats.org/drawingml/2006/main">
            <a:off x="1200150" y="4057650"/>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1B2D"/>
                </a:solidFill>
                <a:latin typeface="Aptos"/>
                <a:ea typeface="Aptos"/>
                <a:cs typeface="Aptos"/>
              </a:defRPr>
            </a:pPr>
            <a:r>
              <a:rPr sz="975" b="1">
                <a:solidFill>
                  <a:srgbClr val="081B2D"/>
                </a:solidFill>
                <a:latin typeface="Aptos"/>
                <a:ea typeface="Aptos"/>
                <a:cs typeface="Aptos"/>
              </a:rPr>
              <a:t>Extract</a:t>
            </a:r>
          </a:p>
        </p:txBody>
      </p:sp>
      <p:sp>
        <p:nvSpPr>
          <p:cNvPr id="13" name="text">
            <a:extLst xmlns:a="http://schemas.openxmlformats.org/drawingml/2006/main">
              <a:ext uri="{FF2B5EF4-FFF2-40B4-BE49-F238E27FC236}">
                <a16:creationId xmlns:a16="http://schemas.microsoft.com/office/drawing/2014/main" id="{2F8E8955-56B5-439C-A5E4-017D503BF7D4}"/>
              </a:ext>
            </a:extLst>
          </p:cNvPr>
          <p:cNvSpPr>
            <a:spLocks xmlns:a="http://schemas.openxmlformats.org/drawingml/2006/main" noGrp="1"/>
          </p:cNvSpPr>
          <p:nvPr/>
        </p:nvSpPr>
        <p:spPr>
          <a:xfrm xmlns:a="http://schemas.openxmlformats.org/drawingml/2006/main">
            <a:off x="1066800" y="44386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863" b="0">
                <a:solidFill>
                  <a:srgbClr val="506274"/>
                </a:solidFill>
                <a:latin typeface="Aptos"/>
                <a:ea typeface="Aptos"/>
                <a:cs typeface="Aptos"/>
              </a:defRPr>
            </a:pPr>
            <a:r>
              <a:rPr sz="863" b="0">
                <a:solidFill>
                  <a:srgbClr val="506274"/>
                </a:solidFill>
                <a:latin typeface="Aptos"/>
                <a:ea typeface="Aptos"/>
                <a:cs typeface="Aptos"/>
              </a:rPr>
              <a:t>Sources</a:t>
            </a:r>
          </a:p>
        </p:txBody>
      </p:sp>
      <p:sp>
        <p:nvSpPr>
          <p:cNvPr id="14" name="">
            <a:extLst xmlns:a="http://schemas.openxmlformats.org/drawingml/2006/main">
              <a:ext uri="{FF2B5EF4-FFF2-40B4-BE49-F238E27FC236}">
                <a16:creationId xmlns:a16="http://schemas.microsoft.com/office/drawing/2014/main" id="{3689AB70-947D-4701-B715-BE118BDC5A6C}"/>
              </a:ext>
            </a:extLst>
          </p:cNvPr>
          <p:cNvSpPr>
            <a:spLocks xmlns:a="http://schemas.openxmlformats.org/drawingml/2006/main" noGrp="1"/>
          </p:cNvSpPr>
          <p:nvPr/>
        </p:nvSpPr>
        <p:spPr>
          <a:xfrm xmlns:a="http://schemas.openxmlformats.org/drawingml/2006/main">
            <a:off x="2000250" y="4181475"/>
            <a:ext cx="19050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5" name="rect">
            <a:extLst xmlns:a="http://schemas.openxmlformats.org/drawingml/2006/main">
              <a:ext uri="{FF2B5EF4-FFF2-40B4-BE49-F238E27FC236}">
                <a16:creationId xmlns:a16="http://schemas.microsoft.com/office/drawing/2014/main" id="{5CD5E974-06D8-4EE2-B16D-C8587864CC70}"/>
              </a:ext>
            </a:extLst>
          </p:cNvPr>
          <p:cNvSpPr>
            <a:spLocks xmlns:a="http://schemas.openxmlformats.org/drawingml/2006/main" noGrp="1"/>
          </p:cNvSpPr>
          <p:nvPr/>
        </p:nvSpPr>
        <p:spPr>
          <a:xfrm xmlns:a="http://schemas.openxmlformats.org/drawingml/2006/main">
            <a:off x="2209800" y="4000500"/>
            <a:ext cx="876300" cy="361950"/>
          </a:xfrm>
          <a:prstGeom xmlns:a="http://schemas.openxmlformats.org/drawingml/2006/main" prst="roundRect">
            <a:avLst>
              <a:gd name="adj" fmla="val 31579"/>
            </a:avLst>
          </a:prstGeom>
          <a:solidFill xmlns:a="http://schemas.openxmlformats.org/drawingml/2006/main">
            <a:srgbClr val="0B8FBD"/>
          </a:solidFill>
          <a:ln xmlns:a="http://schemas.openxmlformats.org/drawingml/2006/main" w="10478">
            <a:solidFill>
              <a:srgbClr val="B8DDE5"/>
            </a:solidFill>
            <a:prstDash val="solid"/>
          </a:ln>
        </p:spPr>
      </p:sp>
      <p:sp>
        <p:nvSpPr>
          <p:cNvPr id="16" name="text">
            <a:extLst xmlns:a="http://schemas.openxmlformats.org/drawingml/2006/main">
              <a:ext uri="{FF2B5EF4-FFF2-40B4-BE49-F238E27FC236}">
                <a16:creationId xmlns:a16="http://schemas.microsoft.com/office/drawing/2014/main" id="{363F61CA-2AB0-4DDE-9490-A173D2897C5D}"/>
              </a:ext>
            </a:extLst>
          </p:cNvPr>
          <p:cNvSpPr>
            <a:spLocks xmlns:a="http://schemas.openxmlformats.org/drawingml/2006/main" noGrp="1"/>
          </p:cNvSpPr>
          <p:nvPr/>
        </p:nvSpPr>
        <p:spPr>
          <a:xfrm xmlns:a="http://schemas.openxmlformats.org/drawingml/2006/main">
            <a:off x="2305050" y="4057650"/>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Transform</a:t>
            </a:r>
          </a:p>
        </p:txBody>
      </p:sp>
      <p:sp>
        <p:nvSpPr>
          <p:cNvPr id="17" name="text">
            <a:extLst xmlns:a="http://schemas.openxmlformats.org/drawingml/2006/main">
              <a:ext uri="{FF2B5EF4-FFF2-40B4-BE49-F238E27FC236}">
                <a16:creationId xmlns:a16="http://schemas.microsoft.com/office/drawing/2014/main" id="{2845ADF9-143B-40AB-AA9C-5A39FA90507C}"/>
              </a:ext>
            </a:extLst>
          </p:cNvPr>
          <p:cNvSpPr>
            <a:spLocks xmlns:a="http://schemas.openxmlformats.org/drawingml/2006/main" noGrp="1"/>
          </p:cNvSpPr>
          <p:nvPr/>
        </p:nvSpPr>
        <p:spPr>
          <a:xfrm xmlns:a="http://schemas.openxmlformats.org/drawingml/2006/main">
            <a:off x="2171700" y="44386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863" b="0">
                <a:solidFill>
                  <a:srgbClr val="506274"/>
                </a:solidFill>
                <a:latin typeface="Aptos"/>
                <a:ea typeface="Aptos"/>
                <a:cs typeface="Aptos"/>
              </a:defRPr>
            </a:pPr>
            <a:r>
              <a:rPr sz="863" b="0">
                <a:solidFill>
                  <a:srgbClr val="506274"/>
                </a:solidFill>
                <a:latin typeface="Aptos"/>
                <a:ea typeface="Aptos"/>
                <a:cs typeface="Aptos"/>
              </a:rPr>
              <a:t>Règles métier</a:t>
            </a:r>
          </a:p>
        </p:txBody>
      </p:sp>
      <p:sp>
        <p:nvSpPr>
          <p:cNvPr id="18" name="">
            <a:extLst xmlns:a="http://schemas.openxmlformats.org/drawingml/2006/main">
              <a:ext uri="{FF2B5EF4-FFF2-40B4-BE49-F238E27FC236}">
                <a16:creationId xmlns:a16="http://schemas.microsoft.com/office/drawing/2014/main" id="{88000CFD-0CCA-4FB8-B032-3C4B72FFE82B}"/>
              </a:ext>
            </a:extLst>
          </p:cNvPr>
          <p:cNvSpPr>
            <a:spLocks xmlns:a="http://schemas.openxmlformats.org/drawingml/2006/main" noGrp="1"/>
          </p:cNvSpPr>
          <p:nvPr/>
        </p:nvSpPr>
        <p:spPr>
          <a:xfrm xmlns:a="http://schemas.openxmlformats.org/drawingml/2006/main">
            <a:off x="3105150" y="4181475"/>
            <a:ext cx="19050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9" name="rect">
            <a:extLst xmlns:a="http://schemas.openxmlformats.org/drawingml/2006/main">
              <a:ext uri="{FF2B5EF4-FFF2-40B4-BE49-F238E27FC236}">
                <a16:creationId xmlns:a16="http://schemas.microsoft.com/office/drawing/2014/main" id="{823FD7AF-C962-4EA7-9B97-EFD5D79A2293}"/>
              </a:ext>
            </a:extLst>
          </p:cNvPr>
          <p:cNvSpPr>
            <a:spLocks xmlns:a="http://schemas.openxmlformats.org/drawingml/2006/main" noGrp="1"/>
          </p:cNvSpPr>
          <p:nvPr/>
        </p:nvSpPr>
        <p:spPr>
          <a:xfrm xmlns:a="http://schemas.openxmlformats.org/drawingml/2006/main">
            <a:off x="3314700" y="4000500"/>
            <a:ext cx="876300" cy="361950"/>
          </a:xfrm>
          <a:prstGeom xmlns:a="http://schemas.openxmlformats.org/drawingml/2006/main" prst="roundRect">
            <a:avLst>
              <a:gd name="adj" fmla="val 31579"/>
            </a:avLst>
          </a:prstGeom>
          <a:solidFill xmlns:a="http://schemas.openxmlformats.org/drawingml/2006/main">
            <a:srgbClr val="E7F6F7"/>
          </a:solidFill>
          <a:ln xmlns:a="http://schemas.openxmlformats.org/drawingml/2006/main" w="10478">
            <a:solidFill>
              <a:srgbClr val="B8DDE5"/>
            </a:solidFill>
            <a:prstDash val="solid"/>
          </a:ln>
        </p:spPr>
      </p:sp>
      <p:sp>
        <p:nvSpPr>
          <p:cNvPr id="20" name="text">
            <a:extLst xmlns:a="http://schemas.openxmlformats.org/drawingml/2006/main">
              <a:ext uri="{FF2B5EF4-FFF2-40B4-BE49-F238E27FC236}">
                <a16:creationId xmlns:a16="http://schemas.microsoft.com/office/drawing/2014/main" id="{7341D142-EE69-4373-9A89-4CB6B6169B17}"/>
              </a:ext>
            </a:extLst>
          </p:cNvPr>
          <p:cNvSpPr>
            <a:spLocks xmlns:a="http://schemas.openxmlformats.org/drawingml/2006/main" noGrp="1"/>
          </p:cNvSpPr>
          <p:nvPr/>
        </p:nvSpPr>
        <p:spPr>
          <a:xfrm xmlns:a="http://schemas.openxmlformats.org/drawingml/2006/main">
            <a:off x="3409950" y="4057650"/>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1B2D"/>
                </a:solidFill>
                <a:latin typeface="Aptos"/>
                <a:ea typeface="Aptos"/>
                <a:cs typeface="Aptos"/>
              </a:defRPr>
            </a:pPr>
            <a:r>
              <a:rPr sz="975" b="1">
                <a:solidFill>
                  <a:srgbClr val="081B2D"/>
                </a:solidFill>
                <a:latin typeface="Aptos"/>
                <a:ea typeface="Aptos"/>
                <a:cs typeface="Aptos"/>
              </a:rPr>
              <a:t>Load</a:t>
            </a:r>
          </a:p>
        </p:txBody>
      </p:sp>
      <p:sp>
        <p:nvSpPr>
          <p:cNvPr id="21" name="text">
            <a:extLst xmlns:a="http://schemas.openxmlformats.org/drawingml/2006/main">
              <a:ext uri="{FF2B5EF4-FFF2-40B4-BE49-F238E27FC236}">
                <a16:creationId xmlns:a16="http://schemas.microsoft.com/office/drawing/2014/main" id="{EFB8DA21-CD2D-4839-B978-2330127F7A50}"/>
              </a:ext>
            </a:extLst>
          </p:cNvPr>
          <p:cNvSpPr>
            <a:spLocks xmlns:a="http://schemas.openxmlformats.org/drawingml/2006/main" noGrp="1"/>
          </p:cNvSpPr>
          <p:nvPr/>
        </p:nvSpPr>
        <p:spPr>
          <a:xfrm xmlns:a="http://schemas.openxmlformats.org/drawingml/2006/main">
            <a:off x="3276600" y="44386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863" b="0">
                <a:solidFill>
                  <a:srgbClr val="506274"/>
                </a:solidFill>
                <a:latin typeface="Aptos"/>
                <a:ea typeface="Aptos"/>
                <a:cs typeface="Aptos"/>
              </a:defRPr>
            </a:pPr>
            <a:r>
              <a:rPr sz="863" b="0">
                <a:solidFill>
                  <a:srgbClr val="506274"/>
                </a:solidFill>
                <a:latin typeface="Aptos"/>
                <a:ea typeface="Aptos"/>
                <a:cs typeface="Aptos"/>
              </a:rPr>
              <a:t>Data Warehouse</a:t>
            </a:r>
          </a:p>
        </p:txBody>
      </p:sp>
      <p:sp>
        <p:nvSpPr>
          <p:cNvPr id="22" name="text">
            <a:extLst xmlns:a="http://schemas.openxmlformats.org/drawingml/2006/main">
              <a:ext uri="{FF2B5EF4-FFF2-40B4-BE49-F238E27FC236}">
                <a16:creationId xmlns:a16="http://schemas.microsoft.com/office/drawing/2014/main" id="{10DFB1F8-6026-42F0-9B52-C71817203857}"/>
              </a:ext>
            </a:extLst>
          </p:cNvPr>
          <p:cNvSpPr>
            <a:spLocks xmlns:a="http://schemas.openxmlformats.org/drawingml/2006/main" noGrp="1"/>
          </p:cNvSpPr>
          <p:nvPr/>
        </p:nvSpPr>
        <p:spPr>
          <a:xfrm xmlns:a="http://schemas.openxmlformats.org/drawingml/2006/main">
            <a:off x="5334000" y="14859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B8FBD"/>
                </a:solidFill>
                <a:latin typeface="Aptos"/>
                <a:ea typeface="Aptos"/>
                <a:cs typeface="Aptos"/>
              </a:defRPr>
            </a:pPr>
            <a:r>
              <a:rPr sz="1800" b="1">
                <a:solidFill>
                  <a:srgbClr val="0B8FBD"/>
                </a:solidFill>
                <a:latin typeface="Aptos"/>
                <a:ea typeface="Aptos"/>
                <a:cs typeface="Aptos"/>
              </a:rPr>
              <a:t>Pourquoi migrer vers Python ?</a:t>
            </a:r>
          </a:p>
        </p:txBody>
      </p:sp>
      <p:sp>
        <p:nvSpPr>
          <p:cNvPr id="23" name="rect">
            <a:extLst xmlns:a="http://schemas.openxmlformats.org/drawingml/2006/main">
              <a:ext uri="{FF2B5EF4-FFF2-40B4-BE49-F238E27FC236}">
                <a16:creationId xmlns:a16="http://schemas.microsoft.com/office/drawing/2014/main" id="{34A9B18F-997C-448E-9BEA-CF41B9456C55}"/>
              </a:ext>
            </a:extLst>
          </p:cNvPr>
          <p:cNvSpPr>
            <a:spLocks xmlns:a="http://schemas.openxmlformats.org/drawingml/2006/main" noGrp="1"/>
          </p:cNvSpPr>
          <p:nvPr/>
        </p:nvSpPr>
        <p:spPr>
          <a:xfrm xmlns:a="http://schemas.openxmlformats.org/drawingml/2006/main">
            <a:off x="5238750" y="2000250"/>
            <a:ext cx="2667000" cy="1162050"/>
          </a:xfrm>
          <a:prstGeom xmlns:a="http://schemas.openxmlformats.org/drawingml/2006/main" prst="roundRect">
            <a:avLst>
              <a:gd name="adj" fmla="val 114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rect">
            <a:extLst xmlns:a="http://schemas.openxmlformats.org/drawingml/2006/main">
              <a:ext uri="{FF2B5EF4-FFF2-40B4-BE49-F238E27FC236}">
                <a16:creationId xmlns:a16="http://schemas.microsoft.com/office/drawing/2014/main" id="{A7E03194-BEF8-4E18-A7B5-78816057D708}"/>
              </a:ext>
            </a:extLst>
          </p:cNvPr>
          <p:cNvSpPr>
            <a:spLocks xmlns:a="http://schemas.openxmlformats.org/drawingml/2006/main" noGrp="1"/>
          </p:cNvSpPr>
          <p:nvPr/>
        </p:nvSpPr>
        <p:spPr>
          <a:xfrm xmlns:a="http://schemas.openxmlformats.org/drawingml/2006/main">
            <a:off x="5238750" y="2000250"/>
            <a:ext cx="66675" cy="11620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25" name="text">
            <a:extLst xmlns:a="http://schemas.openxmlformats.org/drawingml/2006/main">
              <a:ext uri="{FF2B5EF4-FFF2-40B4-BE49-F238E27FC236}">
                <a16:creationId xmlns:a16="http://schemas.microsoft.com/office/drawing/2014/main" id="{C1131945-FD44-41E7-A044-0C9C1F3F24FA}"/>
              </a:ext>
            </a:extLst>
          </p:cNvPr>
          <p:cNvSpPr>
            <a:spLocks xmlns:a="http://schemas.openxmlformats.org/drawingml/2006/main" noGrp="1"/>
          </p:cNvSpPr>
          <p:nvPr/>
        </p:nvSpPr>
        <p:spPr>
          <a:xfrm xmlns:a="http://schemas.openxmlformats.org/drawingml/2006/main">
            <a:off x="5448300" y="21907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81B2D"/>
                </a:solidFill>
                <a:latin typeface="Aptos"/>
                <a:ea typeface="Aptos"/>
                <a:cs typeface="Aptos"/>
              </a:defRPr>
            </a:pPr>
            <a:r>
              <a:rPr sz="1425" b="1">
                <a:solidFill>
                  <a:srgbClr val="081B2D"/>
                </a:solidFill>
                <a:latin typeface="Aptos"/>
                <a:ea typeface="Aptos"/>
                <a:cs typeface="Aptos"/>
              </a:rPr>
              <a:t>Harmonisation</a:t>
            </a:r>
          </a:p>
        </p:txBody>
      </p:sp>
      <p:sp>
        <p:nvSpPr>
          <p:cNvPr id="26" name="text">
            <a:extLst xmlns:a="http://schemas.openxmlformats.org/drawingml/2006/main">
              <a:ext uri="{FF2B5EF4-FFF2-40B4-BE49-F238E27FC236}">
                <a16:creationId xmlns:a16="http://schemas.microsoft.com/office/drawing/2014/main" id="{B6FEE51D-462C-48EE-862E-A2E77EB59338}"/>
              </a:ext>
            </a:extLst>
          </p:cNvPr>
          <p:cNvSpPr>
            <a:spLocks xmlns:a="http://schemas.openxmlformats.org/drawingml/2006/main" noGrp="1"/>
          </p:cNvSpPr>
          <p:nvPr/>
        </p:nvSpPr>
        <p:spPr>
          <a:xfrm xmlns:a="http://schemas.openxmlformats.org/drawingml/2006/main">
            <a:off x="5448300" y="257175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506274"/>
                </a:solidFill>
                <a:latin typeface="Aptos"/>
                <a:ea typeface="Aptos"/>
                <a:cs typeface="Aptos"/>
              </a:defRPr>
            </a:pPr>
            <a:r>
              <a:rPr sz="1238" b="0">
                <a:solidFill>
                  <a:srgbClr val="506274"/>
                </a:solidFill>
                <a:latin typeface="Aptos"/>
                <a:ea typeface="Aptos"/>
                <a:cs typeface="Aptos"/>
              </a:rPr>
              <a:t>Aligner l'environnement technique avec les autres équipes, notamment l'IT.</a:t>
            </a:r>
          </a:p>
        </p:txBody>
      </p:sp>
      <p:sp>
        <p:nvSpPr>
          <p:cNvPr id="27" name="rect">
            <a:extLst xmlns:a="http://schemas.openxmlformats.org/drawingml/2006/main">
              <a:ext uri="{FF2B5EF4-FFF2-40B4-BE49-F238E27FC236}">
                <a16:creationId xmlns:a16="http://schemas.microsoft.com/office/drawing/2014/main" id="{BF1BA86D-F0F8-4F9F-8338-DA8DF1700D97}"/>
              </a:ext>
            </a:extLst>
          </p:cNvPr>
          <p:cNvSpPr>
            <a:spLocks xmlns:a="http://schemas.openxmlformats.org/drawingml/2006/main" noGrp="1"/>
          </p:cNvSpPr>
          <p:nvPr/>
        </p:nvSpPr>
        <p:spPr>
          <a:xfrm xmlns:a="http://schemas.openxmlformats.org/drawingml/2006/main">
            <a:off x="8229600" y="2000250"/>
            <a:ext cx="2667000" cy="1162050"/>
          </a:xfrm>
          <a:prstGeom xmlns:a="http://schemas.openxmlformats.org/drawingml/2006/main" prst="roundRect">
            <a:avLst>
              <a:gd name="adj" fmla="val 114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rect">
            <a:extLst xmlns:a="http://schemas.openxmlformats.org/drawingml/2006/main">
              <a:ext uri="{FF2B5EF4-FFF2-40B4-BE49-F238E27FC236}">
                <a16:creationId xmlns:a16="http://schemas.microsoft.com/office/drawing/2014/main" id="{D6644C53-F776-4429-B8B1-6A5BB7FC7B22}"/>
              </a:ext>
            </a:extLst>
          </p:cNvPr>
          <p:cNvSpPr>
            <a:spLocks xmlns:a="http://schemas.openxmlformats.org/drawingml/2006/main" noGrp="1"/>
          </p:cNvSpPr>
          <p:nvPr/>
        </p:nvSpPr>
        <p:spPr>
          <a:xfrm xmlns:a="http://schemas.openxmlformats.org/drawingml/2006/main">
            <a:off x="8229600" y="2000250"/>
            <a:ext cx="66675" cy="11620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401811A9-6960-4097-8859-4504CDD4570A}"/>
              </a:ext>
            </a:extLst>
          </p:cNvPr>
          <p:cNvSpPr>
            <a:spLocks xmlns:a="http://schemas.openxmlformats.org/drawingml/2006/main" noGrp="1"/>
          </p:cNvSpPr>
          <p:nvPr/>
        </p:nvSpPr>
        <p:spPr>
          <a:xfrm xmlns:a="http://schemas.openxmlformats.org/drawingml/2006/main">
            <a:off x="8439150" y="21907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81B2D"/>
                </a:solidFill>
                <a:latin typeface="Aptos"/>
                <a:ea typeface="Aptos"/>
                <a:cs typeface="Aptos"/>
              </a:defRPr>
            </a:pPr>
            <a:r>
              <a:rPr sz="1425" b="1">
                <a:solidFill>
                  <a:srgbClr val="081B2D"/>
                </a:solidFill>
                <a:latin typeface="Aptos"/>
                <a:ea typeface="Aptos"/>
                <a:cs typeface="Aptos"/>
              </a:rPr>
              <a:t>Data Engineering</a:t>
            </a:r>
          </a:p>
        </p:txBody>
      </p:sp>
      <p:sp>
        <p:nvSpPr>
          <p:cNvPr id="30" name="text">
            <a:extLst xmlns:a="http://schemas.openxmlformats.org/drawingml/2006/main">
              <a:ext uri="{FF2B5EF4-FFF2-40B4-BE49-F238E27FC236}">
                <a16:creationId xmlns:a16="http://schemas.microsoft.com/office/drawing/2014/main" id="{9F8C3EF3-3F3B-4441-893C-4EF422B81D12}"/>
              </a:ext>
            </a:extLst>
          </p:cNvPr>
          <p:cNvSpPr>
            <a:spLocks xmlns:a="http://schemas.openxmlformats.org/drawingml/2006/main" noGrp="1"/>
          </p:cNvSpPr>
          <p:nvPr/>
        </p:nvSpPr>
        <p:spPr>
          <a:xfrm xmlns:a="http://schemas.openxmlformats.org/drawingml/2006/main">
            <a:off x="8439150" y="257175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506274"/>
                </a:solidFill>
                <a:latin typeface="Aptos"/>
                <a:ea typeface="Aptos"/>
                <a:cs typeface="Aptos"/>
              </a:defRPr>
            </a:pPr>
            <a:r>
              <a:rPr sz="1238" b="0">
                <a:solidFill>
                  <a:srgbClr val="506274"/>
                </a:solidFill>
                <a:latin typeface="Aptos"/>
                <a:ea typeface="Aptos"/>
                <a:cs typeface="Aptos"/>
              </a:rPr>
              <a:t>Utiliser un langage très présent dans les projets Data modernes.</a:t>
            </a:r>
          </a:p>
        </p:txBody>
      </p:sp>
      <p:sp>
        <p:nvSpPr>
          <p:cNvPr id="31" name="rect">
            <a:extLst xmlns:a="http://schemas.openxmlformats.org/drawingml/2006/main">
              <a:ext uri="{FF2B5EF4-FFF2-40B4-BE49-F238E27FC236}">
                <a16:creationId xmlns:a16="http://schemas.microsoft.com/office/drawing/2014/main" id="{AFFD9B81-2C81-4DFE-B374-613D17630D68}"/>
              </a:ext>
            </a:extLst>
          </p:cNvPr>
          <p:cNvSpPr>
            <a:spLocks xmlns:a="http://schemas.openxmlformats.org/drawingml/2006/main" noGrp="1"/>
          </p:cNvSpPr>
          <p:nvPr/>
        </p:nvSpPr>
        <p:spPr>
          <a:xfrm xmlns:a="http://schemas.openxmlformats.org/drawingml/2006/main">
            <a:off x="5238750" y="3486150"/>
            <a:ext cx="2667000" cy="1162050"/>
          </a:xfrm>
          <a:prstGeom xmlns:a="http://schemas.openxmlformats.org/drawingml/2006/main" prst="roundRect">
            <a:avLst>
              <a:gd name="adj" fmla="val 114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rect">
            <a:extLst xmlns:a="http://schemas.openxmlformats.org/drawingml/2006/main">
              <a:ext uri="{FF2B5EF4-FFF2-40B4-BE49-F238E27FC236}">
                <a16:creationId xmlns:a16="http://schemas.microsoft.com/office/drawing/2014/main" id="{7D906D0F-C695-4F99-A732-54270CEFB92D}"/>
              </a:ext>
            </a:extLst>
          </p:cNvPr>
          <p:cNvSpPr>
            <a:spLocks xmlns:a="http://schemas.openxmlformats.org/drawingml/2006/main" noGrp="1"/>
          </p:cNvSpPr>
          <p:nvPr/>
        </p:nvSpPr>
        <p:spPr>
          <a:xfrm xmlns:a="http://schemas.openxmlformats.org/drawingml/2006/main">
            <a:off x="5238750" y="3486150"/>
            <a:ext cx="66675" cy="11620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33" name="text">
            <a:extLst xmlns:a="http://schemas.openxmlformats.org/drawingml/2006/main">
              <a:ext uri="{FF2B5EF4-FFF2-40B4-BE49-F238E27FC236}">
                <a16:creationId xmlns:a16="http://schemas.microsoft.com/office/drawing/2014/main" id="{783BBD35-4CB2-4D3B-BB6F-D45854E63E9C}"/>
              </a:ext>
            </a:extLst>
          </p:cNvPr>
          <p:cNvSpPr>
            <a:spLocks xmlns:a="http://schemas.openxmlformats.org/drawingml/2006/main" noGrp="1"/>
          </p:cNvSpPr>
          <p:nvPr/>
        </p:nvSpPr>
        <p:spPr>
          <a:xfrm xmlns:a="http://schemas.openxmlformats.org/drawingml/2006/main">
            <a:off x="5448300" y="36766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81B2D"/>
                </a:solidFill>
                <a:latin typeface="Aptos"/>
                <a:ea typeface="Aptos"/>
                <a:cs typeface="Aptos"/>
              </a:defRPr>
            </a:pPr>
            <a:r>
              <a:rPr sz="1425" b="1">
                <a:solidFill>
                  <a:srgbClr val="081B2D"/>
                </a:solidFill>
                <a:latin typeface="Aptos"/>
                <a:ea typeface="Aptos"/>
                <a:cs typeface="Aptos"/>
              </a:rPr>
              <a:t>Écosystème riche</a:t>
            </a:r>
          </a:p>
        </p:txBody>
      </p:sp>
      <p:sp>
        <p:nvSpPr>
          <p:cNvPr id="34" name="text">
            <a:extLst xmlns:a="http://schemas.openxmlformats.org/drawingml/2006/main">
              <a:ext uri="{FF2B5EF4-FFF2-40B4-BE49-F238E27FC236}">
                <a16:creationId xmlns:a16="http://schemas.microsoft.com/office/drawing/2014/main" id="{A283F1DE-78AE-42A0-AB0B-646DF7220768}"/>
              </a:ext>
            </a:extLst>
          </p:cNvPr>
          <p:cNvSpPr>
            <a:spLocks xmlns:a="http://schemas.openxmlformats.org/drawingml/2006/main" noGrp="1"/>
          </p:cNvSpPr>
          <p:nvPr/>
        </p:nvSpPr>
        <p:spPr>
          <a:xfrm xmlns:a="http://schemas.openxmlformats.org/drawingml/2006/main">
            <a:off x="5448300" y="405765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506274"/>
                </a:solidFill>
                <a:latin typeface="Aptos"/>
                <a:ea typeface="Aptos"/>
                <a:cs typeface="Aptos"/>
              </a:defRPr>
            </a:pPr>
            <a:r>
              <a:rPr sz="1238" b="0">
                <a:solidFill>
                  <a:srgbClr val="506274"/>
                </a:solidFill>
                <a:latin typeface="Aptos"/>
                <a:ea typeface="Aptos"/>
                <a:cs typeface="Aptos"/>
              </a:rPr>
              <a:t>Bibliothèques, outils, documentation et communauté active.</a:t>
            </a:r>
          </a:p>
        </p:txBody>
      </p:sp>
      <p:sp>
        <p:nvSpPr>
          <p:cNvPr id="35" name="rect">
            <a:extLst xmlns:a="http://schemas.openxmlformats.org/drawingml/2006/main">
              <a:ext uri="{FF2B5EF4-FFF2-40B4-BE49-F238E27FC236}">
                <a16:creationId xmlns:a16="http://schemas.microsoft.com/office/drawing/2014/main" id="{D5D6FAAC-5BD8-4427-8F42-31111D89B2BC}"/>
              </a:ext>
            </a:extLst>
          </p:cNvPr>
          <p:cNvSpPr>
            <a:spLocks xmlns:a="http://schemas.openxmlformats.org/drawingml/2006/main" noGrp="1"/>
          </p:cNvSpPr>
          <p:nvPr/>
        </p:nvSpPr>
        <p:spPr>
          <a:xfrm xmlns:a="http://schemas.openxmlformats.org/drawingml/2006/main">
            <a:off x="8229600" y="3486150"/>
            <a:ext cx="2667000" cy="1162050"/>
          </a:xfrm>
          <a:prstGeom xmlns:a="http://schemas.openxmlformats.org/drawingml/2006/main" prst="roundRect">
            <a:avLst>
              <a:gd name="adj" fmla="val 114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rect">
            <a:extLst xmlns:a="http://schemas.openxmlformats.org/drawingml/2006/main">
              <a:ext uri="{FF2B5EF4-FFF2-40B4-BE49-F238E27FC236}">
                <a16:creationId xmlns:a16="http://schemas.microsoft.com/office/drawing/2014/main" id="{5FF284E0-87AA-4BE5-BF76-079474D63582}"/>
              </a:ext>
            </a:extLst>
          </p:cNvPr>
          <p:cNvSpPr>
            <a:spLocks xmlns:a="http://schemas.openxmlformats.org/drawingml/2006/main" noGrp="1"/>
          </p:cNvSpPr>
          <p:nvPr/>
        </p:nvSpPr>
        <p:spPr>
          <a:xfrm xmlns:a="http://schemas.openxmlformats.org/drawingml/2006/main">
            <a:off x="8229600" y="3486150"/>
            <a:ext cx="66675" cy="11620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37" name="text">
            <a:extLst xmlns:a="http://schemas.openxmlformats.org/drawingml/2006/main">
              <a:ext uri="{FF2B5EF4-FFF2-40B4-BE49-F238E27FC236}">
                <a16:creationId xmlns:a16="http://schemas.microsoft.com/office/drawing/2014/main" id="{BF301189-69FB-470B-9E53-CD251214703B}"/>
              </a:ext>
            </a:extLst>
          </p:cNvPr>
          <p:cNvSpPr>
            <a:spLocks xmlns:a="http://schemas.openxmlformats.org/drawingml/2006/main" noGrp="1"/>
          </p:cNvSpPr>
          <p:nvPr/>
        </p:nvSpPr>
        <p:spPr>
          <a:xfrm xmlns:a="http://schemas.openxmlformats.org/drawingml/2006/main">
            <a:off x="8439150" y="36766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81B2D"/>
                </a:solidFill>
                <a:latin typeface="Aptos"/>
                <a:ea typeface="Aptos"/>
                <a:cs typeface="Aptos"/>
              </a:defRPr>
            </a:pPr>
            <a:r>
              <a:rPr sz="1425" b="1">
                <a:solidFill>
                  <a:srgbClr val="081B2D"/>
                </a:solidFill>
                <a:latin typeface="Aptos"/>
                <a:ea typeface="Aptos"/>
                <a:cs typeface="Aptos"/>
              </a:rPr>
              <a:t>Objectif clé</a:t>
            </a:r>
          </a:p>
        </p:txBody>
      </p:sp>
      <p:sp>
        <p:nvSpPr>
          <p:cNvPr id="38" name="text">
            <a:extLst xmlns:a="http://schemas.openxmlformats.org/drawingml/2006/main">
              <a:ext uri="{FF2B5EF4-FFF2-40B4-BE49-F238E27FC236}">
                <a16:creationId xmlns:a16="http://schemas.microsoft.com/office/drawing/2014/main" id="{FC0DB482-D291-4CBD-95DD-E4F923F824E5}"/>
              </a:ext>
            </a:extLst>
          </p:cNvPr>
          <p:cNvSpPr>
            <a:spLocks xmlns:a="http://schemas.openxmlformats.org/drawingml/2006/main" noGrp="1"/>
          </p:cNvSpPr>
          <p:nvPr/>
        </p:nvSpPr>
        <p:spPr>
          <a:xfrm xmlns:a="http://schemas.openxmlformats.org/drawingml/2006/main">
            <a:off x="8439150" y="405765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506274"/>
                </a:solidFill>
                <a:latin typeface="Aptos"/>
                <a:ea typeface="Aptos"/>
                <a:cs typeface="Aptos"/>
              </a:defRPr>
            </a:pPr>
            <a:r>
              <a:rPr sz="1238" b="0">
                <a:solidFill>
                  <a:srgbClr val="506274"/>
                </a:solidFill>
                <a:latin typeface="Aptos"/>
                <a:ea typeface="Aptos"/>
                <a:cs typeface="Aptos"/>
              </a:rPr>
              <a:t>Moderniser sans changer le comportement fonctionnel attendu.</a:t>
            </a:r>
          </a:p>
        </p:txBody>
      </p:sp>
      <p:sp>
        <p:nvSpPr>
          <p:cNvPr id="39" name="rect">
            <a:extLst xmlns:a="http://schemas.openxmlformats.org/drawingml/2006/main">
              <a:ext uri="{FF2B5EF4-FFF2-40B4-BE49-F238E27FC236}">
                <a16:creationId xmlns:a16="http://schemas.microsoft.com/office/drawing/2014/main" id="{2BE517A8-E21F-4660-93AE-82301F79F19F}"/>
              </a:ext>
            </a:extLst>
          </p:cNvPr>
          <p:cNvSpPr>
            <a:spLocks xmlns:a="http://schemas.openxmlformats.org/drawingml/2006/main" noGrp="1"/>
          </p:cNvSpPr>
          <p:nvPr/>
        </p:nvSpPr>
        <p:spPr>
          <a:xfrm xmlns:a="http://schemas.openxmlformats.org/drawingml/2006/main">
            <a:off x="1485900" y="5257800"/>
            <a:ext cx="9220200" cy="723900"/>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19050">
            <a:solidFill>
              <a:srgbClr val="0B8FB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text">
            <a:extLst xmlns:a="http://schemas.openxmlformats.org/drawingml/2006/main">
              <a:ext uri="{FF2B5EF4-FFF2-40B4-BE49-F238E27FC236}">
                <a16:creationId xmlns:a16="http://schemas.microsoft.com/office/drawing/2014/main" id="{DBFDF3C5-1730-4488-B945-2ACBE0867F6F}"/>
              </a:ext>
            </a:extLst>
          </p:cNvPr>
          <p:cNvSpPr>
            <a:spLocks xmlns:a="http://schemas.openxmlformats.org/drawingml/2006/main" noGrp="1"/>
          </p:cNvSpPr>
          <p:nvPr/>
        </p:nvSpPr>
        <p:spPr>
          <a:xfrm xmlns:a="http://schemas.openxmlformats.org/drawingml/2006/main">
            <a:off x="1809750" y="54102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0B8FBD"/>
                </a:solidFill>
                <a:latin typeface="Aptos"/>
                <a:ea typeface="Aptos"/>
                <a:cs typeface="Aptos"/>
              </a:defRPr>
            </a:pPr>
            <a:r>
              <a:rPr sz="1200" b="1">
                <a:solidFill>
                  <a:srgbClr val="0B8FBD"/>
                </a:solidFill>
                <a:latin typeface="Aptos"/>
                <a:ea typeface="Aptos"/>
                <a:cs typeface="Aptos"/>
              </a:rPr>
              <a:t>Problématique</a:t>
            </a:r>
          </a:p>
        </p:txBody>
      </p:sp>
      <p:sp>
        <p:nvSpPr>
          <p:cNvPr id="41" name="text">
            <a:extLst xmlns:a="http://schemas.openxmlformats.org/drawingml/2006/main">
              <a:ext uri="{FF2B5EF4-FFF2-40B4-BE49-F238E27FC236}">
                <a16:creationId xmlns:a16="http://schemas.microsoft.com/office/drawing/2014/main" id="{07C6DAB4-8EF6-45F9-ADCB-C4F2DD17C919}"/>
              </a:ext>
            </a:extLst>
          </p:cNvPr>
          <p:cNvSpPr>
            <a:spLocks xmlns:a="http://schemas.openxmlformats.org/drawingml/2006/main" noGrp="1"/>
          </p:cNvSpPr>
          <p:nvPr/>
        </p:nvSpPr>
        <p:spPr>
          <a:xfrm xmlns:a="http://schemas.openxmlformats.org/drawingml/2006/main">
            <a:off x="3352800" y="5381625"/>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75" b="1">
                <a:solidFill>
                  <a:srgbClr val="081B2D"/>
                </a:solidFill>
                <a:latin typeface="Aptos"/>
                <a:ea typeface="Aptos"/>
                <a:cs typeface="Aptos"/>
              </a:defRPr>
            </a:pPr>
            <a:r>
              <a:rPr sz="1575" b="1">
                <a:solidFill>
                  <a:srgbClr val="081B2D"/>
                </a:solidFill>
                <a:latin typeface="Aptos"/>
                <a:ea typeface="Aptos"/>
                <a:cs typeface="Aptos"/>
              </a:rPr>
              <a:t>Comment migrer efficacement les ETL dans un environnement Data moderne, tout en conservant leur comportement fonctionnel ?</a:t>
            </a:r>
          </a:p>
        </p:txBody>
      </p:sp>
    </p:spTree>
    <p:extLst>
      <p:ext uri="{BB962C8B-B14F-4D97-AF65-F5344CB8AC3E}">
        <p14:creationId xmlns:p14="http://schemas.microsoft.com/office/powerpoint/2010/main" val="1554265278"/>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2262DC76-37A1-4D5A-9B4A-53C8B755DE74}"/>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Organisation du projet</a:t>
            </a:r>
          </a:p>
        </p:txBody>
      </p:sp>
      <p:sp>
        <p:nvSpPr>
          <p:cNvPr id="2" name="slide-number">
            <a:extLst xmlns:a="http://schemas.openxmlformats.org/drawingml/2006/main">
              <a:ext uri="{FF2B5EF4-FFF2-40B4-BE49-F238E27FC236}">
                <a16:creationId xmlns:a16="http://schemas.microsoft.com/office/drawing/2014/main" id="{798D50DC-8C7D-4428-B945-0A37A6E63178}"/>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06</a:t>
            </a:r>
          </a:p>
        </p:txBody>
      </p:sp>
      <p:sp>
        <p:nvSpPr>
          <p:cNvPr id="3" name="kicker">
            <a:extLst xmlns:a="http://schemas.openxmlformats.org/drawingml/2006/main">
              <a:ext uri="{FF2B5EF4-FFF2-40B4-BE49-F238E27FC236}">
                <a16:creationId xmlns:a16="http://schemas.microsoft.com/office/drawing/2014/main" id="{8675061C-F231-4140-A24C-E17D3207381F}"/>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7BF3412B-713A-43D0-BC7B-EE20DA6CBF42}"/>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720C7C52-EEA6-444C-B005-99EDFA97F2FE}"/>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02199A27-918C-459D-B0D8-0DCDBBC3328F}"/>
              </a:ext>
            </a:extLst>
          </p:cNvPr>
          <p:cNvSpPr>
            <a:spLocks xmlns:a="http://schemas.openxmlformats.org/drawingml/2006/main" noGrp="1"/>
          </p:cNvSpPr>
          <p:nvPr/>
        </p:nvSpPr>
        <p:spPr>
          <a:xfrm xmlns:a="http://schemas.openxmlformats.org/drawingml/2006/main">
            <a:off x="1143000" y="1638300"/>
            <a:ext cx="9906000" cy="3733800"/>
          </a:xfrm>
          <a:prstGeom xmlns:a="http://schemas.openxmlformats.org/drawingml/2006/main" prst="roundRect">
            <a:avLst>
              <a:gd name="adj" fmla="val 459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text">
            <a:extLst xmlns:a="http://schemas.openxmlformats.org/drawingml/2006/main">
              <a:ext uri="{FF2B5EF4-FFF2-40B4-BE49-F238E27FC236}">
                <a16:creationId xmlns:a16="http://schemas.microsoft.com/office/drawing/2014/main" id="{49E73F8F-624C-47B8-BDFB-48AAA797E195}"/>
              </a:ext>
            </a:extLst>
          </p:cNvPr>
          <p:cNvSpPr>
            <a:spLocks xmlns:a="http://schemas.openxmlformats.org/drawingml/2006/main" noGrp="1"/>
          </p:cNvSpPr>
          <p:nvPr/>
        </p:nvSpPr>
        <p:spPr>
          <a:xfrm xmlns:a="http://schemas.openxmlformats.org/drawingml/2006/main">
            <a:off x="1581150" y="20193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081B2D"/>
                </a:solidFill>
                <a:latin typeface="Aptos"/>
                <a:ea typeface="Aptos"/>
                <a:cs typeface="Aptos"/>
              </a:defRPr>
            </a:pPr>
            <a:r>
              <a:rPr sz="1950" b="1">
                <a:solidFill>
                  <a:srgbClr val="081B2D"/>
                </a:solidFill>
                <a:latin typeface="Aptos"/>
                <a:ea typeface="Aptos"/>
                <a:cs typeface="Aptos"/>
              </a:rPr>
              <a:t>Le projet était suivi de manière simple et régulière :</a:t>
            </a:r>
          </a:p>
        </p:txBody>
      </p:sp>
      <p:sp>
        <p:nvSpPr>
          <p:cNvPr id="8" name="rect">
            <a:extLst xmlns:a="http://schemas.openxmlformats.org/drawingml/2006/main">
              <a:ext uri="{FF2B5EF4-FFF2-40B4-BE49-F238E27FC236}">
                <a16:creationId xmlns:a16="http://schemas.microsoft.com/office/drawing/2014/main" id="{1D52375C-60C4-45AE-80C4-B95CF4982F2C}"/>
              </a:ext>
            </a:extLst>
          </p:cNvPr>
          <p:cNvSpPr>
            <a:spLocks xmlns:a="http://schemas.openxmlformats.org/drawingml/2006/main" noGrp="1"/>
          </p:cNvSpPr>
          <p:nvPr/>
        </p:nvSpPr>
        <p:spPr>
          <a:xfrm xmlns:a="http://schemas.openxmlformats.org/drawingml/2006/main">
            <a:off x="1600200" y="2867025"/>
            <a:ext cx="114300" cy="1143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CE131660-D31D-4793-9502-82C760F25504}"/>
              </a:ext>
            </a:extLst>
          </p:cNvPr>
          <p:cNvSpPr>
            <a:spLocks xmlns:a="http://schemas.openxmlformats.org/drawingml/2006/main" noGrp="1"/>
          </p:cNvSpPr>
          <p:nvPr/>
        </p:nvSpPr>
        <p:spPr>
          <a:xfrm xmlns:a="http://schemas.openxmlformats.org/drawingml/2006/main">
            <a:off x="1924050" y="27813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Jira</a:t>
            </a:r>
          </a:p>
        </p:txBody>
      </p:sp>
      <p:sp>
        <p:nvSpPr>
          <p:cNvPr id="10" name="text">
            <a:extLst xmlns:a="http://schemas.openxmlformats.org/drawingml/2006/main">
              <a:ext uri="{FF2B5EF4-FFF2-40B4-BE49-F238E27FC236}">
                <a16:creationId xmlns:a16="http://schemas.microsoft.com/office/drawing/2014/main" id="{E8F21DC7-4666-463D-AA79-AAF8B26CA653}"/>
              </a:ext>
            </a:extLst>
          </p:cNvPr>
          <p:cNvSpPr>
            <a:spLocks xmlns:a="http://schemas.openxmlformats.org/drawingml/2006/main" noGrp="1"/>
          </p:cNvSpPr>
          <p:nvPr/>
        </p:nvSpPr>
        <p:spPr>
          <a:xfrm xmlns:a="http://schemas.openxmlformats.org/drawingml/2006/main">
            <a:off x="4000500" y="27908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suivi des tâches sous forme de tickets avec un statut : TO DO ou DONE</a:t>
            </a:r>
          </a:p>
        </p:txBody>
      </p:sp>
      <p:sp>
        <p:nvSpPr>
          <p:cNvPr id="11" name="rect">
            <a:extLst xmlns:a="http://schemas.openxmlformats.org/drawingml/2006/main">
              <a:ext uri="{FF2B5EF4-FFF2-40B4-BE49-F238E27FC236}">
                <a16:creationId xmlns:a16="http://schemas.microsoft.com/office/drawing/2014/main" id="{0B132270-2D2E-4B3B-A71D-120432144859}"/>
              </a:ext>
            </a:extLst>
          </p:cNvPr>
          <p:cNvSpPr>
            <a:spLocks xmlns:a="http://schemas.openxmlformats.org/drawingml/2006/main" noGrp="1"/>
          </p:cNvSpPr>
          <p:nvPr/>
        </p:nvSpPr>
        <p:spPr>
          <a:xfrm xmlns:a="http://schemas.openxmlformats.org/drawingml/2006/main">
            <a:off x="1600200" y="3419475"/>
            <a:ext cx="114300" cy="1143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F4B2E02F-BEA6-4D9C-B75E-C3E89F87D2D7}"/>
              </a:ext>
            </a:extLst>
          </p:cNvPr>
          <p:cNvSpPr>
            <a:spLocks xmlns:a="http://schemas.openxmlformats.org/drawingml/2006/main" noGrp="1"/>
          </p:cNvSpPr>
          <p:nvPr/>
        </p:nvSpPr>
        <p:spPr>
          <a:xfrm xmlns:a="http://schemas.openxmlformats.org/drawingml/2006/main">
            <a:off x="1924050" y="33337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Priorités</a:t>
            </a:r>
          </a:p>
        </p:txBody>
      </p:sp>
      <p:sp>
        <p:nvSpPr>
          <p:cNvPr id="13" name="text">
            <a:extLst xmlns:a="http://schemas.openxmlformats.org/drawingml/2006/main">
              <a:ext uri="{FF2B5EF4-FFF2-40B4-BE49-F238E27FC236}">
                <a16:creationId xmlns:a16="http://schemas.microsoft.com/office/drawing/2014/main" id="{46111E01-7F21-4622-94F7-63357777A72F}"/>
              </a:ext>
            </a:extLst>
          </p:cNvPr>
          <p:cNvSpPr>
            <a:spLocks xmlns:a="http://schemas.openxmlformats.org/drawingml/2006/main" noGrp="1"/>
          </p:cNvSpPr>
          <p:nvPr/>
        </p:nvSpPr>
        <p:spPr>
          <a:xfrm xmlns:a="http://schemas.openxmlformats.org/drawingml/2006/main">
            <a:off x="4000500" y="334327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classification des tickets en High, Medium ou Low</a:t>
            </a:r>
          </a:p>
        </p:txBody>
      </p:sp>
      <p:sp>
        <p:nvSpPr>
          <p:cNvPr id="14" name="rect">
            <a:extLst xmlns:a="http://schemas.openxmlformats.org/drawingml/2006/main">
              <a:ext uri="{FF2B5EF4-FFF2-40B4-BE49-F238E27FC236}">
                <a16:creationId xmlns:a16="http://schemas.microsoft.com/office/drawing/2014/main" id="{5D171689-7EC6-4000-8725-02FF3F7EE87F}"/>
              </a:ext>
            </a:extLst>
          </p:cNvPr>
          <p:cNvSpPr>
            <a:spLocks xmlns:a="http://schemas.openxmlformats.org/drawingml/2006/main" noGrp="1"/>
          </p:cNvSpPr>
          <p:nvPr/>
        </p:nvSpPr>
        <p:spPr>
          <a:xfrm xmlns:a="http://schemas.openxmlformats.org/drawingml/2006/main">
            <a:off x="1600200" y="3971925"/>
            <a:ext cx="114300" cy="1143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B2943783-11F9-4098-9E3E-DEB6BAFA545F}"/>
              </a:ext>
            </a:extLst>
          </p:cNvPr>
          <p:cNvSpPr>
            <a:spLocks xmlns:a="http://schemas.openxmlformats.org/drawingml/2006/main" noGrp="1"/>
          </p:cNvSpPr>
          <p:nvPr/>
        </p:nvSpPr>
        <p:spPr>
          <a:xfrm xmlns:a="http://schemas.openxmlformats.org/drawingml/2006/main">
            <a:off x="1924050" y="38862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Points tuteur</a:t>
            </a:r>
          </a:p>
        </p:txBody>
      </p:sp>
      <p:sp>
        <p:nvSpPr>
          <p:cNvPr id="16" name="text">
            <a:extLst xmlns:a="http://schemas.openxmlformats.org/drawingml/2006/main">
              <a:ext uri="{FF2B5EF4-FFF2-40B4-BE49-F238E27FC236}">
                <a16:creationId xmlns:a16="http://schemas.microsoft.com/office/drawing/2014/main" id="{E3C8AACC-B560-4432-A5AE-C9E9F2BD5991}"/>
              </a:ext>
            </a:extLst>
          </p:cNvPr>
          <p:cNvSpPr>
            <a:spLocks xmlns:a="http://schemas.openxmlformats.org/drawingml/2006/main" noGrp="1"/>
          </p:cNvSpPr>
          <p:nvPr/>
        </p:nvSpPr>
        <p:spPr>
          <a:xfrm xmlns:a="http://schemas.openxmlformats.org/drawingml/2006/main">
            <a:off x="4000500" y="38957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bilan de l'avancement, difficultés rencontrées et prochaines priorités</a:t>
            </a:r>
          </a:p>
        </p:txBody>
      </p:sp>
      <p:sp>
        <p:nvSpPr>
          <p:cNvPr id="17" name="rect">
            <a:extLst xmlns:a="http://schemas.openxmlformats.org/drawingml/2006/main">
              <a:ext uri="{FF2B5EF4-FFF2-40B4-BE49-F238E27FC236}">
                <a16:creationId xmlns:a16="http://schemas.microsoft.com/office/drawing/2014/main" id="{E7488554-BE27-45B9-93CE-7240EDF8F47D}"/>
              </a:ext>
            </a:extLst>
          </p:cNvPr>
          <p:cNvSpPr>
            <a:spLocks xmlns:a="http://schemas.openxmlformats.org/drawingml/2006/main" noGrp="1"/>
          </p:cNvSpPr>
          <p:nvPr/>
        </p:nvSpPr>
        <p:spPr>
          <a:xfrm xmlns:a="http://schemas.openxmlformats.org/drawingml/2006/main">
            <a:off x="1600200" y="4524375"/>
            <a:ext cx="114300" cy="1143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722830F3-1576-4D08-BCD9-DAA63080431F}"/>
              </a:ext>
            </a:extLst>
          </p:cNvPr>
          <p:cNvSpPr>
            <a:spLocks xmlns:a="http://schemas.openxmlformats.org/drawingml/2006/main" noGrp="1"/>
          </p:cNvSpPr>
          <p:nvPr/>
        </p:nvSpPr>
        <p:spPr>
          <a:xfrm xmlns:a="http://schemas.openxmlformats.org/drawingml/2006/main">
            <a:off x="1924050" y="44386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Réunion hebdomadaire</a:t>
            </a:r>
          </a:p>
        </p:txBody>
      </p:sp>
      <p:sp>
        <p:nvSpPr>
          <p:cNvPr id="19" name="text">
            <a:extLst xmlns:a="http://schemas.openxmlformats.org/drawingml/2006/main">
              <a:ext uri="{FF2B5EF4-FFF2-40B4-BE49-F238E27FC236}">
                <a16:creationId xmlns:a16="http://schemas.microsoft.com/office/drawing/2014/main" id="{21514256-0602-4C7C-A104-070DC7EB06F1}"/>
              </a:ext>
            </a:extLst>
          </p:cNvPr>
          <p:cNvSpPr>
            <a:spLocks xmlns:a="http://schemas.openxmlformats.org/drawingml/2006/main" noGrp="1"/>
          </p:cNvSpPr>
          <p:nvPr/>
        </p:nvSpPr>
        <p:spPr>
          <a:xfrm xmlns:a="http://schemas.openxmlformats.org/drawingml/2006/main">
            <a:off x="4000500" y="444817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partage des travaux réalisés et des tâches prévues avec l'équipe</a:t>
            </a:r>
          </a:p>
        </p:txBody>
      </p:sp>
      <p:sp>
        <p:nvSpPr>
          <p:cNvPr id="20" name="text">
            <a:extLst xmlns:a="http://schemas.openxmlformats.org/drawingml/2006/main">
              <a:ext uri="{FF2B5EF4-FFF2-40B4-BE49-F238E27FC236}">
                <a16:creationId xmlns:a16="http://schemas.microsoft.com/office/drawing/2014/main" id="{54D10D4A-6630-4B81-A88D-3C266395E849}"/>
              </a:ext>
            </a:extLst>
          </p:cNvPr>
          <p:cNvSpPr>
            <a:spLocks xmlns:a="http://schemas.openxmlformats.org/drawingml/2006/main" noGrp="1"/>
          </p:cNvSpPr>
          <p:nvPr/>
        </p:nvSpPr>
        <p:spPr>
          <a:xfrm xmlns:a="http://schemas.openxmlformats.org/drawingml/2006/main">
            <a:off x="1581150" y="48768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81B2D"/>
                </a:solidFill>
                <a:latin typeface="Aptos"/>
                <a:ea typeface="Aptos"/>
                <a:cs typeface="Aptos"/>
              </a:defRPr>
            </a:pPr>
            <a:r>
              <a:rPr sz="1575" b="1">
                <a:solidFill>
                  <a:srgbClr val="081B2D"/>
                </a:solidFill>
                <a:latin typeface="Aptos"/>
                <a:ea typeface="Aptos"/>
                <a:cs typeface="Aptos"/>
              </a:rPr>
              <a:t>Objectif : garder une vision claire de l'avancement et adapter les priorités au fil du stage.</a:t>
            </a:r>
          </a:p>
        </p:txBody>
      </p:sp>
    </p:spTree>
    <p:extLst>
      <p:ext uri="{BB962C8B-B14F-4D97-AF65-F5344CB8AC3E}">
        <p14:creationId xmlns:p14="http://schemas.microsoft.com/office/powerpoint/2010/main" val="529991185"/>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9" name="slide-title">
            <a:extLst xmlns:a="http://schemas.openxmlformats.org/drawingml/2006/main">
              <a:ext uri="{FF2B5EF4-FFF2-40B4-BE49-F238E27FC236}">
                <a16:creationId xmlns:a16="http://schemas.microsoft.com/office/drawing/2014/main" id="{1EEE62C1-5A87-48A5-9B00-9158540E5680}"/>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Périmètre et cycle de migration</a:t>
            </a:r>
          </a:p>
        </p:txBody>
      </p:sp>
      <p:sp>
        <p:nvSpPr>
          <p:cNvPr id="2" name="slide-number">
            <a:extLst xmlns:a="http://schemas.openxmlformats.org/drawingml/2006/main">
              <a:ext uri="{FF2B5EF4-FFF2-40B4-BE49-F238E27FC236}">
                <a16:creationId xmlns:a16="http://schemas.microsoft.com/office/drawing/2014/main" id="{72CC5B2F-683C-4114-8324-63CD17A55280}"/>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07</a:t>
            </a:r>
          </a:p>
        </p:txBody>
      </p:sp>
      <p:sp>
        <p:nvSpPr>
          <p:cNvPr id="3" name="kicker">
            <a:extLst xmlns:a="http://schemas.openxmlformats.org/drawingml/2006/main">
              <a:ext uri="{FF2B5EF4-FFF2-40B4-BE49-F238E27FC236}">
                <a16:creationId xmlns:a16="http://schemas.microsoft.com/office/drawing/2014/main" id="{31946F54-F164-48C8-881A-B595E03DF02B}"/>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0D685405-A57F-457F-8045-98D229CDB4E3}"/>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EF3952C6-3717-40CC-99AB-B34EA1B1D1C0}"/>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A7B16238-1C83-464B-8510-FF04E72F3536}"/>
              </a:ext>
            </a:extLst>
          </p:cNvPr>
          <p:cNvSpPr>
            <a:spLocks xmlns:a="http://schemas.openxmlformats.org/drawingml/2006/main" noGrp="1"/>
          </p:cNvSpPr>
          <p:nvPr/>
        </p:nvSpPr>
        <p:spPr>
          <a:xfrm xmlns:a="http://schemas.openxmlformats.org/drawingml/2006/main">
            <a:off x="781050" y="1676400"/>
            <a:ext cx="2400300"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text">
            <a:extLst xmlns:a="http://schemas.openxmlformats.org/drawingml/2006/main">
              <a:ext uri="{FF2B5EF4-FFF2-40B4-BE49-F238E27FC236}">
                <a16:creationId xmlns:a16="http://schemas.microsoft.com/office/drawing/2014/main" id="{F1AE4C0C-D7E4-4D23-86A8-0FC010E3D008}"/>
              </a:ext>
            </a:extLst>
          </p:cNvPr>
          <p:cNvSpPr>
            <a:spLocks xmlns:a="http://schemas.openxmlformats.org/drawingml/2006/main" noGrp="1"/>
          </p:cNvSpPr>
          <p:nvPr/>
        </p:nvSpPr>
        <p:spPr>
          <a:xfrm xmlns:a="http://schemas.openxmlformats.org/drawingml/2006/main">
            <a:off x="1143000" y="1943100"/>
            <a:ext cx="1676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4650" b="1">
                <a:solidFill>
                  <a:srgbClr val="0B8FBD"/>
                </a:solidFill>
                <a:latin typeface="Aptos Display"/>
                <a:ea typeface="Aptos Display"/>
                <a:cs typeface="Aptos Display"/>
              </a:defRPr>
            </a:pPr>
            <a:r>
              <a:rPr sz="4650" b="1">
                <a:solidFill>
                  <a:srgbClr val="0B8FBD"/>
                </a:solidFill>
                <a:latin typeface="Aptos Display"/>
                <a:ea typeface="Aptos Display"/>
                <a:cs typeface="Aptos Display"/>
              </a:rPr>
              <a:t>≈ 10</a:t>
            </a:r>
          </a:p>
        </p:txBody>
      </p:sp>
      <p:sp>
        <p:nvSpPr>
          <p:cNvPr id="8" name="text">
            <a:extLst xmlns:a="http://schemas.openxmlformats.org/drawingml/2006/main">
              <a:ext uri="{FF2B5EF4-FFF2-40B4-BE49-F238E27FC236}">
                <a16:creationId xmlns:a16="http://schemas.microsoft.com/office/drawing/2014/main" id="{7ED8E5F8-4CD3-4AB9-A710-2E20EFB0B049}"/>
              </a:ext>
            </a:extLst>
          </p:cNvPr>
          <p:cNvSpPr>
            <a:spLocks xmlns:a="http://schemas.openxmlformats.org/drawingml/2006/main" noGrp="1"/>
          </p:cNvSpPr>
          <p:nvPr/>
        </p:nvSpPr>
        <p:spPr>
          <a:xfrm xmlns:a="http://schemas.openxmlformats.org/drawingml/2006/main">
            <a:off x="1066800" y="27813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ETL à migrer</a:t>
            </a:r>
          </a:p>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de R vers Python</a:t>
            </a:r>
          </a:p>
        </p:txBody>
      </p:sp>
      <p:sp>
        <p:nvSpPr>
          <p:cNvPr id="9" name="text">
            <a:extLst xmlns:a="http://schemas.openxmlformats.org/drawingml/2006/main">
              <a:ext uri="{FF2B5EF4-FFF2-40B4-BE49-F238E27FC236}">
                <a16:creationId xmlns:a16="http://schemas.microsoft.com/office/drawing/2014/main" id="{33F54BCF-D66D-4B80-804C-95F4E008DBF4}"/>
              </a:ext>
            </a:extLst>
          </p:cNvPr>
          <p:cNvSpPr>
            <a:spLocks xmlns:a="http://schemas.openxmlformats.org/drawingml/2006/main" noGrp="1"/>
          </p:cNvSpPr>
          <p:nvPr/>
        </p:nvSpPr>
        <p:spPr>
          <a:xfrm xmlns:a="http://schemas.openxmlformats.org/drawingml/2006/main">
            <a:off x="3638550" y="169545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0">
                <a:solidFill>
                  <a:srgbClr val="081B2D"/>
                </a:solidFill>
                <a:latin typeface="Aptos"/>
                <a:ea typeface="Aptos"/>
                <a:cs typeface="Aptos"/>
              </a:defRPr>
            </a:pPr>
            <a:r>
              <a:rPr sz="1725" b="0">
                <a:solidFill>
                  <a:srgbClr val="081B2D"/>
                </a:solidFill>
                <a:latin typeface="Aptos"/>
                <a:ea typeface="Aptos"/>
                <a:cs typeface="Aptos"/>
              </a:rPr>
              <a:t>Chaque traitement devait être analysé, redéveloppé, testé, documenté puis préparé pour la production.</a:t>
            </a:r>
          </a:p>
        </p:txBody>
      </p:sp>
      <p:sp>
        <p:nvSpPr>
          <p:cNvPr id="10" name="rect">
            <a:extLst xmlns:a="http://schemas.openxmlformats.org/drawingml/2006/main">
              <a:ext uri="{FF2B5EF4-FFF2-40B4-BE49-F238E27FC236}">
                <a16:creationId xmlns:a16="http://schemas.microsoft.com/office/drawing/2014/main" id="{8372EF81-A3F0-4441-A89F-BB0BE1FF4E28}"/>
              </a:ext>
            </a:extLst>
          </p:cNvPr>
          <p:cNvSpPr>
            <a:spLocks xmlns:a="http://schemas.openxmlformats.org/drawingml/2006/main" noGrp="1"/>
          </p:cNvSpPr>
          <p:nvPr/>
        </p:nvSpPr>
        <p:spPr>
          <a:xfrm xmlns:a="http://schemas.openxmlformats.org/drawingml/2006/main">
            <a:off x="3638550" y="302895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11" name="text">
            <a:extLst xmlns:a="http://schemas.openxmlformats.org/drawingml/2006/main">
              <a:ext uri="{FF2B5EF4-FFF2-40B4-BE49-F238E27FC236}">
                <a16:creationId xmlns:a16="http://schemas.microsoft.com/office/drawing/2014/main" id="{1D0FCB40-099E-4382-A593-5B1AE441BB84}"/>
              </a:ext>
            </a:extLst>
          </p:cNvPr>
          <p:cNvSpPr>
            <a:spLocks xmlns:a="http://schemas.openxmlformats.org/drawingml/2006/main" noGrp="1"/>
          </p:cNvSpPr>
          <p:nvPr/>
        </p:nvSpPr>
        <p:spPr>
          <a:xfrm xmlns:a="http://schemas.openxmlformats.org/drawingml/2006/main">
            <a:off x="373380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Analyse R</a:t>
            </a:r>
          </a:p>
        </p:txBody>
      </p:sp>
      <p:sp>
        <p:nvSpPr>
          <p:cNvPr id="12" name="">
            <a:extLst xmlns:a="http://schemas.openxmlformats.org/drawingml/2006/main">
              <a:ext uri="{FF2B5EF4-FFF2-40B4-BE49-F238E27FC236}">
                <a16:creationId xmlns:a16="http://schemas.microsoft.com/office/drawing/2014/main" id="{2418259E-9FD1-48DB-B7AC-05D21926237F}"/>
              </a:ext>
            </a:extLst>
          </p:cNvPr>
          <p:cNvSpPr>
            <a:spLocks xmlns:a="http://schemas.openxmlformats.org/drawingml/2006/main" noGrp="1"/>
          </p:cNvSpPr>
          <p:nvPr/>
        </p:nvSpPr>
        <p:spPr>
          <a:xfrm xmlns:a="http://schemas.openxmlformats.org/drawingml/2006/main">
            <a:off x="4876800" y="327660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3" name="rect">
            <a:extLst xmlns:a="http://schemas.openxmlformats.org/drawingml/2006/main">
              <a:ext uri="{FF2B5EF4-FFF2-40B4-BE49-F238E27FC236}">
                <a16:creationId xmlns:a16="http://schemas.microsoft.com/office/drawing/2014/main" id="{DBA588C3-4877-4C0A-9790-BEC83D3C2726}"/>
              </a:ext>
            </a:extLst>
          </p:cNvPr>
          <p:cNvSpPr>
            <a:spLocks xmlns:a="http://schemas.openxmlformats.org/drawingml/2006/main" noGrp="1"/>
          </p:cNvSpPr>
          <p:nvPr/>
        </p:nvSpPr>
        <p:spPr>
          <a:xfrm xmlns:a="http://schemas.openxmlformats.org/drawingml/2006/main">
            <a:off x="5181600" y="302895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14" name="text">
            <a:extLst xmlns:a="http://schemas.openxmlformats.org/drawingml/2006/main">
              <a:ext uri="{FF2B5EF4-FFF2-40B4-BE49-F238E27FC236}">
                <a16:creationId xmlns:a16="http://schemas.microsoft.com/office/drawing/2014/main" id="{AFD516FF-A261-486D-A94D-2E44FBBDF517}"/>
              </a:ext>
            </a:extLst>
          </p:cNvPr>
          <p:cNvSpPr>
            <a:spLocks xmlns:a="http://schemas.openxmlformats.org/drawingml/2006/main" noGrp="1"/>
          </p:cNvSpPr>
          <p:nvPr/>
        </p:nvSpPr>
        <p:spPr>
          <a:xfrm xmlns:a="http://schemas.openxmlformats.org/drawingml/2006/main">
            <a:off x="527685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Règles métier</a:t>
            </a:r>
          </a:p>
        </p:txBody>
      </p:sp>
      <p:sp>
        <p:nvSpPr>
          <p:cNvPr id="15" name="">
            <a:extLst xmlns:a="http://schemas.openxmlformats.org/drawingml/2006/main">
              <a:ext uri="{FF2B5EF4-FFF2-40B4-BE49-F238E27FC236}">
                <a16:creationId xmlns:a16="http://schemas.microsoft.com/office/drawing/2014/main" id="{752E332E-1B9C-4041-82A9-C2FEEB10F9FE}"/>
              </a:ext>
            </a:extLst>
          </p:cNvPr>
          <p:cNvSpPr>
            <a:spLocks xmlns:a="http://schemas.openxmlformats.org/drawingml/2006/main" noGrp="1"/>
          </p:cNvSpPr>
          <p:nvPr/>
        </p:nvSpPr>
        <p:spPr>
          <a:xfrm xmlns:a="http://schemas.openxmlformats.org/drawingml/2006/main">
            <a:off x="6419850" y="327660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6" name="rect">
            <a:extLst xmlns:a="http://schemas.openxmlformats.org/drawingml/2006/main">
              <a:ext uri="{FF2B5EF4-FFF2-40B4-BE49-F238E27FC236}">
                <a16:creationId xmlns:a16="http://schemas.microsoft.com/office/drawing/2014/main" id="{98D4EED3-D83A-4A10-9B9C-64CC80A82A44}"/>
              </a:ext>
            </a:extLst>
          </p:cNvPr>
          <p:cNvSpPr>
            <a:spLocks xmlns:a="http://schemas.openxmlformats.org/drawingml/2006/main" noGrp="1"/>
          </p:cNvSpPr>
          <p:nvPr/>
        </p:nvSpPr>
        <p:spPr>
          <a:xfrm xmlns:a="http://schemas.openxmlformats.org/drawingml/2006/main">
            <a:off x="6724650" y="3028950"/>
            <a:ext cx="1219200" cy="495300"/>
          </a:xfrm>
          <a:prstGeom xmlns:a="http://schemas.openxmlformats.org/drawingml/2006/main" prst="roundRect">
            <a:avLst>
              <a:gd name="adj" fmla="val 23077"/>
            </a:avLst>
          </a:prstGeom>
          <a:solidFill xmlns:a="http://schemas.openxmlformats.org/drawingml/2006/main">
            <a:srgbClr val="0B8FBD"/>
          </a:solidFill>
          <a:ln xmlns:a="http://schemas.openxmlformats.org/drawingml/2006/main" w="10478">
            <a:solidFill>
              <a:srgbClr val="B8DDE5"/>
            </a:solidFill>
            <a:prstDash val="solid"/>
          </a:ln>
        </p:spPr>
      </p:sp>
      <p:sp>
        <p:nvSpPr>
          <p:cNvPr id="17" name="text">
            <a:extLst xmlns:a="http://schemas.openxmlformats.org/drawingml/2006/main">
              <a:ext uri="{FF2B5EF4-FFF2-40B4-BE49-F238E27FC236}">
                <a16:creationId xmlns:a16="http://schemas.microsoft.com/office/drawing/2014/main" id="{21C28A2C-DA2D-4E44-805D-9E4D693046EF}"/>
              </a:ext>
            </a:extLst>
          </p:cNvPr>
          <p:cNvSpPr>
            <a:spLocks xmlns:a="http://schemas.openxmlformats.org/drawingml/2006/main" noGrp="1"/>
          </p:cNvSpPr>
          <p:nvPr/>
        </p:nvSpPr>
        <p:spPr>
          <a:xfrm xmlns:a="http://schemas.openxmlformats.org/drawingml/2006/main">
            <a:off x="681990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FFFFFF"/>
                </a:solidFill>
                <a:latin typeface="Aptos"/>
                <a:ea typeface="Aptos"/>
                <a:cs typeface="Aptos"/>
              </a:defRPr>
            </a:pPr>
            <a:r>
              <a:rPr sz="990" b="1">
                <a:solidFill>
                  <a:srgbClr val="FFFFFF"/>
                </a:solidFill>
                <a:latin typeface="Aptos"/>
                <a:ea typeface="Aptos"/>
                <a:cs typeface="Aptos"/>
              </a:rPr>
              <a:t>Python</a:t>
            </a:r>
          </a:p>
        </p:txBody>
      </p:sp>
      <p:sp>
        <p:nvSpPr>
          <p:cNvPr id="18" name="">
            <a:extLst xmlns:a="http://schemas.openxmlformats.org/drawingml/2006/main">
              <a:ext uri="{FF2B5EF4-FFF2-40B4-BE49-F238E27FC236}">
                <a16:creationId xmlns:a16="http://schemas.microsoft.com/office/drawing/2014/main" id="{88FE03CA-A9C2-4163-B945-20C75B46C57B}"/>
              </a:ext>
            </a:extLst>
          </p:cNvPr>
          <p:cNvSpPr>
            <a:spLocks xmlns:a="http://schemas.openxmlformats.org/drawingml/2006/main" noGrp="1"/>
          </p:cNvSpPr>
          <p:nvPr/>
        </p:nvSpPr>
        <p:spPr>
          <a:xfrm xmlns:a="http://schemas.openxmlformats.org/drawingml/2006/main">
            <a:off x="7962900" y="327660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9" name="rect">
            <a:extLst xmlns:a="http://schemas.openxmlformats.org/drawingml/2006/main">
              <a:ext uri="{FF2B5EF4-FFF2-40B4-BE49-F238E27FC236}">
                <a16:creationId xmlns:a16="http://schemas.microsoft.com/office/drawing/2014/main" id="{E27D96C3-46C8-47C1-8E87-549C4A585850}"/>
              </a:ext>
            </a:extLst>
          </p:cNvPr>
          <p:cNvSpPr>
            <a:spLocks xmlns:a="http://schemas.openxmlformats.org/drawingml/2006/main" noGrp="1"/>
          </p:cNvSpPr>
          <p:nvPr/>
        </p:nvSpPr>
        <p:spPr>
          <a:xfrm xmlns:a="http://schemas.openxmlformats.org/drawingml/2006/main">
            <a:off x="8267700" y="302895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20" name="text">
            <a:extLst xmlns:a="http://schemas.openxmlformats.org/drawingml/2006/main">
              <a:ext uri="{FF2B5EF4-FFF2-40B4-BE49-F238E27FC236}">
                <a16:creationId xmlns:a16="http://schemas.microsoft.com/office/drawing/2014/main" id="{5FB6856A-7020-4FD0-AA56-DB1B78B92B8F}"/>
              </a:ext>
            </a:extLst>
          </p:cNvPr>
          <p:cNvSpPr>
            <a:spLocks xmlns:a="http://schemas.openxmlformats.org/drawingml/2006/main" noGrp="1"/>
          </p:cNvSpPr>
          <p:nvPr/>
        </p:nvSpPr>
        <p:spPr>
          <a:xfrm xmlns:a="http://schemas.openxmlformats.org/drawingml/2006/main">
            <a:off x="836295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Optimisation</a:t>
            </a:r>
          </a:p>
        </p:txBody>
      </p:sp>
      <p:sp>
        <p:nvSpPr>
          <p:cNvPr id="21" name="">
            <a:extLst xmlns:a="http://schemas.openxmlformats.org/drawingml/2006/main">
              <a:ext uri="{FF2B5EF4-FFF2-40B4-BE49-F238E27FC236}">
                <a16:creationId xmlns:a16="http://schemas.microsoft.com/office/drawing/2014/main" id="{3D9364AE-7CDF-4B9C-8042-10937E1FFE8B}"/>
              </a:ext>
            </a:extLst>
          </p:cNvPr>
          <p:cNvSpPr>
            <a:spLocks xmlns:a="http://schemas.openxmlformats.org/drawingml/2006/main" noGrp="1"/>
          </p:cNvSpPr>
          <p:nvPr/>
        </p:nvSpPr>
        <p:spPr>
          <a:xfrm xmlns:a="http://schemas.openxmlformats.org/drawingml/2006/main">
            <a:off x="9505950" y="327660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2" name="rect">
            <a:extLst xmlns:a="http://schemas.openxmlformats.org/drawingml/2006/main">
              <a:ext uri="{FF2B5EF4-FFF2-40B4-BE49-F238E27FC236}">
                <a16:creationId xmlns:a16="http://schemas.microsoft.com/office/drawing/2014/main" id="{486DEE7F-1668-4C3B-B6D3-E3D8C1AFF714}"/>
              </a:ext>
            </a:extLst>
          </p:cNvPr>
          <p:cNvSpPr>
            <a:spLocks xmlns:a="http://schemas.openxmlformats.org/drawingml/2006/main" noGrp="1"/>
          </p:cNvSpPr>
          <p:nvPr/>
        </p:nvSpPr>
        <p:spPr>
          <a:xfrm xmlns:a="http://schemas.openxmlformats.org/drawingml/2006/main">
            <a:off x="9810750" y="302895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23" name="text">
            <a:extLst xmlns:a="http://schemas.openxmlformats.org/drawingml/2006/main">
              <a:ext uri="{FF2B5EF4-FFF2-40B4-BE49-F238E27FC236}">
                <a16:creationId xmlns:a16="http://schemas.microsoft.com/office/drawing/2014/main" id="{4EAC08D8-4687-48F2-874D-920F9FFD63F5}"/>
              </a:ext>
            </a:extLst>
          </p:cNvPr>
          <p:cNvSpPr>
            <a:spLocks xmlns:a="http://schemas.openxmlformats.org/drawingml/2006/main" noGrp="1"/>
          </p:cNvSpPr>
          <p:nvPr/>
        </p:nvSpPr>
        <p:spPr>
          <a:xfrm xmlns:a="http://schemas.openxmlformats.org/drawingml/2006/main">
            <a:off x="990600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Tests</a:t>
            </a:r>
          </a:p>
        </p:txBody>
      </p:sp>
      <p:sp>
        <p:nvSpPr>
          <p:cNvPr id="24" name="rect">
            <a:extLst xmlns:a="http://schemas.openxmlformats.org/drawingml/2006/main">
              <a:ext uri="{FF2B5EF4-FFF2-40B4-BE49-F238E27FC236}">
                <a16:creationId xmlns:a16="http://schemas.microsoft.com/office/drawing/2014/main" id="{C2D3CBEE-5D7C-41E7-A851-2B275B3674CB}"/>
              </a:ext>
            </a:extLst>
          </p:cNvPr>
          <p:cNvSpPr>
            <a:spLocks xmlns:a="http://schemas.openxmlformats.org/drawingml/2006/main" noGrp="1"/>
          </p:cNvSpPr>
          <p:nvPr/>
        </p:nvSpPr>
        <p:spPr>
          <a:xfrm xmlns:a="http://schemas.openxmlformats.org/drawingml/2006/main">
            <a:off x="3638550" y="434340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25" name="text">
            <a:extLst xmlns:a="http://schemas.openxmlformats.org/drawingml/2006/main">
              <a:ext uri="{FF2B5EF4-FFF2-40B4-BE49-F238E27FC236}">
                <a16:creationId xmlns:a16="http://schemas.microsoft.com/office/drawing/2014/main" id="{837646F6-A0C4-4883-A95E-BBC229C59E0B}"/>
              </a:ext>
            </a:extLst>
          </p:cNvPr>
          <p:cNvSpPr>
            <a:spLocks xmlns:a="http://schemas.openxmlformats.org/drawingml/2006/main" noGrp="1"/>
          </p:cNvSpPr>
          <p:nvPr/>
        </p:nvSpPr>
        <p:spPr>
          <a:xfrm xmlns:a="http://schemas.openxmlformats.org/drawingml/2006/main">
            <a:off x="373380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Comparaison</a:t>
            </a:r>
          </a:p>
        </p:txBody>
      </p:sp>
      <p:sp>
        <p:nvSpPr>
          <p:cNvPr id="26" name="">
            <a:extLst xmlns:a="http://schemas.openxmlformats.org/drawingml/2006/main">
              <a:ext uri="{FF2B5EF4-FFF2-40B4-BE49-F238E27FC236}">
                <a16:creationId xmlns:a16="http://schemas.microsoft.com/office/drawing/2014/main" id="{6B08B015-B8C8-4BEF-AEB7-46CD170CEC80}"/>
              </a:ext>
            </a:extLst>
          </p:cNvPr>
          <p:cNvSpPr>
            <a:spLocks xmlns:a="http://schemas.openxmlformats.org/drawingml/2006/main" noGrp="1"/>
          </p:cNvSpPr>
          <p:nvPr/>
        </p:nvSpPr>
        <p:spPr>
          <a:xfrm xmlns:a="http://schemas.openxmlformats.org/drawingml/2006/main">
            <a:off x="4876800" y="459105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7" name="rect">
            <a:extLst xmlns:a="http://schemas.openxmlformats.org/drawingml/2006/main">
              <a:ext uri="{FF2B5EF4-FFF2-40B4-BE49-F238E27FC236}">
                <a16:creationId xmlns:a16="http://schemas.microsoft.com/office/drawing/2014/main" id="{5C13A101-9FEC-4583-99B3-AEA8C3801834}"/>
              </a:ext>
            </a:extLst>
          </p:cNvPr>
          <p:cNvSpPr>
            <a:spLocks xmlns:a="http://schemas.openxmlformats.org/drawingml/2006/main" noGrp="1"/>
          </p:cNvSpPr>
          <p:nvPr/>
        </p:nvSpPr>
        <p:spPr>
          <a:xfrm xmlns:a="http://schemas.openxmlformats.org/drawingml/2006/main">
            <a:off x="5181600" y="434340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28" name="text">
            <a:extLst xmlns:a="http://schemas.openxmlformats.org/drawingml/2006/main">
              <a:ext uri="{FF2B5EF4-FFF2-40B4-BE49-F238E27FC236}">
                <a16:creationId xmlns:a16="http://schemas.microsoft.com/office/drawing/2014/main" id="{6A5AC8DF-D5B1-4D33-8905-5E0171DFC5CC}"/>
              </a:ext>
            </a:extLst>
          </p:cNvPr>
          <p:cNvSpPr>
            <a:spLocks xmlns:a="http://schemas.openxmlformats.org/drawingml/2006/main" noGrp="1"/>
          </p:cNvSpPr>
          <p:nvPr/>
        </p:nvSpPr>
        <p:spPr>
          <a:xfrm xmlns:a="http://schemas.openxmlformats.org/drawingml/2006/main">
            <a:off x="527685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Docker</a:t>
            </a:r>
          </a:p>
        </p:txBody>
      </p:sp>
      <p:sp>
        <p:nvSpPr>
          <p:cNvPr id="29" name="">
            <a:extLst xmlns:a="http://schemas.openxmlformats.org/drawingml/2006/main">
              <a:ext uri="{FF2B5EF4-FFF2-40B4-BE49-F238E27FC236}">
                <a16:creationId xmlns:a16="http://schemas.microsoft.com/office/drawing/2014/main" id="{9C83EDA9-533E-429D-A2FE-0DD2D2A912BD}"/>
              </a:ext>
            </a:extLst>
          </p:cNvPr>
          <p:cNvSpPr>
            <a:spLocks xmlns:a="http://schemas.openxmlformats.org/drawingml/2006/main" noGrp="1"/>
          </p:cNvSpPr>
          <p:nvPr/>
        </p:nvSpPr>
        <p:spPr>
          <a:xfrm xmlns:a="http://schemas.openxmlformats.org/drawingml/2006/main">
            <a:off x="6419850" y="459105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0" name="rect">
            <a:extLst xmlns:a="http://schemas.openxmlformats.org/drawingml/2006/main">
              <a:ext uri="{FF2B5EF4-FFF2-40B4-BE49-F238E27FC236}">
                <a16:creationId xmlns:a16="http://schemas.microsoft.com/office/drawing/2014/main" id="{65A5EB93-5E03-4076-96C3-41A7CCF137D6}"/>
              </a:ext>
            </a:extLst>
          </p:cNvPr>
          <p:cNvSpPr>
            <a:spLocks xmlns:a="http://schemas.openxmlformats.org/drawingml/2006/main" noGrp="1"/>
          </p:cNvSpPr>
          <p:nvPr/>
        </p:nvSpPr>
        <p:spPr>
          <a:xfrm xmlns:a="http://schemas.openxmlformats.org/drawingml/2006/main">
            <a:off x="6724650" y="4343400"/>
            <a:ext cx="1219200" cy="495300"/>
          </a:xfrm>
          <a:prstGeom xmlns:a="http://schemas.openxmlformats.org/drawingml/2006/main" prst="roundRect">
            <a:avLst>
              <a:gd name="adj" fmla="val 23077"/>
            </a:avLst>
          </a:prstGeom>
          <a:solidFill xmlns:a="http://schemas.openxmlformats.org/drawingml/2006/main">
            <a:srgbClr val="0B8FBD"/>
          </a:solidFill>
          <a:ln xmlns:a="http://schemas.openxmlformats.org/drawingml/2006/main" w="10478">
            <a:solidFill>
              <a:srgbClr val="B8DDE5"/>
            </a:solidFill>
            <a:prstDash val="solid"/>
          </a:ln>
        </p:spPr>
      </p:sp>
      <p:sp>
        <p:nvSpPr>
          <p:cNvPr id="31" name="text">
            <a:extLst xmlns:a="http://schemas.openxmlformats.org/drawingml/2006/main">
              <a:ext uri="{FF2B5EF4-FFF2-40B4-BE49-F238E27FC236}">
                <a16:creationId xmlns:a16="http://schemas.microsoft.com/office/drawing/2014/main" id="{D9F12FA9-5BB7-4716-A0E1-938DDF64958C}"/>
              </a:ext>
            </a:extLst>
          </p:cNvPr>
          <p:cNvSpPr>
            <a:spLocks xmlns:a="http://schemas.openxmlformats.org/drawingml/2006/main" noGrp="1"/>
          </p:cNvSpPr>
          <p:nvPr/>
        </p:nvSpPr>
        <p:spPr>
          <a:xfrm xmlns:a="http://schemas.openxmlformats.org/drawingml/2006/main">
            <a:off x="681990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FFFFFF"/>
                </a:solidFill>
                <a:latin typeface="Aptos"/>
                <a:ea typeface="Aptos"/>
                <a:cs typeface="Aptos"/>
              </a:defRPr>
            </a:pPr>
            <a:r>
              <a:rPr sz="990" b="1">
                <a:solidFill>
                  <a:srgbClr val="FFFFFF"/>
                </a:solidFill>
                <a:latin typeface="Aptos"/>
                <a:ea typeface="Aptos"/>
                <a:cs typeface="Aptos"/>
              </a:rPr>
              <a:t>Prefect</a:t>
            </a:r>
          </a:p>
        </p:txBody>
      </p:sp>
      <p:sp>
        <p:nvSpPr>
          <p:cNvPr id="32" name="">
            <a:extLst xmlns:a="http://schemas.openxmlformats.org/drawingml/2006/main">
              <a:ext uri="{FF2B5EF4-FFF2-40B4-BE49-F238E27FC236}">
                <a16:creationId xmlns:a16="http://schemas.microsoft.com/office/drawing/2014/main" id="{CD8EA9C8-2CAC-492F-AB77-A8EB7715BE14}"/>
              </a:ext>
            </a:extLst>
          </p:cNvPr>
          <p:cNvSpPr>
            <a:spLocks xmlns:a="http://schemas.openxmlformats.org/drawingml/2006/main" noGrp="1"/>
          </p:cNvSpPr>
          <p:nvPr/>
        </p:nvSpPr>
        <p:spPr>
          <a:xfrm xmlns:a="http://schemas.openxmlformats.org/drawingml/2006/main">
            <a:off x="7962900" y="459105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3" name="rect">
            <a:extLst xmlns:a="http://schemas.openxmlformats.org/drawingml/2006/main">
              <a:ext uri="{FF2B5EF4-FFF2-40B4-BE49-F238E27FC236}">
                <a16:creationId xmlns:a16="http://schemas.microsoft.com/office/drawing/2014/main" id="{60E359F0-23E2-4459-836B-1FE82925B8F9}"/>
              </a:ext>
            </a:extLst>
          </p:cNvPr>
          <p:cNvSpPr>
            <a:spLocks xmlns:a="http://schemas.openxmlformats.org/drawingml/2006/main" noGrp="1"/>
          </p:cNvSpPr>
          <p:nvPr/>
        </p:nvSpPr>
        <p:spPr>
          <a:xfrm xmlns:a="http://schemas.openxmlformats.org/drawingml/2006/main">
            <a:off x="8267700" y="434340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34" name="text">
            <a:extLst xmlns:a="http://schemas.openxmlformats.org/drawingml/2006/main">
              <a:ext uri="{FF2B5EF4-FFF2-40B4-BE49-F238E27FC236}">
                <a16:creationId xmlns:a16="http://schemas.microsoft.com/office/drawing/2014/main" id="{E1680B03-FCBB-4481-B113-223BA1FF0364}"/>
              </a:ext>
            </a:extLst>
          </p:cNvPr>
          <p:cNvSpPr>
            <a:spLocks xmlns:a="http://schemas.openxmlformats.org/drawingml/2006/main" noGrp="1"/>
          </p:cNvSpPr>
          <p:nvPr/>
        </p:nvSpPr>
        <p:spPr>
          <a:xfrm xmlns:a="http://schemas.openxmlformats.org/drawingml/2006/main">
            <a:off x="836295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Documentation</a:t>
            </a:r>
          </a:p>
        </p:txBody>
      </p:sp>
      <p:sp>
        <p:nvSpPr>
          <p:cNvPr id="35" name="">
            <a:extLst xmlns:a="http://schemas.openxmlformats.org/drawingml/2006/main">
              <a:ext uri="{FF2B5EF4-FFF2-40B4-BE49-F238E27FC236}">
                <a16:creationId xmlns:a16="http://schemas.microsoft.com/office/drawing/2014/main" id="{87CE8A33-30A5-4566-ABD9-B0CAE093014C}"/>
              </a:ext>
            </a:extLst>
          </p:cNvPr>
          <p:cNvSpPr>
            <a:spLocks xmlns:a="http://schemas.openxmlformats.org/drawingml/2006/main" noGrp="1"/>
          </p:cNvSpPr>
          <p:nvPr/>
        </p:nvSpPr>
        <p:spPr>
          <a:xfrm xmlns:a="http://schemas.openxmlformats.org/drawingml/2006/main">
            <a:off x="9505950" y="459105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6" name="rect">
            <a:extLst xmlns:a="http://schemas.openxmlformats.org/drawingml/2006/main">
              <a:ext uri="{FF2B5EF4-FFF2-40B4-BE49-F238E27FC236}">
                <a16:creationId xmlns:a16="http://schemas.microsoft.com/office/drawing/2014/main" id="{AD9A7BB1-6F5B-40DB-B7EA-636CE6CEEECB}"/>
              </a:ext>
            </a:extLst>
          </p:cNvPr>
          <p:cNvSpPr>
            <a:spLocks xmlns:a="http://schemas.openxmlformats.org/drawingml/2006/main" noGrp="1"/>
          </p:cNvSpPr>
          <p:nvPr/>
        </p:nvSpPr>
        <p:spPr>
          <a:xfrm xmlns:a="http://schemas.openxmlformats.org/drawingml/2006/main">
            <a:off x="9810750" y="434340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37" name="text">
            <a:extLst xmlns:a="http://schemas.openxmlformats.org/drawingml/2006/main">
              <a:ext uri="{FF2B5EF4-FFF2-40B4-BE49-F238E27FC236}">
                <a16:creationId xmlns:a16="http://schemas.microsoft.com/office/drawing/2014/main" id="{A46479DC-5D43-41A9-87F9-C9DB25B54180}"/>
              </a:ext>
            </a:extLst>
          </p:cNvPr>
          <p:cNvSpPr>
            <a:spLocks xmlns:a="http://schemas.openxmlformats.org/drawingml/2006/main" noGrp="1"/>
          </p:cNvSpPr>
          <p:nvPr/>
        </p:nvSpPr>
        <p:spPr>
          <a:xfrm xmlns:a="http://schemas.openxmlformats.org/drawingml/2006/main">
            <a:off x="990600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Production</a:t>
            </a:r>
          </a:p>
        </p:txBody>
      </p:sp>
      <p:sp>
        <p:nvSpPr>
          <p:cNvPr id="38" name="text">
            <a:extLst xmlns:a="http://schemas.openxmlformats.org/drawingml/2006/main">
              <a:ext uri="{FF2B5EF4-FFF2-40B4-BE49-F238E27FC236}">
                <a16:creationId xmlns:a16="http://schemas.microsoft.com/office/drawing/2014/main" id="{7E09BDB6-E697-4F0E-95E6-7BCAE601B66C}"/>
              </a:ext>
            </a:extLst>
          </p:cNvPr>
          <p:cNvSpPr>
            <a:spLocks xmlns:a="http://schemas.openxmlformats.org/drawingml/2006/main" noGrp="1"/>
          </p:cNvSpPr>
          <p:nvPr/>
        </p:nvSpPr>
        <p:spPr>
          <a:xfrm xmlns:a="http://schemas.openxmlformats.org/drawingml/2006/main">
            <a:off x="1295400" y="5676900"/>
            <a:ext cx="9601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00" b="1">
                <a:solidFill>
                  <a:srgbClr val="081B2D"/>
                </a:solidFill>
                <a:latin typeface="Aptos"/>
                <a:ea typeface="Aptos"/>
                <a:cs typeface="Aptos"/>
              </a:defRPr>
            </a:pPr>
            <a:r>
              <a:rPr sz="1500" b="1">
                <a:solidFill>
                  <a:srgbClr val="081B2D"/>
                </a:solidFill>
                <a:latin typeface="Aptos"/>
                <a:ea typeface="Aptos"/>
                <a:cs typeface="Aptos"/>
              </a:rPr>
              <a:t>Message clé : la mission ne consistait pas seulement à traduire du R en Python, mais à conserver la logique fonctionnelle tout en industrialisant les traitements.</a:t>
            </a:r>
          </a:p>
        </p:txBody>
      </p:sp>
    </p:spTree>
    <p:extLst>
      <p:ext uri="{BB962C8B-B14F-4D97-AF65-F5344CB8AC3E}">
        <p14:creationId xmlns:p14="http://schemas.microsoft.com/office/powerpoint/2010/main" val="1732475208"/>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45312D85-FBB1-4284-A8FB-76BDF3BA3CD2}"/>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Stack technique du projet</a:t>
            </a:r>
          </a:p>
        </p:txBody>
      </p:sp>
      <p:sp>
        <p:nvSpPr>
          <p:cNvPr id="2" name="slide-number">
            <a:extLst xmlns:a="http://schemas.openxmlformats.org/drawingml/2006/main">
              <a:ext uri="{FF2B5EF4-FFF2-40B4-BE49-F238E27FC236}">
                <a16:creationId xmlns:a16="http://schemas.microsoft.com/office/drawing/2014/main" id="{EB415E2D-42B2-4BBB-8F0C-E461EE8031C3}"/>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08</a:t>
            </a:r>
          </a:p>
        </p:txBody>
      </p:sp>
      <p:sp>
        <p:nvSpPr>
          <p:cNvPr id="3" name="kicker">
            <a:extLst xmlns:a="http://schemas.openxmlformats.org/drawingml/2006/main">
              <a:ext uri="{FF2B5EF4-FFF2-40B4-BE49-F238E27FC236}">
                <a16:creationId xmlns:a16="http://schemas.microsoft.com/office/drawing/2014/main" id="{6989FB8A-3E47-4F69-A617-0BF5A16A6C24}"/>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05DA2EE8-B772-40F1-8F93-B91E298641E3}"/>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EB92E18F-9C54-4932-9374-181156F57506}"/>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A37BD4C4-E15F-4BA6-B1B1-C83EDFC2893D}"/>
              </a:ext>
            </a:extLst>
          </p:cNvPr>
          <p:cNvSpPr>
            <a:spLocks xmlns:a="http://schemas.openxmlformats.org/drawingml/2006/main" noGrp="1"/>
          </p:cNvSpPr>
          <p:nvPr/>
        </p:nvSpPr>
        <p:spPr>
          <a:xfrm xmlns:a="http://schemas.openxmlformats.org/drawingml/2006/main">
            <a:off x="1143000" y="1524000"/>
            <a:ext cx="9906000" cy="4476750"/>
          </a:xfrm>
          <a:prstGeom xmlns:a="http://schemas.openxmlformats.org/drawingml/2006/main" prst="roundRect">
            <a:avLst>
              <a:gd name="adj" fmla="val 3830"/>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text">
            <a:extLst xmlns:a="http://schemas.openxmlformats.org/drawingml/2006/main">
              <a:ext uri="{FF2B5EF4-FFF2-40B4-BE49-F238E27FC236}">
                <a16:creationId xmlns:a16="http://schemas.microsoft.com/office/drawing/2014/main" id="{D7F50D2E-9407-4486-B462-9C4EDEB66C18}"/>
              </a:ext>
            </a:extLst>
          </p:cNvPr>
          <p:cNvSpPr>
            <a:spLocks xmlns:a="http://schemas.openxmlformats.org/drawingml/2006/main" noGrp="1"/>
          </p:cNvSpPr>
          <p:nvPr/>
        </p:nvSpPr>
        <p:spPr>
          <a:xfrm xmlns:a="http://schemas.openxmlformats.org/drawingml/2006/main">
            <a:off x="1581150" y="20193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081B2D"/>
                </a:solidFill>
                <a:latin typeface="Aptos"/>
                <a:ea typeface="Aptos"/>
                <a:cs typeface="Aptos"/>
              </a:defRPr>
            </a:pPr>
            <a:r>
              <a:rPr sz="1950" b="1">
                <a:solidFill>
                  <a:srgbClr val="081B2D"/>
                </a:solidFill>
                <a:latin typeface="Aptos"/>
                <a:ea typeface="Aptos"/>
                <a:cs typeface="Aptos"/>
              </a:rPr>
              <a:t>Les outils utilisés couvraient les besoins principaux du projet :</a:t>
            </a:r>
          </a:p>
        </p:txBody>
      </p:sp>
      <p:sp>
        <p:nvSpPr>
          <p:cNvPr id="8" name="rect">
            <a:extLst xmlns:a="http://schemas.openxmlformats.org/drawingml/2006/main">
              <a:ext uri="{FF2B5EF4-FFF2-40B4-BE49-F238E27FC236}">
                <a16:creationId xmlns:a16="http://schemas.microsoft.com/office/drawing/2014/main" id="{4FE3575C-49BD-4A0A-B48E-10C4065B0E7B}"/>
              </a:ext>
            </a:extLst>
          </p:cNvPr>
          <p:cNvSpPr>
            <a:spLocks xmlns:a="http://schemas.openxmlformats.org/drawingml/2006/main" noGrp="1"/>
          </p:cNvSpPr>
          <p:nvPr/>
        </p:nvSpPr>
        <p:spPr>
          <a:xfrm xmlns:a="http://schemas.openxmlformats.org/drawingml/2006/main">
            <a:off x="1600200" y="2771775"/>
            <a:ext cx="114300" cy="1143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DFCBE31B-B538-4773-9D6C-358A90B83AE1}"/>
              </a:ext>
            </a:extLst>
          </p:cNvPr>
          <p:cNvSpPr>
            <a:spLocks xmlns:a="http://schemas.openxmlformats.org/drawingml/2006/main" noGrp="1"/>
          </p:cNvSpPr>
          <p:nvPr/>
        </p:nvSpPr>
        <p:spPr>
          <a:xfrm xmlns:a="http://schemas.openxmlformats.org/drawingml/2006/main">
            <a:off x="1924050" y="26860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Données</a:t>
            </a:r>
          </a:p>
        </p:txBody>
      </p:sp>
      <p:sp>
        <p:nvSpPr>
          <p:cNvPr id="10" name="text">
            <a:extLst xmlns:a="http://schemas.openxmlformats.org/drawingml/2006/main">
              <a:ext uri="{FF2B5EF4-FFF2-40B4-BE49-F238E27FC236}">
                <a16:creationId xmlns:a16="http://schemas.microsoft.com/office/drawing/2014/main" id="{F2B3E982-2316-486E-BFCB-2D60D1C73640}"/>
              </a:ext>
            </a:extLst>
          </p:cNvPr>
          <p:cNvSpPr>
            <a:spLocks xmlns:a="http://schemas.openxmlformats.org/drawingml/2006/main" noGrp="1"/>
          </p:cNvSpPr>
          <p:nvPr/>
        </p:nvSpPr>
        <p:spPr>
          <a:xfrm xmlns:a="http://schemas.openxmlformats.org/drawingml/2006/main">
            <a:off x="4286250" y="2667000"/>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Data Warehouse</a:t>
            </a:r>
          </a:p>
        </p:txBody>
      </p:sp>
      <p:sp>
        <p:nvSpPr>
          <p:cNvPr id="11" name="rect">
            <a:extLst xmlns:a="http://schemas.openxmlformats.org/drawingml/2006/main">
              <a:ext uri="{FF2B5EF4-FFF2-40B4-BE49-F238E27FC236}">
                <a16:creationId xmlns:a16="http://schemas.microsoft.com/office/drawing/2014/main" id="{8B23BED2-F5E7-41F7-BCDC-726165D0E984}"/>
              </a:ext>
            </a:extLst>
          </p:cNvPr>
          <p:cNvSpPr>
            <a:spLocks xmlns:a="http://schemas.openxmlformats.org/drawingml/2006/main" noGrp="1"/>
          </p:cNvSpPr>
          <p:nvPr/>
        </p:nvSpPr>
        <p:spPr>
          <a:xfrm xmlns:a="http://schemas.openxmlformats.org/drawingml/2006/main">
            <a:off x="1600200" y="3495675"/>
            <a:ext cx="114300" cy="1143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88413169-8523-4969-965C-B9EF47F5AE04}"/>
              </a:ext>
            </a:extLst>
          </p:cNvPr>
          <p:cNvSpPr>
            <a:spLocks xmlns:a="http://schemas.openxmlformats.org/drawingml/2006/main" noGrp="1"/>
          </p:cNvSpPr>
          <p:nvPr/>
        </p:nvSpPr>
        <p:spPr>
          <a:xfrm xmlns:a="http://schemas.openxmlformats.org/drawingml/2006/main">
            <a:off x="1924050" y="34099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Développement</a:t>
            </a:r>
          </a:p>
        </p:txBody>
      </p:sp>
      <p:sp>
        <p:nvSpPr>
          <p:cNvPr id="13" name="text">
            <a:extLst xmlns:a="http://schemas.openxmlformats.org/drawingml/2006/main">
              <a:ext uri="{FF2B5EF4-FFF2-40B4-BE49-F238E27FC236}">
                <a16:creationId xmlns:a16="http://schemas.microsoft.com/office/drawing/2014/main" id="{AB9D14AD-6394-4798-BA85-73CD21A93E98}"/>
              </a:ext>
            </a:extLst>
          </p:cNvPr>
          <p:cNvSpPr>
            <a:spLocks xmlns:a="http://schemas.openxmlformats.org/drawingml/2006/main" noGrp="1"/>
          </p:cNvSpPr>
          <p:nvPr/>
        </p:nvSpPr>
        <p:spPr>
          <a:xfrm xmlns:a="http://schemas.openxmlformats.org/drawingml/2006/main">
            <a:off x="4286250" y="3390900"/>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Pandas</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SQLAlchemy</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Poetry</a:t>
            </a:r>
          </a:p>
        </p:txBody>
      </p:sp>
      <p:sp>
        <p:nvSpPr>
          <p:cNvPr id="14" name="rect">
            <a:extLst xmlns:a="http://schemas.openxmlformats.org/drawingml/2006/main">
              <a:ext uri="{FF2B5EF4-FFF2-40B4-BE49-F238E27FC236}">
                <a16:creationId xmlns:a16="http://schemas.microsoft.com/office/drawing/2014/main" id="{2A221FC6-EF63-4830-8689-6943FEDCCB2E}"/>
              </a:ext>
            </a:extLst>
          </p:cNvPr>
          <p:cNvSpPr>
            <a:spLocks xmlns:a="http://schemas.openxmlformats.org/drawingml/2006/main" noGrp="1"/>
          </p:cNvSpPr>
          <p:nvPr/>
        </p:nvSpPr>
        <p:spPr>
          <a:xfrm xmlns:a="http://schemas.openxmlformats.org/drawingml/2006/main">
            <a:off x="1600200" y="4219575"/>
            <a:ext cx="114300" cy="1143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FE0D71F2-2B48-4956-919D-B9A7FD3BBE8C}"/>
              </a:ext>
            </a:extLst>
          </p:cNvPr>
          <p:cNvSpPr>
            <a:spLocks xmlns:a="http://schemas.openxmlformats.org/drawingml/2006/main" noGrp="1"/>
          </p:cNvSpPr>
          <p:nvPr/>
        </p:nvSpPr>
        <p:spPr>
          <a:xfrm xmlns:a="http://schemas.openxmlformats.org/drawingml/2006/main">
            <a:off x="1924050" y="41338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Industrialisation</a:t>
            </a:r>
          </a:p>
        </p:txBody>
      </p:sp>
      <p:sp>
        <p:nvSpPr>
          <p:cNvPr id="16" name="text">
            <a:extLst xmlns:a="http://schemas.openxmlformats.org/drawingml/2006/main">
              <a:ext uri="{FF2B5EF4-FFF2-40B4-BE49-F238E27FC236}">
                <a16:creationId xmlns:a16="http://schemas.microsoft.com/office/drawing/2014/main" id="{E42C15DD-ABF7-4216-95B9-5CD7774854EF}"/>
              </a:ext>
            </a:extLst>
          </p:cNvPr>
          <p:cNvSpPr>
            <a:spLocks xmlns:a="http://schemas.openxmlformats.org/drawingml/2006/main" noGrp="1"/>
          </p:cNvSpPr>
          <p:nvPr/>
        </p:nvSpPr>
        <p:spPr>
          <a:xfrm xmlns:a="http://schemas.openxmlformats.org/drawingml/2006/main">
            <a:off x="4286250" y="4114800"/>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Prefect</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Docker</a:t>
            </a:r>
          </a:p>
        </p:txBody>
      </p:sp>
      <p:sp>
        <p:nvSpPr>
          <p:cNvPr id="17" name="rect">
            <a:extLst xmlns:a="http://schemas.openxmlformats.org/drawingml/2006/main">
              <a:ext uri="{FF2B5EF4-FFF2-40B4-BE49-F238E27FC236}">
                <a16:creationId xmlns:a16="http://schemas.microsoft.com/office/drawing/2014/main" id="{EB80B4D8-78B2-4C75-AC53-5DB0A7476CF5}"/>
              </a:ext>
            </a:extLst>
          </p:cNvPr>
          <p:cNvSpPr>
            <a:spLocks xmlns:a="http://schemas.openxmlformats.org/drawingml/2006/main" noGrp="1"/>
          </p:cNvSpPr>
          <p:nvPr/>
        </p:nvSpPr>
        <p:spPr>
          <a:xfrm xmlns:a="http://schemas.openxmlformats.org/drawingml/2006/main">
            <a:off x="1600200" y="4943475"/>
            <a:ext cx="114300" cy="1143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122F2ADD-A854-4803-B1DD-909D52B923D4}"/>
              </a:ext>
            </a:extLst>
          </p:cNvPr>
          <p:cNvSpPr>
            <a:spLocks xmlns:a="http://schemas.openxmlformats.org/drawingml/2006/main" noGrp="1"/>
          </p:cNvSpPr>
          <p:nvPr/>
        </p:nvSpPr>
        <p:spPr>
          <a:xfrm xmlns:a="http://schemas.openxmlformats.org/drawingml/2006/main">
            <a:off x="1924050" y="48577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Projet</a:t>
            </a:r>
          </a:p>
        </p:txBody>
      </p:sp>
      <p:sp>
        <p:nvSpPr>
          <p:cNvPr id="19" name="text">
            <a:extLst xmlns:a="http://schemas.openxmlformats.org/drawingml/2006/main">
              <a:ext uri="{FF2B5EF4-FFF2-40B4-BE49-F238E27FC236}">
                <a16:creationId xmlns:a16="http://schemas.microsoft.com/office/drawing/2014/main" id="{DD70DF75-4A5C-460A-AA7F-667DEFA3CA4D}"/>
              </a:ext>
            </a:extLst>
          </p:cNvPr>
          <p:cNvSpPr>
            <a:spLocks xmlns:a="http://schemas.openxmlformats.org/drawingml/2006/main" noGrp="1"/>
          </p:cNvSpPr>
          <p:nvPr/>
        </p:nvSpPr>
        <p:spPr>
          <a:xfrm xmlns:a="http://schemas.openxmlformats.org/drawingml/2006/main">
            <a:off x="4286250" y="4838700"/>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GitLab</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Jira</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Confluence</a:t>
            </a:r>
          </a:p>
        </p:txBody>
      </p:sp>
    </p:spTree>
    <p:extLst>
      <p:ext uri="{BB962C8B-B14F-4D97-AF65-F5344CB8AC3E}">
        <p14:creationId xmlns:p14="http://schemas.microsoft.com/office/powerpoint/2010/main" val="666172606"/>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D2021898-B865-4082-B176-EB084259E09C}"/>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Solution : migration R vers Python</a:t>
            </a:r>
          </a:p>
        </p:txBody>
      </p:sp>
      <p:sp>
        <p:nvSpPr>
          <p:cNvPr id="2" name="slide-number">
            <a:extLst xmlns:a="http://schemas.openxmlformats.org/drawingml/2006/main">
              <a:ext uri="{FF2B5EF4-FFF2-40B4-BE49-F238E27FC236}">
                <a16:creationId xmlns:a16="http://schemas.microsoft.com/office/drawing/2014/main" id="{8B492663-5A29-4C88-8AF0-38CC975B15F5}"/>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09</a:t>
            </a:r>
          </a:p>
        </p:txBody>
      </p:sp>
      <p:sp>
        <p:nvSpPr>
          <p:cNvPr id="3" name="kicker">
            <a:extLst xmlns:a="http://schemas.openxmlformats.org/drawingml/2006/main">
              <a:ext uri="{FF2B5EF4-FFF2-40B4-BE49-F238E27FC236}">
                <a16:creationId xmlns:a16="http://schemas.microsoft.com/office/drawing/2014/main" id="{ABC8BDEF-B7E0-473A-AB29-8B0B3F40CE01}"/>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A6B9B0E4-1741-490F-A8D5-324584F26718}"/>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7C205D7F-A495-4E8B-AF29-485F2EA1C448}"/>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586E77EE-DECB-41C7-B647-B605204DA7DE}"/>
              </a:ext>
            </a:extLst>
          </p:cNvPr>
          <p:cNvSpPr>
            <a:spLocks xmlns:a="http://schemas.openxmlformats.org/drawingml/2006/main" noGrp="1"/>
          </p:cNvSpPr>
          <p:nvPr/>
        </p:nvSpPr>
        <p:spPr>
          <a:xfrm xmlns:a="http://schemas.openxmlformats.org/drawingml/2006/main">
            <a:off x="72390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F2734249-5207-49E9-9BAA-E7272A2BE965}"/>
              </a:ext>
            </a:extLst>
          </p:cNvPr>
          <p:cNvSpPr>
            <a:spLocks xmlns:a="http://schemas.openxmlformats.org/drawingml/2006/main" noGrp="1"/>
          </p:cNvSpPr>
          <p:nvPr/>
        </p:nvSpPr>
        <p:spPr>
          <a:xfrm xmlns:a="http://schemas.openxmlformats.org/drawingml/2006/main">
            <a:off x="723900" y="1676400"/>
            <a:ext cx="66675" cy="31432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9DAA77C1-BE15-4BB1-BBB8-D2A00B93214E}"/>
              </a:ext>
            </a:extLst>
          </p:cNvPr>
          <p:cNvSpPr>
            <a:spLocks xmlns:a="http://schemas.openxmlformats.org/drawingml/2006/main" noGrp="1"/>
          </p:cNvSpPr>
          <p:nvPr/>
        </p:nvSpPr>
        <p:spPr>
          <a:xfrm xmlns:a="http://schemas.openxmlformats.org/drawingml/2006/main">
            <a:off x="93345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Avant : ETL historique en R</a:t>
            </a:r>
          </a:p>
        </p:txBody>
      </p:sp>
      <p:sp>
        <p:nvSpPr>
          <p:cNvPr id="9" name="text">
            <a:extLst xmlns:a="http://schemas.openxmlformats.org/drawingml/2006/main">
              <a:ext uri="{FF2B5EF4-FFF2-40B4-BE49-F238E27FC236}">
                <a16:creationId xmlns:a16="http://schemas.microsoft.com/office/drawing/2014/main" id="{80E8BA9B-4584-43BB-837D-48CA4B036180}"/>
              </a:ext>
            </a:extLst>
          </p:cNvPr>
          <p:cNvSpPr>
            <a:spLocks xmlns:a="http://schemas.openxmlformats.org/drawingml/2006/main" noGrp="1"/>
          </p:cNvSpPr>
          <p:nvPr/>
        </p:nvSpPr>
        <p:spPr>
          <a:xfrm xmlns:a="http://schemas.openxmlformats.org/drawingml/2006/main">
            <a:off x="93345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extraction</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transformations</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règles métier</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chargement</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exécution historique</a:t>
            </a:r>
          </a:p>
        </p:txBody>
      </p:sp>
      <p:sp>
        <p:nvSpPr>
          <p:cNvPr id="10" name="rect">
            <a:extLst xmlns:a="http://schemas.openxmlformats.org/drawingml/2006/main">
              <a:ext uri="{FF2B5EF4-FFF2-40B4-BE49-F238E27FC236}">
                <a16:creationId xmlns:a16="http://schemas.microsoft.com/office/drawing/2014/main" id="{EB78F940-68EC-4BE9-AFFA-6E28C238D811}"/>
              </a:ext>
            </a:extLst>
          </p:cNvPr>
          <p:cNvSpPr>
            <a:spLocks xmlns:a="http://schemas.openxmlformats.org/drawingml/2006/main" noGrp="1"/>
          </p:cNvSpPr>
          <p:nvPr/>
        </p:nvSpPr>
        <p:spPr>
          <a:xfrm xmlns:a="http://schemas.openxmlformats.org/drawingml/2006/main">
            <a:off x="813435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DB1967D2-EA1A-4B9A-B79C-DAE70556F37B}"/>
              </a:ext>
            </a:extLst>
          </p:cNvPr>
          <p:cNvSpPr>
            <a:spLocks xmlns:a="http://schemas.openxmlformats.org/drawingml/2006/main" noGrp="1"/>
          </p:cNvSpPr>
          <p:nvPr/>
        </p:nvSpPr>
        <p:spPr>
          <a:xfrm xmlns:a="http://schemas.openxmlformats.org/drawingml/2006/main">
            <a:off x="8134350" y="1676400"/>
            <a:ext cx="66675" cy="31432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4B4F7C6E-A020-4568-9C3C-7B69AC6A26B3}"/>
              </a:ext>
            </a:extLst>
          </p:cNvPr>
          <p:cNvSpPr>
            <a:spLocks xmlns:a="http://schemas.openxmlformats.org/drawingml/2006/main" noGrp="1"/>
          </p:cNvSpPr>
          <p:nvPr/>
        </p:nvSpPr>
        <p:spPr>
          <a:xfrm xmlns:a="http://schemas.openxmlformats.org/drawingml/2006/main">
            <a:off x="834390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Après : ETL Python structuré</a:t>
            </a:r>
          </a:p>
        </p:txBody>
      </p:sp>
      <p:sp>
        <p:nvSpPr>
          <p:cNvPr id="13" name="text">
            <a:extLst xmlns:a="http://schemas.openxmlformats.org/drawingml/2006/main">
              <a:ext uri="{FF2B5EF4-FFF2-40B4-BE49-F238E27FC236}">
                <a16:creationId xmlns:a16="http://schemas.microsoft.com/office/drawing/2014/main" id="{3A46FDE8-F4CF-4B92-BA8A-5B0B9693AF52}"/>
              </a:ext>
            </a:extLst>
          </p:cNvPr>
          <p:cNvSpPr>
            <a:spLocks xmlns:a="http://schemas.openxmlformats.org/drawingml/2006/main" noGrp="1"/>
          </p:cNvSpPr>
          <p:nvPr/>
        </p:nvSpPr>
        <p:spPr>
          <a:xfrm xmlns:a="http://schemas.openxmlformats.org/drawingml/2006/main">
            <a:off x="834390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code modulaire</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dépendances gérées</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tests automatisés</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Docker</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Prefect</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GitLab et documentation</a:t>
            </a:r>
          </a:p>
        </p:txBody>
      </p:sp>
      <p:sp>
        <p:nvSpPr>
          <p:cNvPr id="14" name="rect">
            <a:extLst xmlns:a="http://schemas.openxmlformats.org/drawingml/2006/main">
              <a:ext uri="{FF2B5EF4-FFF2-40B4-BE49-F238E27FC236}">
                <a16:creationId xmlns:a16="http://schemas.microsoft.com/office/drawing/2014/main" id="{9EAE5F9D-2338-41ED-BA11-141257F2DAB9}"/>
              </a:ext>
            </a:extLst>
          </p:cNvPr>
          <p:cNvSpPr>
            <a:spLocks xmlns:a="http://schemas.openxmlformats.org/drawingml/2006/main" noGrp="1"/>
          </p:cNvSpPr>
          <p:nvPr/>
        </p:nvSpPr>
        <p:spPr>
          <a:xfrm xmlns:a="http://schemas.openxmlformats.org/drawingml/2006/main">
            <a:off x="4629150" y="2381250"/>
            <a:ext cx="2933700" cy="156210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9050">
            <a:solidFill>
              <a:srgbClr val="0B8FB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text">
            <a:extLst xmlns:a="http://schemas.openxmlformats.org/drawingml/2006/main">
              <a:ext uri="{FF2B5EF4-FFF2-40B4-BE49-F238E27FC236}">
                <a16:creationId xmlns:a16="http://schemas.microsoft.com/office/drawing/2014/main" id="{71C4C667-DF3B-46AF-BC17-E98D66018273}"/>
              </a:ext>
            </a:extLst>
          </p:cNvPr>
          <p:cNvSpPr>
            <a:spLocks xmlns:a="http://schemas.openxmlformats.org/drawingml/2006/main" noGrp="1"/>
          </p:cNvSpPr>
          <p:nvPr/>
        </p:nvSpPr>
        <p:spPr>
          <a:xfrm xmlns:a="http://schemas.openxmlformats.org/drawingml/2006/main">
            <a:off x="4933950" y="2800350"/>
            <a:ext cx="2324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025" b="1">
                <a:solidFill>
                  <a:srgbClr val="081B2D"/>
                </a:solidFill>
                <a:latin typeface="Aptos"/>
                <a:ea typeface="Aptos"/>
                <a:cs typeface="Aptos"/>
              </a:defRPr>
            </a:pPr>
            <a:r>
              <a:rPr sz="2025" b="1">
                <a:solidFill>
                  <a:srgbClr val="081B2D"/>
                </a:solidFill>
                <a:latin typeface="Aptos"/>
                <a:ea typeface="Aptos"/>
                <a:cs typeface="Aptos"/>
              </a:rPr>
              <a:t>Conservation stricte</a:t>
            </a:r>
          </a:p>
          <a:p xmlns:a="http://schemas.openxmlformats.org/drawingml/2006/main">
            <a:pPr algn="ctr">
              <a:defRPr sz="2025" b="1">
                <a:solidFill>
                  <a:srgbClr val="081B2D"/>
                </a:solidFill>
                <a:latin typeface="Aptos"/>
                <a:ea typeface="Aptos"/>
                <a:cs typeface="Aptos"/>
              </a:defRPr>
            </a:pPr>
            <a:r>
              <a:rPr sz="2025" b="1">
                <a:solidFill>
                  <a:srgbClr val="081B2D"/>
                </a:solidFill>
                <a:latin typeface="Aptos"/>
                <a:ea typeface="Aptos"/>
                <a:cs typeface="Aptos"/>
              </a:rPr>
              <a:t>de la logique métier</a:t>
            </a:r>
          </a:p>
        </p:txBody>
      </p:sp>
      <p:sp>
        <p:nvSpPr>
          <p:cNvPr id="16" name="">
            <a:extLst xmlns:a="http://schemas.openxmlformats.org/drawingml/2006/main">
              <a:ext uri="{FF2B5EF4-FFF2-40B4-BE49-F238E27FC236}">
                <a16:creationId xmlns:a16="http://schemas.microsoft.com/office/drawing/2014/main" id="{E5C9D7D9-4403-4467-876D-8DD4C9FAA1EF}"/>
              </a:ext>
            </a:extLst>
          </p:cNvPr>
          <p:cNvSpPr>
            <a:spLocks xmlns:a="http://schemas.openxmlformats.org/drawingml/2006/main" noGrp="1"/>
          </p:cNvSpPr>
          <p:nvPr/>
        </p:nvSpPr>
        <p:spPr>
          <a:xfrm xmlns:a="http://schemas.openxmlformats.org/drawingml/2006/main">
            <a:off x="4076700" y="3162300"/>
            <a:ext cx="53340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7" name="">
            <a:extLst xmlns:a="http://schemas.openxmlformats.org/drawingml/2006/main">
              <a:ext uri="{FF2B5EF4-FFF2-40B4-BE49-F238E27FC236}">
                <a16:creationId xmlns:a16="http://schemas.microsoft.com/office/drawing/2014/main" id="{569C8FB0-805F-4C62-A5C3-BD532AA03AEA}"/>
              </a:ext>
            </a:extLst>
          </p:cNvPr>
          <p:cNvSpPr>
            <a:spLocks xmlns:a="http://schemas.openxmlformats.org/drawingml/2006/main" noGrp="1"/>
          </p:cNvSpPr>
          <p:nvPr/>
        </p:nvSpPr>
        <p:spPr>
          <a:xfrm xmlns:a="http://schemas.openxmlformats.org/drawingml/2006/main">
            <a:off x="7581900" y="3162300"/>
            <a:ext cx="53340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8" name="text">
            <a:extLst xmlns:a="http://schemas.openxmlformats.org/drawingml/2006/main">
              <a:ext uri="{FF2B5EF4-FFF2-40B4-BE49-F238E27FC236}">
                <a16:creationId xmlns:a16="http://schemas.microsoft.com/office/drawing/2014/main" id="{DC2DDCEA-BB1E-4D66-8AB9-C5DA858B0120}"/>
              </a:ext>
            </a:extLst>
          </p:cNvPr>
          <p:cNvSpPr>
            <a:spLocks xmlns:a="http://schemas.openxmlformats.org/drawingml/2006/main" noGrp="1"/>
          </p:cNvSpPr>
          <p:nvPr/>
        </p:nvSpPr>
        <p:spPr>
          <a:xfrm xmlns:a="http://schemas.openxmlformats.org/drawingml/2006/main">
            <a:off x="933450" y="52959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Difficultés traitées</a:t>
            </a:r>
          </a:p>
        </p:txBody>
      </p:sp>
      <p:sp>
        <p:nvSpPr>
          <p:cNvPr id="19" name="rect">
            <a:extLst xmlns:a="http://schemas.openxmlformats.org/drawingml/2006/main">
              <a:ext uri="{FF2B5EF4-FFF2-40B4-BE49-F238E27FC236}">
                <a16:creationId xmlns:a16="http://schemas.microsoft.com/office/drawing/2014/main" id="{5398DEF4-3E3F-4963-972F-02207536C5FE}"/>
              </a:ext>
            </a:extLst>
          </p:cNvPr>
          <p:cNvSpPr>
            <a:spLocks xmlns:a="http://schemas.openxmlformats.org/drawingml/2006/main" noGrp="1"/>
          </p:cNvSpPr>
          <p:nvPr/>
        </p:nvSpPr>
        <p:spPr>
          <a:xfrm xmlns:a="http://schemas.openxmlformats.org/drawingml/2006/main">
            <a:off x="933450" y="5676900"/>
            <a:ext cx="2190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B8DDE5"/>
            </a:solidFill>
            <a:prstDash val="solid"/>
          </a:ln>
        </p:spPr>
      </p:sp>
      <p:sp>
        <p:nvSpPr>
          <p:cNvPr id="20" name="text">
            <a:extLst xmlns:a="http://schemas.openxmlformats.org/drawingml/2006/main">
              <a:ext uri="{FF2B5EF4-FFF2-40B4-BE49-F238E27FC236}">
                <a16:creationId xmlns:a16="http://schemas.microsoft.com/office/drawing/2014/main" id="{A53F688E-D071-4AAA-84D2-2E0F7F54DA6C}"/>
              </a:ext>
            </a:extLst>
          </p:cNvPr>
          <p:cNvSpPr>
            <a:spLocks xmlns:a="http://schemas.openxmlformats.org/drawingml/2006/main" noGrp="1"/>
          </p:cNvSpPr>
          <p:nvPr/>
        </p:nvSpPr>
        <p:spPr>
          <a:xfrm xmlns:a="http://schemas.openxmlformats.org/drawingml/2006/main">
            <a:off x="1066800" y="57912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506274"/>
                </a:solidFill>
                <a:latin typeface="Aptos"/>
                <a:ea typeface="Aptos"/>
                <a:cs typeface="Aptos"/>
              </a:defRPr>
            </a:pPr>
            <a:r>
              <a:rPr sz="1050" b="1">
                <a:solidFill>
                  <a:srgbClr val="506274"/>
                </a:solidFill>
                <a:latin typeface="Aptos"/>
                <a:ea typeface="Aptos"/>
                <a:cs typeface="Aptos"/>
              </a:rPr>
              <a:t>bibliothèques non équivalentes</a:t>
            </a:r>
          </a:p>
        </p:txBody>
      </p:sp>
      <p:sp>
        <p:nvSpPr>
          <p:cNvPr id="21" name="rect">
            <a:extLst xmlns:a="http://schemas.openxmlformats.org/drawingml/2006/main">
              <a:ext uri="{FF2B5EF4-FFF2-40B4-BE49-F238E27FC236}">
                <a16:creationId xmlns:a16="http://schemas.microsoft.com/office/drawing/2014/main" id="{ED32C001-78B5-4433-9F90-EAEB88EF4E82}"/>
              </a:ext>
            </a:extLst>
          </p:cNvPr>
          <p:cNvSpPr>
            <a:spLocks xmlns:a="http://schemas.openxmlformats.org/drawingml/2006/main" noGrp="1"/>
          </p:cNvSpPr>
          <p:nvPr/>
        </p:nvSpPr>
        <p:spPr>
          <a:xfrm xmlns:a="http://schemas.openxmlformats.org/drawingml/2006/main">
            <a:off x="3524250" y="5676900"/>
            <a:ext cx="2190750" cy="419100"/>
          </a:xfrm>
          <a:prstGeom xmlns:a="http://schemas.openxmlformats.org/drawingml/2006/main" prst="roundRect">
            <a:avLst>
              <a:gd name="adj" fmla="val 27273"/>
            </a:avLst>
          </a:prstGeom>
          <a:solidFill xmlns:a="http://schemas.openxmlformats.org/drawingml/2006/main">
            <a:srgbClr val="E7F6F7"/>
          </a:solidFill>
          <a:ln xmlns:a="http://schemas.openxmlformats.org/drawingml/2006/main" w="9525">
            <a:solidFill>
              <a:srgbClr val="B8DDE5"/>
            </a:solidFill>
            <a:prstDash val="solid"/>
          </a:ln>
        </p:spPr>
      </p:sp>
      <p:sp>
        <p:nvSpPr>
          <p:cNvPr id="22" name="text">
            <a:extLst xmlns:a="http://schemas.openxmlformats.org/drawingml/2006/main">
              <a:ext uri="{FF2B5EF4-FFF2-40B4-BE49-F238E27FC236}">
                <a16:creationId xmlns:a16="http://schemas.microsoft.com/office/drawing/2014/main" id="{1D38E2AC-FB0C-475A-986C-5ECACBDE13C9}"/>
              </a:ext>
            </a:extLst>
          </p:cNvPr>
          <p:cNvSpPr>
            <a:spLocks xmlns:a="http://schemas.openxmlformats.org/drawingml/2006/main" noGrp="1"/>
          </p:cNvSpPr>
          <p:nvPr/>
        </p:nvSpPr>
        <p:spPr>
          <a:xfrm xmlns:a="http://schemas.openxmlformats.org/drawingml/2006/main">
            <a:off x="3657600" y="57912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506274"/>
                </a:solidFill>
                <a:latin typeface="Aptos"/>
                <a:ea typeface="Aptos"/>
                <a:cs typeface="Aptos"/>
              </a:defRPr>
            </a:pPr>
            <a:r>
              <a:rPr sz="1050" b="1">
                <a:solidFill>
                  <a:srgbClr val="506274"/>
                </a:solidFill>
                <a:latin typeface="Aptos"/>
                <a:ea typeface="Aptos"/>
                <a:cs typeface="Aptos"/>
              </a:rPr>
              <a:t>index R à 1 et Python à 0</a:t>
            </a:r>
          </a:p>
        </p:txBody>
      </p:sp>
      <p:sp>
        <p:nvSpPr>
          <p:cNvPr id="23" name="rect">
            <a:extLst xmlns:a="http://schemas.openxmlformats.org/drawingml/2006/main">
              <a:ext uri="{FF2B5EF4-FFF2-40B4-BE49-F238E27FC236}">
                <a16:creationId xmlns:a16="http://schemas.microsoft.com/office/drawing/2014/main" id="{D92E9C17-7501-461B-AFD6-F966F63348E5}"/>
              </a:ext>
            </a:extLst>
          </p:cNvPr>
          <p:cNvSpPr>
            <a:spLocks xmlns:a="http://schemas.openxmlformats.org/drawingml/2006/main" noGrp="1"/>
          </p:cNvSpPr>
          <p:nvPr/>
        </p:nvSpPr>
        <p:spPr>
          <a:xfrm xmlns:a="http://schemas.openxmlformats.org/drawingml/2006/main">
            <a:off x="6115050" y="5676900"/>
            <a:ext cx="2190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B8DDE5"/>
            </a:solidFill>
            <a:prstDash val="solid"/>
          </a:ln>
        </p:spPr>
      </p:sp>
      <p:sp>
        <p:nvSpPr>
          <p:cNvPr id="24" name="text">
            <a:extLst xmlns:a="http://schemas.openxmlformats.org/drawingml/2006/main">
              <a:ext uri="{FF2B5EF4-FFF2-40B4-BE49-F238E27FC236}">
                <a16:creationId xmlns:a16="http://schemas.microsoft.com/office/drawing/2014/main" id="{1AF09DD5-2EB2-4EED-91B5-23B137E87293}"/>
              </a:ext>
            </a:extLst>
          </p:cNvPr>
          <p:cNvSpPr>
            <a:spLocks xmlns:a="http://schemas.openxmlformats.org/drawingml/2006/main" noGrp="1"/>
          </p:cNvSpPr>
          <p:nvPr/>
        </p:nvSpPr>
        <p:spPr>
          <a:xfrm xmlns:a="http://schemas.openxmlformats.org/drawingml/2006/main">
            <a:off x="6248400" y="57912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506274"/>
                </a:solidFill>
                <a:latin typeface="Aptos"/>
                <a:ea typeface="Aptos"/>
                <a:cs typeface="Aptos"/>
              </a:defRPr>
            </a:pPr>
            <a:r>
              <a:rPr sz="1050" b="1">
                <a:solidFill>
                  <a:srgbClr val="506274"/>
                </a:solidFill>
                <a:latin typeface="Aptos"/>
                <a:ea typeface="Aptos"/>
                <a:cs typeface="Aptos"/>
              </a:rPr>
              <a:t>NA en R et NULL en Python</a:t>
            </a:r>
          </a:p>
        </p:txBody>
      </p:sp>
      <p:sp>
        <p:nvSpPr>
          <p:cNvPr id="25" name="rect">
            <a:extLst xmlns:a="http://schemas.openxmlformats.org/drawingml/2006/main">
              <a:ext uri="{FF2B5EF4-FFF2-40B4-BE49-F238E27FC236}">
                <a16:creationId xmlns:a16="http://schemas.microsoft.com/office/drawing/2014/main" id="{7BF6A840-A872-4E17-9690-C4069BD5813F}"/>
              </a:ext>
            </a:extLst>
          </p:cNvPr>
          <p:cNvSpPr>
            <a:spLocks xmlns:a="http://schemas.openxmlformats.org/drawingml/2006/main" noGrp="1"/>
          </p:cNvSpPr>
          <p:nvPr/>
        </p:nvSpPr>
        <p:spPr>
          <a:xfrm xmlns:a="http://schemas.openxmlformats.org/drawingml/2006/main">
            <a:off x="8705850" y="5676900"/>
            <a:ext cx="2190750" cy="419100"/>
          </a:xfrm>
          <a:prstGeom xmlns:a="http://schemas.openxmlformats.org/drawingml/2006/main" prst="roundRect">
            <a:avLst>
              <a:gd name="adj" fmla="val 27273"/>
            </a:avLst>
          </a:prstGeom>
          <a:solidFill xmlns:a="http://schemas.openxmlformats.org/drawingml/2006/main">
            <a:srgbClr val="E7F6F7"/>
          </a:solidFill>
          <a:ln xmlns:a="http://schemas.openxmlformats.org/drawingml/2006/main" w="9525">
            <a:solidFill>
              <a:srgbClr val="B8DDE5"/>
            </a:solidFill>
            <a:prstDash val="solid"/>
          </a:ln>
        </p:spPr>
      </p:sp>
      <p:sp>
        <p:nvSpPr>
          <p:cNvPr id="26" name="text">
            <a:extLst xmlns:a="http://schemas.openxmlformats.org/drawingml/2006/main">
              <a:ext uri="{FF2B5EF4-FFF2-40B4-BE49-F238E27FC236}">
                <a16:creationId xmlns:a16="http://schemas.microsoft.com/office/drawing/2014/main" id="{B6CFD252-7D15-4713-9736-F3FC56A97D89}"/>
              </a:ext>
            </a:extLst>
          </p:cNvPr>
          <p:cNvSpPr>
            <a:spLocks xmlns:a="http://schemas.openxmlformats.org/drawingml/2006/main" noGrp="1"/>
          </p:cNvSpPr>
          <p:nvPr/>
        </p:nvSpPr>
        <p:spPr>
          <a:xfrm xmlns:a="http://schemas.openxmlformats.org/drawingml/2006/main">
            <a:off x="8839200" y="57912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506274"/>
                </a:solidFill>
                <a:latin typeface="Aptos"/>
                <a:ea typeface="Aptos"/>
                <a:cs typeface="Aptos"/>
              </a:defRPr>
            </a:pPr>
            <a:r>
              <a:rPr sz="1050" b="1">
                <a:solidFill>
                  <a:srgbClr val="506274"/>
                </a:solidFill>
                <a:latin typeface="Aptos"/>
                <a:ea typeface="Aptos"/>
                <a:cs typeface="Aptos"/>
              </a:rPr>
              <a:t>cas métier historiques</a:t>
            </a:r>
          </a:p>
        </p:txBody>
      </p:sp>
    </p:spTree>
    <p:extLst>
      <p:ext uri="{BB962C8B-B14F-4D97-AF65-F5344CB8AC3E}">
        <p14:creationId xmlns:p14="http://schemas.microsoft.com/office/powerpoint/2010/main" val="1017892600"/>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lide-title">
            <a:extLst xmlns:a="http://schemas.openxmlformats.org/drawingml/2006/main">
              <a:ext uri="{FF2B5EF4-FFF2-40B4-BE49-F238E27FC236}">
                <a16:creationId xmlns:a16="http://schemas.microsoft.com/office/drawing/2014/main" id="{CFEA3837-D4C2-4513-8C77-23AAB81406EF}"/>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Solution : validation R / Python</a:t>
            </a:r>
          </a:p>
        </p:txBody>
      </p:sp>
      <p:sp>
        <p:nvSpPr>
          <p:cNvPr id="2" name="slide-number">
            <a:extLst xmlns:a="http://schemas.openxmlformats.org/drawingml/2006/main">
              <a:ext uri="{FF2B5EF4-FFF2-40B4-BE49-F238E27FC236}">
                <a16:creationId xmlns:a16="http://schemas.microsoft.com/office/drawing/2014/main" id="{D3CD205B-EF3F-495A-93F4-D815EDB4A114}"/>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10</a:t>
            </a:r>
          </a:p>
        </p:txBody>
      </p:sp>
      <p:sp>
        <p:nvSpPr>
          <p:cNvPr id="3" name="kicker">
            <a:extLst xmlns:a="http://schemas.openxmlformats.org/drawingml/2006/main">
              <a:ext uri="{FF2B5EF4-FFF2-40B4-BE49-F238E27FC236}">
                <a16:creationId xmlns:a16="http://schemas.microsoft.com/office/drawing/2014/main" id="{E49773F5-E734-4313-B564-19353345ECA9}"/>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5712708E-F47E-4FC4-B2C0-6BDEE1D2A8B3}"/>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C5DB53DD-31C3-4379-BD90-2BB1DB30EFF1}"/>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524946F8-B775-4A9F-ADE8-33681C8335E7}"/>
              </a:ext>
            </a:extLst>
          </p:cNvPr>
          <p:cNvSpPr>
            <a:spLocks xmlns:a="http://schemas.openxmlformats.org/drawingml/2006/main" noGrp="1"/>
          </p:cNvSpPr>
          <p:nvPr/>
        </p:nvSpPr>
        <p:spPr>
          <a:xfrm xmlns:a="http://schemas.openxmlformats.org/drawingml/2006/main">
            <a:off x="4343400" y="1428750"/>
            <a:ext cx="35052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0478">
            <a:solidFill>
              <a:srgbClr val="B8DDE5"/>
            </a:solidFill>
            <a:prstDash val="solid"/>
          </a:ln>
        </p:spPr>
      </p:sp>
      <p:sp>
        <p:nvSpPr>
          <p:cNvPr id="7" name="text">
            <a:extLst xmlns:a="http://schemas.openxmlformats.org/drawingml/2006/main">
              <a:ext uri="{FF2B5EF4-FFF2-40B4-BE49-F238E27FC236}">
                <a16:creationId xmlns:a16="http://schemas.microsoft.com/office/drawing/2014/main" id="{D4F3B382-09A9-4A7A-B452-A7291D6DFC35}"/>
              </a:ext>
            </a:extLst>
          </p:cNvPr>
          <p:cNvSpPr>
            <a:spLocks xmlns:a="http://schemas.openxmlformats.org/drawingml/2006/main" noGrp="1"/>
          </p:cNvSpPr>
          <p:nvPr/>
        </p:nvSpPr>
        <p:spPr>
          <a:xfrm xmlns:a="http://schemas.openxmlformats.org/drawingml/2006/main">
            <a:off x="4438650" y="1600200"/>
            <a:ext cx="3314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81B2D"/>
                </a:solidFill>
                <a:latin typeface="Aptos"/>
                <a:ea typeface="Aptos"/>
                <a:cs typeface="Aptos"/>
              </a:defRPr>
            </a:pPr>
            <a:r>
              <a:rPr sz="1425" b="1">
                <a:solidFill>
                  <a:srgbClr val="081B2D"/>
                </a:solidFill>
                <a:latin typeface="Aptos"/>
                <a:ea typeface="Aptos"/>
                <a:cs typeface="Aptos"/>
              </a:rPr>
              <a:t>1. Même source</a:t>
            </a:r>
          </a:p>
          <a:p xmlns:a="http://schemas.openxmlformats.org/drawingml/2006/main">
            <a:pPr algn="ctr">
              <a:defRPr sz="1425" b="1">
                <a:solidFill>
                  <a:srgbClr val="081B2D"/>
                </a:solidFill>
                <a:latin typeface="Aptos"/>
                <a:ea typeface="Aptos"/>
                <a:cs typeface="Aptos"/>
              </a:defRPr>
            </a:pPr>
            <a:r>
              <a:rPr sz="1425" b="1">
                <a:solidFill>
                  <a:srgbClr val="081B2D"/>
                </a:solidFill>
                <a:latin typeface="Aptos"/>
                <a:ea typeface="Aptos"/>
                <a:cs typeface="Aptos"/>
              </a:rPr>
              <a:t>de données</a:t>
            </a:r>
          </a:p>
        </p:txBody>
      </p:sp>
      <p:sp>
        <p:nvSpPr>
          <p:cNvPr id="8" name="">
            <a:extLst xmlns:a="http://schemas.openxmlformats.org/drawingml/2006/main">
              <a:ext uri="{FF2B5EF4-FFF2-40B4-BE49-F238E27FC236}">
                <a16:creationId xmlns:a16="http://schemas.microsoft.com/office/drawing/2014/main" id="{896F28A1-E986-49CB-B8A1-3B47BCD97665}"/>
              </a:ext>
            </a:extLst>
          </p:cNvPr>
          <p:cNvSpPr>
            <a:spLocks xmlns:a="http://schemas.openxmlformats.org/drawingml/2006/main" noGrp="1"/>
          </p:cNvSpPr>
          <p:nvPr/>
        </p:nvSpPr>
        <p:spPr>
          <a:xfrm xmlns:a="http://schemas.openxmlformats.org/drawingml/2006/main">
            <a:off x="6096000" y="2019300"/>
            <a:ext cx="0" cy="36195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9" name="">
            <a:extLst xmlns:a="http://schemas.openxmlformats.org/drawingml/2006/main">
              <a:ext uri="{FF2B5EF4-FFF2-40B4-BE49-F238E27FC236}">
                <a16:creationId xmlns:a16="http://schemas.microsoft.com/office/drawing/2014/main" id="{964C5DC4-FD8D-4A0B-B08F-B23EF21B85F6}"/>
              </a:ext>
            </a:extLst>
          </p:cNvPr>
          <p:cNvSpPr>
            <a:spLocks xmlns:a="http://schemas.openxmlformats.org/drawingml/2006/main" noGrp="1"/>
          </p:cNvSpPr>
          <p:nvPr/>
        </p:nvSpPr>
        <p:spPr>
          <a:xfrm xmlns:a="http://schemas.openxmlformats.org/drawingml/2006/main">
            <a:off x="3638550" y="2381250"/>
            <a:ext cx="2457450" cy="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10" name="">
            <a:extLst xmlns:a="http://schemas.openxmlformats.org/drawingml/2006/main">
              <a:ext uri="{FF2B5EF4-FFF2-40B4-BE49-F238E27FC236}">
                <a16:creationId xmlns:a16="http://schemas.microsoft.com/office/drawing/2014/main" id="{C5C6B26E-3FB2-4488-8CCC-5D7AAED20842}"/>
              </a:ext>
            </a:extLst>
          </p:cNvPr>
          <p:cNvSpPr>
            <a:spLocks xmlns:a="http://schemas.openxmlformats.org/drawingml/2006/main" noGrp="1"/>
          </p:cNvSpPr>
          <p:nvPr/>
        </p:nvSpPr>
        <p:spPr>
          <a:xfrm xmlns:a="http://schemas.openxmlformats.org/drawingml/2006/main">
            <a:off x="6096000" y="2381250"/>
            <a:ext cx="2457450" cy="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11" name="">
            <a:extLst xmlns:a="http://schemas.openxmlformats.org/drawingml/2006/main">
              <a:ext uri="{FF2B5EF4-FFF2-40B4-BE49-F238E27FC236}">
                <a16:creationId xmlns:a16="http://schemas.microsoft.com/office/drawing/2014/main" id="{E5F073BA-E52C-48C1-8503-5517743DD1D7}"/>
              </a:ext>
            </a:extLst>
          </p:cNvPr>
          <p:cNvSpPr>
            <a:spLocks xmlns:a="http://schemas.openxmlformats.org/drawingml/2006/main" noGrp="1"/>
          </p:cNvSpPr>
          <p:nvPr/>
        </p:nvSpPr>
        <p:spPr>
          <a:xfrm xmlns:a="http://schemas.openxmlformats.org/drawingml/2006/main">
            <a:off x="3638550" y="2381250"/>
            <a:ext cx="0" cy="28575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12" name="">
            <a:extLst xmlns:a="http://schemas.openxmlformats.org/drawingml/2006/main">
              <a:ext uri="{FF2B5EF4-FFF2-40B4-BE49-F238E27FC236}">
                <a16:creationId xmlns:a16="http://schemas.microsoft.com/office/drawing/2014/main" id="{E125BABE-192A-4E43-91E9-A07BF21BCE3B}"/>
              </a:ext>
            </a:extLst>
          </p:cNvPr>
          <p:cNvSpPr>
            <a:spLocks xmlns:a="http://schemas.openxmlformats.org/drawingml/2006/main" noGrp="1"/>
          </p:cNvSpPr>
          <p:nvPr/>
        </p:nvSpPr>
        <p:spPr>
          <a:xfrm xmlns:a="http://schemas.openxmlformats.org/drawingml/2006/main">
            <a:off x="8553450" y="2381250"/>
            <a:ext cx="0" cy="28575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13" name="rect">
            <a:extLst xmlns:a="http://schemas.openxmlformats.org/drawingml/2006/main">
              <a:ext uri="{FF2B5EF4-FFF2-40B4-BE49-F238E27FC236}">
                <a16:creationId xmlns:a16="http://schemas.microsoft.com/office/drawing/2014/main" id="{9758DD11-0D02-408E-B95A-6C4F122CB294}"/>
              </a:ext>
            </a:extLst>
          </p:cNvPr>
          <p:cNvSpPr>
            <a:spLocks xmlns:a="http://schemas.openxmlformats.org/drawingml/2006/main" noGrp="1"/>
          </p:cNvSpPr>
          <p:nvPr/>
        </p:nvSpPr>
        <p:spPr>
          <a:xfrm xmlns:a="http://schemas.openxmlformats.org/drawingml/2006/main">
            <a:off x="1066800" y="2667000"/>
            <a:ext cx="3429000" cy="1562100"/>
          </a:xfrm>
          <a:prstGeom xmlns:a="http://schemas.openxmlformats.org/drawingml/2006/main" prst="roundRect">
            <a:avLst>
              <a:gd name="adj" fmla="val 853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text">
            <a:extLst xmlns:a="http://schemas.openxmlformats.org/drawingml/2006/main">
              <a:ext uri="{FF2B5EF4-FFF2-40B4-BE49-F238E27FC236}">
                <a16:creationId xmlns:a16="http://schemas.microsoft.com/office/drawing/2014/main" id="{CF813D00-B6D6-4DDC-906E-EEE207050A84}"/>
              </a:ext>
            </a:extLst>
          </p:cNvPr>
          <p:cNvSpPr>
            <a:spLocks xmlns:a="http://schemas.openxmlformats.org/drawingml/2006/main" noGrp="1"/>
          </p:cNvSpPr>
          <p:nvPr/>
        </p:nvSpPr>
        <p:spPr>
          <a:xfrm xmlns:a="http://schemas.openxmlformats.org/drawingml/2006/main">
            <a:off x="1276350" y="28575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2. ETL R sur DMP</a:t>
            </a:r>
          </a:p>
        </p:txBody>
      </p:sp>
      <p:sp>
        <p:nvSpPr>
          <p:cNvPr id="15" name="text">
            <a:extLst xmlns:a="http://schemas.openxmlformats.org/drawingml/2006/main">
              <a:ext uri="{FF2B5EF4-FFF2-40B4-BE49-F238E27FC236}">
                <a16:creationId xmlns:a16="http://schemas.microsoft.com/office/drawing/2014/main" id="{0C6F2CC1-323C-4BDC-A1C2-941ED277C449}"/>
              </a:ext>
            </a:extLst>
          </p:cNvPr>
          <p:cNvSpPr>
            <a:spLocks xmlns:a="http://schemas.openxmlformats.org/drawingml/2006/main" noGrp="1"/>
          </p:cNvSpPr>
          <p:nvPr/>
        </p:nvSpPr>
        <p:spPr>
          <a:xfrm xmlns:a="http://schemas.openxmlformats.org/drawingml/2006/main">
            <a:off x="1276350" y="3238500"/>
            <a:ext cx="3028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DMP : base de production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Table cible générée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Exemple : t_wafer</a:t>
            </a:r>
          </a:p>
        </p:txBody>
      </p:sp>
      <p:sp>
        <p:nvSpPr>
          <p:cNvPr id="16" name="rect">
            <a:extLst xmlns:a="http://schemas.openxmlformats.org/drawingml/2006/main">
              <a:ext uri="{FF2B5EF4-FFF2-40B4-BE49-F238E27FC236}">
                <a16:creationId xmlns:a16="http://schemas.microsoft.com/office/drawing/2014/main" id="{01CC9BF7-F580-4112-B65B-9379A09951C1}"/>
              </a:ext>
            </a:extLst>
          </p:cNvPr>
          <p:cNvSpPr>
            <a:spLocks xmlns:a="http://schemas.openxmlformats.org/drawingml/2006/main" noGrp="1"/>
          </p:cNvSpPr>
          <p:nvPr/>
        </p:nvSpPr>
        <p:spPr>
          <a:xfrm xmlns:a="http://schemas.openxmlformats.org/drawingml/2006/main">
            <a:off x="7696200" y="2667000"/>
            <a:ext cx="3429000" cy="1562100"/>
          </a:xfrm>
          <a:prstGeom xmlns:a="http://schemas.openxmlformats.org/drawingml/2006/main" prst="roundRect">
            <a:avLst>
              <a:gd name="adj" fmla="val 853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text">
            <a:extLst xmlns:a="http://schemas.openxmlformats.org/drawingml/2006/main">
              <a:ext uri="{FF2B5EF4-FFF2-40B4-BE49-F238E27FC236}">
                <a16:creationId xmlns:a16="http://schemas.microsoft.com/office/drawing/2014/main" id="{B709BB08-289F-427F-A125-906C045B8A7E}"/>
              </a:ext>
            </a:extLst>
          </p:cNvPr>
          <p:cNvSpPr>
            <a:spLocks xmlns:a="http://schemas.openxmlformats.org/drawingml/2006/main" noGrp="1"/>
          </p:cNvSpPr>
          <p:nvPr/>
        </p:nvSpPr>
        <p:spPr>
          <a:xfrm xmlns:a="http://schemas.openxmlformats.org/drawingml/2006/main">
            <a:off x="7905750" y="28575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3. ETL Python sur DMD</a:t>
            </a:r>
          </a:p>
        </p:txBody>
      </p:sp>
      <p:sp>
        <p:nvSpPr>
          <p:cNvPr id="18" name="text">
            <a:extLst xmlns:a="http://schemas.openxmlformats.org/drawingml/2006/main">
              <a:ext uri="{FF2B5EF4-FFF2-40B4-BE49-F238E27FC236}">
                <a16:creationId xmlns:a16="http://schemas.microsoft.com/office/drawing/2014/main" id="{E67C1F9F-3D9D-4234-8007-AC33BC17224D}"/>
              </a:ext>
            </a:extLst>
          </p:cNvPr>
          <p:cNvSpPr>
            <a:spLocks xmlns:a="http://schemas.openxmlformats.org/drawingml/2006/main" noGrp="1"/>
          </p:cNvSpPr>
          <p:nvPr/>
        </p:nvSpPr>
        <p:spPr>
          <a:xfrm xmlns:a="http://schemas.openxmlformats.org/drawingml/2006/main">
            <a:off x="7905750" y="3238500"/>
            <a:ext cx="3028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DMD : base de développement</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Table de test créée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Exemple : t_wafer_copy</a:t>
            </a:r>
          </a:p>
        </p:txBody>
      </p:sp>
      <p:sp>
        <p:nvSpPr>
          <p:cNvPr id="19" name="">
            <a:extLst xmlns:a="http://schemas.openxmlformats.org/drawingml/2006/main">
              <a:ext uri="{FF2B5EF4-FFF2-40B4-BE49-F238E27FC236}">
                <a16:creationId xmlns:a16="http://schemas.microsoft.com/office/drawing/2014/main" id="{F35199E1-B0D4-4762-95D6-AB699D5D7C17}"/>
              </a:ext>
            </a:extLst>
          </p:cNvPr>
          <p:cNvSpPr>
            <a:spLocks xmlns:a="http://schemas.openxmlformats.org/drawingml/2006/main" noGrp="1"/>
          </p:cNvSpPr>
          <p:nvPr/>
        </p:nvSpPr>
        <p:spPr>
          <a:xfrm xmlns:a="http://schemas.openxmlformats.org/drawingml/2006/main">
            <a:off x="2781300" y="4229100"/>
            <a:ext cx="0" cy="47625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20" name="">
            <a:extLst xmlns:a="http://schemas.openxmlformats.org/drawingml/2006/main">
              <a:ext uri="{FF2B5EF4-FFF2-40B4-BE49-F238E27FC236}">
                <a16:creationId xmlns:a16="http://schemas.microsoft.com/office/drawing/2014/main" id="{308A4FED-C6A1-4B8B-BAA7-67A3211F1FF1}"/>
              </a:ext>
            </a:extLst>
          </p:cNvPr>
          <p:cNvSpPr>
            <a:spLocks xmlns:a="http://schemas.openxmlformats.org/drawingml/2006/main" noGrp="1"/>
          </p:cNvSpPr>
          <p:nvPr/>
        </p:nvSpPr>
        <p:spPr>
          <a:xfrm xmlns:a="http://schemas.openxmlformats.org/drawingml/2006/main">
            <a:off x="9410700" y="4229100"/>
            <a:ext cx="0" cy="47625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21" name="">
            <a:extLst xmlns:a="http://schemas.openxmlformats.org/drawingml/2006/main">
              <a:ext uri="{FF2B5EF4-FFF2-40B4-BE49-F238E27FC236}">
                <a16:creationId xmlns:a16="http://schemas.microsoft.com/office/drawing/2014/main" id="{38F1EC11-7CD2-4B6C-8079-34E396E9B78B}"/>
              </a:ext>
            </a:extLst>
          </p:cNvPr>
          <p:cNvSpPr>
            <a:spLocks xmlns:a="http://schemas.openxmlformats.org/drawingml/2006/main" noGrp="1"/>
          </p:cNvSpPr>
          <p:nvPr/>
        </p:nvSpPr>
        <p:spPr>
          <a:xfrm xmlns:a="http://schemas.openxmlformats.org/drawingml/2006/main">
            <a:off x="2781300" y="4705350"/>
            <a:ext cx="3314700" cy="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22" name="">
            <a:extLst xmlns:a="http://schemas.openxmlformats.org/drawingml/2006/main">
              <a:ext uri="{FF2B5EF4-FFF2-40B4-BE49-F238E27FC236}">
                <a16:creationId xmlns:a16="http://schemas.microsoft.com/office/drawing/2014/main" id="{3E2531F9-CC42-44AC-AEDF-A10EECB1A9C2}"/>
              </a:ext>
            </a:extLst>
          </p:cNvPr>
          <p:cNvSpPr>
            <a:spLocks xmlns:a="http://schemas.openxmlformats.org/drawingml/2006/main" noGrp="1"/>
          </p:cNvSpPr>
          <p:nvPr/>
        </p:nvSpPr>
        <p:spPr>
          <a:xfrm xmlns:a="http://schemas.openxmlformats.org/drawingml/2006/main">
            <a:off x="6096000" y="4705350"/>
            <a:ext cx="3314700" cy="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23" name="">
            <a:extLst xmlns:a="http://schemas.openxmlformats.org/drawingml/2006/main">
              <a:ext uri="{FF2B5EF4-FFF2-40B4-BE49-F238E27FC236}">
                <a16:creationId xmlns:a16="http://schemas.microsoft.com/office/drawing/2014/main" id="{BE90BB6D-37E1-4E44-AE42-B3ECF7AF3CA3}"/>
              </a:ext>
            </a:extLst>
          </p:cNvPr>
          <p:cNvSpPr>
            <a:spLocks xmlns:a="http://schemas.openxmlformats.org/drawingml/2006/main" noGrp="1"/>
          </p:cNvSpPr>
          <p:nvPr/>
        </p:nvSpPr>
        <p:spPr>
          <a:xfrm xmlns:a="http://schemas.openxmlformats.org/drawingml/2006/main">
            <a:off x="6096000" y="4705350"/>
            <a:ext cx="0" cy="30480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4" name="rect">
            <a:extLst xmlns:a="http://schemas.openxmlformats.org/drawingml/2006/main">
              <a:ext uri="{FF2B5EF4-FFF2-40B4-BE49-F238E27FC236}">
                <a16:creationId xmlns:a16="http://schemas.microsoft.com/office/drawing/2014/main" id="{8B3111B4-69D1-451E-8EA2-E5033A8482B9}"/>
              </a:ext>
            </a:extLst>
          </p:cNvPr>
          <p:cNvSpPr>
            <a:spLocks xmlns:a="http://schemas.openxmlformats.org/drawingml/2006/main" noGrp="1"/>
          </p:cNvSpPr>
          <p:nvPr/>
        </p:nvSpPr>
        <p:spPr>
          <a:xfrm xmlns:a="http://schemas.openxmlformats.org/drawingml/2006/main">
            <a:off x="4381500" y="5010150"/>
            <a:ext cx="342900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0478">
            <a:solidFill>
              <a:srgbClr val="B8DDE5"/>
            </a:solidFill>
            <a:prstDash val="solid"/>
          </a:ln>
        </p:spPr>
      </p:sp>
      <p:sp>
        <p:nvSpPr>
          <p:cNvPr id="25" name="text">
            <a:extLst xmlns:a="http://schemas.openxmlformats.org/drawingml/2006/main">
              <a:ext uri="{FF2B5EF4-FFF2-40B4-BE49-F238E27FC236}">
                <a16:creationId xmlns:a16="http://schemas.microsoft.com/office/drawing/2014/main" id="{377EAB69-27B3-4F3F-9EBD-5EA07B328A4B}"/>
              </a:ext>
            </a:extLst>
          </p:cNvPr>
          <p:cNvSpPr>
            <a:spLocks xmlns:a="http://schemas.openxmlformats.org/drawingml/2006/main" noGrp="1"/>
          </p:cNvSpPr>
          <p:nvPr/>
        </p:nvSpPr>
        <p:spPr>
          <a:xfrm xmlns:a="http://schemas.openxmlformats.org/drawingml/2006/main">
            <a:off x="4476750" y="51720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81B2D"/>
                </a:solidFill>
                <a:latin typeface="Aptos"/>
                <a:ea typeface="Aptos"/>
                <a:cs typeface="Aptos"/>
              </a:defRPr>
            </a:pPr>
            <a:r>
              <a:rPr sz="1425" b="1">
                <a:solidFill>
                  <a:srgbClr val="081B2D"/>
                </a:solidFill>
                <a:latin typeface="Aptos"/>
                <a:ea typeface="Aptos"/>
                <a:cs typeface="Aptos"/>
              </a:rPr>
              <a:t>4. Script Python</a:t>
            </a:r>
          </a:p>
          <a:p xmlns:a="http://schemas.openxmlformats.org/drawingml/2006/main">
            <a:pPr algn="ctr">
              <a:defRPr sz="1425" b="1">
                <a:solidFill>
                  <a:srgbClr val="081B2D"/>
                </a:solidFill>
                <a:latin typeface="Aptos"/>
                <a:ea typeface="Aptos"/>
                <a:cs typeface="Aptos"/>
              </a:defRPr>
            </a:pPr>
            <a:r>
              <a:rPr sz="1425" b="1">
                <a:solidFill>
                  <a:srgbClr val="081B2D"/>
                </a:solidFill>
                <a:latin typeface="Aptos"/>
                <a:ea typeface="Aptos"/>
                <a:cs typeface="Aptos"/>
              </a:rPr>
              <a:t>de comparaison</a:t>
            </a:r>
          </a:p>
        </p:txBody>
      </p:sp>
      <p:sp>
        <p:nvSpPr>
          <p:cNvPr id="26" name="rect">
            <a:extLst xmlns:a="http://schemas.openxmlformats.org/drawingml/2006/main">
              <a:ext uri="{FF2B5EF4-FFF2-40B4-BE49-F238E27FC236}">
                <a16:creationId xmlns:a16="http://schemas.microsoft.com/office/drawing/2014/main" id="{99B43572-B12F-45E9-9711-4FC5B80D487F}"/>
              </a:ext>
            </a:extLst>
          </p:cNvPr>
          <p:cNvSpPr>
            <a:spLocks xmlns:a="http://schemas.openxmlformats.org/drawingml/2006/main" noGrp="1"/>
          </p:cNvSpPr>
          <p:nvPr/>
        </p:nvSpPr>
        <p:spPr>
          <a:xfrm xmlns:a="http://schemas.openxmlformats.org/drawingml/2006/main">
            <a:off x="1600200" y="5829300"/>
            <a:ext cx="2857500" cy="438150"/>
          </a:xfrm>
          <a:prstGeom xmlns:a="http://schemas.openxmlformats.org/drawingml/2006/main" prst="roundRect">
            <a:avLst>
              <a:gd name="adj" fmla="val 26087"/>
            </a:avLst>
          </a:prstGeom>
          <a:solidFill xmlns:a="http://schemas.openxmlformats.org/drawingml/2006/main">
            <a:srgbClr val="E7F6F7"/>
          </a:solidFill>
          <a:ln xmlns:a="http://schemas.openxmlformats.org/drawingml/2006/main" w="10478">
            <a:solidFill>
              <a:srgbClr val="B8DDE5"/>
            </a:solidFill>
            <a:prstDash val="solid"/>
          </a:ln>
        </p:spPr>
      </p:sp>
      <p:sp>
        <p:nvSpPr>
          <p:cNvPr id="27" name="text">
            <a:extLst xmlns:a="http://schemas.openxmlformats.org/drawingml/2006/main">
              <a:ext uri="{FF2B5EF4-FFF2-40B4-BE49-F238E27FC236}">
                <a16:creationId xmlns:a16="http://schemas.microsoft.com/office/drawing/2014/main" id="{7D2153A4-925E-4530-AFDE-43587D45D7F4}"/>
              </a:ext>
            </a:extLst>
          </p:cNvPr>
          <p:cNvSpPr>
            <a:spLocks xmlns:a="http://schemas.openxmlformats.org/drawingml/2006/main" noGrp="1"/>
          </p:cNvSpPr>
          <p:nvPr/>
        </p:nvSpPr>
        <p:spPr>
          <a:xfrm xmlns:a="http://schemas.openxmlformats.org/drawingml/2006/main">
            <a:off x="1695450" y="5924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081B2D"/>
                </a:solidFill>
                <a:latin typeface="Aptos"/>
                <a:ea typeface="Aptos"/>
                <a:cs typeface="Aptos"/>
              </a:defRPr>
            </a:pPr>
            <a:r>
              <a:rPr sz="1200" b="1">
                <a:solidFill>
                  <a:srgbClr val="081B2D"/>
                </a:solidFill>
                <a:latin typeface="Aptos"/>
                <a:ea typeface="Aptos"/>
                <a:cs typeface="Aptos"/>
              </a:rPr>
              <a:t>5. Rapport de comparaison</a:t>
            </a:r>
          </a:p>
        </p:txBody>
      </p:sp>
      <p:sp>
        <p:nvSpPr>
          <p:cNvPr id="28" name="rect">
            <a:extLst xmlns:a="http://schemas.openxmlformats.org/drawingml/2006/main">
              <a:ext uri="{FF2B5EF4-FFF2-40B4-BE49-F238E27FC236}">
                <a16:creationId xmlns:a16="http://schemas.microsoft.com/office/drawing/2014/main" id="{91B89D66-906C-4D7C-BC8D-F413E9BC3FFF}"/>
              </a:ext>
            </a:extLst>
          </p:cNvPr>
          <p:cNvSpPr>
            <a:spLocks xmlns:a="http://schemas.openxmlformats.org/drawingml/2006/main" noGrp="1"/>
          </p:cNvSpPr>
          <p:nvPr/>
        </p:nvSpPr>
        <p:spPr>
          <a:xfrm xmlns:a="http://schemas.openxmlformats.org/drawingml/2006/main">
            <a:off x="7734300" y="5829300"/>
            <a:ext cx="2857500" cy="438150"/>
          </a:xfrm>
          <a:prstGeom xmlns:a="http://schemas.openxmlformats.org/drawingml/2006/main" prst="roundRect">
            <a:avLst>
              <a:gd name="adj" fmla="val 26087"/>
            </a:avLst>
          </a:prstGeom>
          <a:solidFill xmlns:a="http://schemas.openxmlformats.org/drawingml/2006/main">
            <a:srgbClr val="39D0B6"/>
          </a:solidFill>
          <a:ln xmlns:a="http://schemas.openxmlformats.org/drawingml/2006/main" w="10478">
            <a:solidFill>
              <a:srgbClr val="B8DDE5"/>
            </a:solidFill>
            <a:prstDash val="solid"/>
          </a:ln>
        </p:spPr>
      </p:sp>
      <p:sp>
        <p:nvSpPr>
          <p:cNvPr id="29" name="text">
            <a:extLst xmlns:a="http://schemas.openxmlformats.org/drawingml/2006/main">
              <a:ext uri="{FF2B5EF4-FFF2-40B4-BE49-F238E27FC236}">
                <a16:creationId xmlns:a16="http://schemas.microsoft.com/office/drawing/2014/main" id="{6D151D4F-043E-476E-A645-413D3FFE7047}"/>
              </a:ext>
            </a:extLst>
          </p:cNvPr>
          <p:cNvSpPr>
            <a:spLocks xmlns:a="http://schemas.openxmlformats.org/drawingml/2006/main" noGrp="1"/>
          </p:cNvSpPr>
          <p:nvPr/>
        </p:nvSpPr>
        <p:spPr>
          <a:xfrm xmlns:a="http://schemas.openxmlformats.org/drawingml/2006/main">
            <a:off x="7829550" y="5924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081B2D"/>
                </a:solidFill>
                <a:latin typeface="Aptos"/>
                <a:ea typeface="Aptos"/>
                <a:cs typeface="Aptos"/>
              </a:defRPr>
            </a:pPr>
            <a:r>
              <a:rPr sz="1200" b="1">
                <a:solidFill>
                  <a:srgbClr val="081B2D"/>
                </a:solidFill>
                <a:latin typeface="Aptos"/>
                <a:ea typeface="Aptos"/>
                <a:cs typeface="Aptos"/>
              </a:rPr>
              <a:t>6. Taux de concordance</a:t>
            </a:r>
          </a:p>
        </p:txBody>
      </p:sp>
      <p:sp>
        <p:nvSpPr>
          <p:cNvPr id="30" name="">
            <a:extLst xmlns:a="http://schemas.openxmlformats.org/drawingml/2006/main">
              <a:ext uri="{FF2B5EF4-FFF2-40B4-BE49-F238E27FC236}">
                <a16:creationId xmlns:a16="http://schemas.microsoft.com/office/drawing/2014/main" id="{919D9FE9-9B2F-4B37-9991-8FC6EF247883}"/>
              </a:ext>
            </a:extLst>
          </p:cNvPr>
          <p:cNvSpPr>
            <a:spLocks xmlns:a="http://schemas.openxmlformats.org/drawingml/2006/main" noGrp="1"/>
          </p:cNvSpPr>
          <p:nvPr/>
        </p:nvSpPr>
        <p:spPr>
          <a:xfrm xmlns:a="http://schemas.openxmlformats.org/drawingml/2006/main">
            <a:off x="3028950" y="5581650"/>
            <a:ext cx="3067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1" name="">
            <a:extLst xmlns:a="http://schemas.openxmlformats.org/drawingml/2006/main">
              <a:ext uri="{FF2B5EF4-FFF2-40B4-BE49-F238E27FC236}">
                <a16:creationId xmlns:a16="http://schemas.microsoft.com/office/drawing/2014/main" id="{45B0913D-5606-43B5-8180-3BF61EB77F33}"/>
              </a:ext>
            </a:extLst>
          </p:cNvPr>
          <p:cNvSpPr>
            <a:spLocks xmlns:a="http://schemas.openxmlformats.org/drawingml/2006/main" noGrp="1"/>
          </p:cNvSpPr>
          <p:nvPr/>
        </p:nvSpPr>
        <p:spPr>
          <a:xfrm xmlns:a="http://schemas.openxmlformats.org/drawingml/2006/main">
            <a:off x="6096000" y="5581650"/>
            <a:ext cx="3067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2" name="">
            <a:extLst xmlns:a="http://schemas.openxmlformats.org/drawingml/2006/main">
              <a:ext uri="{FF2B5EF4-FFF2-40B4-BE49-F238E27FC236}">
                <a16:creationId xmlns:a16="http://schemas.microsoft.com/office/drawing/2014/main" id="{A0592D74-91B7-4282-839C-1F1A55529D49}"/>
              </a:ext>
            </a:extLst>
          </p:cNvPr>
          <p:cNvSpPr>
            <a:spLocks xmlns:a="http://schemas.openxmlformats.org/drawingml/2006/main" noGrp="1"/>
          </p:cNvSpPr>
          <p:nvPr/>
        </p:nvSpPr>
        <p:spPr>
          <a:xfrm xmlns:a="http://schemas.openxmlformats.org/drawingml/2006/main">
            <a:off x="3028950" y="5581650"/>
            <a:ext cx="0" cy="24765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3" name="">
            <a:extLst xmlns:a="http://schemas.openxmlformats.org/drawingml/2006/main">
              <a:ext uri="{FF2B5EF4-FFF2-40B4-BE49-F238E27FC236}">
                <a16:creationId xmlns:a16="http://schemas.microsoft.com/office/drawing/2014/main" id="{01BB82F6-34A5-4CC4-9570-8E80B5EDB060}"/>
              </a:ext>
            </a:extLst>
          </p:cNvPr>
          <p:cNvSpPr>
            <a:spLocks xmlns:a="http://schemas.openxmlformats.org/drawingml/2006/main" noGrp="1"/>
          </p:cNvSpPr>
          <p:nvPr/>
        </p:nvSpPr>
        <p:spPr>
          <a:xfrm xmlns:a="http://schemas.openxmlformats.org/drawingml/2006/main">
            <a:off x="9163050" y="5581650"/>
            <a:ext cx="0" cy="24765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Tree>
    <p:extLst>
      <p:ext uri="{BB962C8B-B14F-4D97-AF65-F5344CB8AC3E}">
        <p14:creationId xmlns:p14="http://schemas.microsoft.com/office/powerpoint/2010/main" val="980534082"/>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58797D6D-EC48-44F2-B0AC-CCE7C1D2AAAA}"/>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Résultats de validation</a:t>
            </a:r>
          </a:p>
        </p:txBody>
      </p:sp>
      <p:sp>
        <p:nvSpPr>
          <p:cNvPr id="2" name="slide-number">
            <a:extLst xmlns:a="http://schemas.openxmlformats.org/drawingml/2006/main">
              <a:ext uri="{FF2B5EF4-FFF2-40B4-BE49-F238E27FC236}">
                <a16:creationId xmlns:a16="http://schemas.microsoft.com/office/drawing/2014/main" id="{DFAD1C39-8154-4753-A9AA-F706D41E6C11}"/>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11</a:t>
            </a:r>
          </a:p>
        </p:txBody>
      </p:sp>
      <p:sp>
        <p:nvSpPr>
          <p:cNvPr id="3" name="kicker">
            <a:extLst xmlns:a="http://schemas.openxmlformats.org/drawingml/2006/main">
              <a:ext uri="{FF2B5EF4-FFF2-40B4-BE49-F238E27FC236}">
                <a16:creationId xmlns:a16="http://schemas.microsoft.com/office/drawing/2014/main" id="{E8BE7C0A-2035-4916-9B4F-1A632AC6260F}"/>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949D3657-D64D-4F9F-838F-83C2D5C0010D}"/>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D6D5F4A8-23D4-4FF4-93E0-EE28B248EDB7}"/>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text">
            <a:extLst xmlns:a="http://schemas.openxmlformats.org/drawingml/2006/main">
              <a:ext uri="{FF2B5EF4-FFF2-40B4-BE49-F238E27FC236}">
                <a16:creationId xmlns:a16="http://schemas.microsoft.com/office/drawing/2014/main" id="{5DE7A271-4B89-4435-A07F-CA0D2A2B7F98}"/>
              </a:ext>
            </a:extLst>
          </p:cNvPr>
          <p:cNvSpPr>
            <a:spLocks xmlns:a="http://schemas.openxmlformats.org/drawingml/2006/main" noGrp="1"/>
          </p:cNvSpPr>
          <p:nvPr/>
        </p:nvSpPr>
        <p:spPr>
          <a:xfrm xmlns:a="http://schemas.openxmlformats.org/drawingml/2006/main">
            <a:off x="742950" y="142875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081B2D"/>
                </a:solidFill>
                <a:latin typeface="Aptos"/>
                <a:ea typeface="Aptos"/>
                <a:cs typeface="Aptos"/>
              </a:defRPr>
            </a:pPr>
            <a:r>
              <a:rPr sz="1950" b="1">
                <a:solidFill>
                  <a:srgbClr val="081B2D"/>
                </a:solidFill>
                <a:latin typeface="Aptos"/>
                <a:ea typeface="Aptos"/>
                <a:cs typeface="Aptos"/>
              </a:rPr>
              <a:t>Tous les ETL migrés ont été validés fonctionnellement.</a:t>
            </a:r>
          </a:p>
        </p:txBody>
      </p:sp>
      <p:graphicFrame>
        <p:nvGraphicFramePr>
          <p:cNvPr id="21" name="Chart"/>
          <p:cNvGraphicFramePr/>
          <p:nvPr/>
        </p:nvGraphicFramePr>
        <p:xfrm>
          <a:off xmlns:a="http://schemas.openxmlformats.org/drawingml/2006/main" x="819150" y="2038350"/>
          <a:ext xmlns:a="http://schemas.openxmlformats.org/drawingml/2006/main" cx="6762750" cy="3143250"/>
        </p:xfrm>
        <a:graphic xmlns:a="http://schemas.openxmlformats.org/drawingml/2006/main">
          <a:graphicData uri="http://schemas.openxmlformats.org/drawingml/2006/chart">
            <c:chart xmlns:r="http://schemas.openxmlformats.org/officeDocument/2006/relationships" xmlns:c="http://schemas.openxmlformats.org/drawingml/2006/chart" r:id="Rec9eaf2be0af43e3"/>
          </a:graphicData>
        </a:graphic>
      </p:graphicFrame>
      <p:sp>
        <p:nvSpPr>
          <p:cNvPr id="8" name="rect">
            <a:extLst xmlns:a="http://schemas.openxmlformats.org/drawingml/2006/main">
              <a:ext uri="{FF2B5EF4-FFF2-40B4-BE49-F238E27FC236}">
                <a16:creationId xmlns:a16="http://schemas.microsoft.com/office/drawing/2014/main" id="{25AEC017-A006-4051-B026-FC3523AEA3AD}"/>
              </a:ext>
            </a:extLst>
          </p:cNvPr>
          <p:cNvSpPr>
            <a:spLocks xmlns:a="http://schemas.openxmlformats.org/drawingml/2006/main" noGrp="1"/>
          </p:cNvSpPr>
          <p:nvPr/>
        </p:nvSpPr>
        <p:spPr>
          <a:xfrm xmlns:a="http://schemas.openxmlformats.org/drawingml/2006/main">
            <a:off x="8020050" y="2038350"/>
            <a:ext cx="2952750" cy="1104900"/>
          </a:xfrm>
          <a:prstGeom xmlns:a="http://schemas.openxmlformats.org/drawingml/2006/main" prst="roundRect">
            <a:avLst>
              <a:gd name="adj" fmla="val 15517"/>
            </a:avLst>
          </a:prstGeom>
          <a:solidFill xmlns:a="http://schemas.openxmlformats.org/drawingml/2006/main">
            <a:srgbClr val="0B8FBD"/>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text">
            <a:extLst xmlns:a="http://schemas.openxmlformats.org/drawingml/2006/main">
              <a:ext uri="{FF2B5EF4-FFF2-40B4-BE49-F238E27FC236}">
                <a16:creationId xmlns:a16="http://schemas.microsoft.com/office/drawing/2014/main" id="{D5C802DC-048F-4683-A4EB-16A30DD920F0}"/>
              </a:ext>
            </a:extLst>
          </p:cNvPr>
          <p:cNvSpPr>
            <a:spLocks xmlns:a="http://schemas.openxmlformats.org/drawingml/2006/main" noGrp="1"/>
          </p:cNvSpPr>
          <p:nvPr/>
        </p:nvSpPr>
        <p:spPr>
          <a:xfrm xmlns:a="http://schemas.openxmlformats.org/drawingml/2006/main">
            <a:off x="8458200" y="22669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 10 ETL</a:t>
            </a:r>
          </a:p>
        </p:txBody>
      </p:sp>
      <p:sp>
        <p:nvSpPr>
          <p:cNvPr id="10" name="text">
            <a:extLst xmlns:a="http://schemas.openxmlformats.org/drawingml/2006/main">
              <a:ext uri="{FF2B5EF4-FFF2-40B4-BE49-F238E27FC236}">
                <a16:creationId xmlns:a16="http://schemas.microsoft.com/office/drawing/2014/main" id="{C5900BB9-E665-4C7A-B698-B5C3ED4CC3B2}"/>
              </a:ext>
            </a:extLst>
          </p:cNvPr>
          <p:cNvSpPr>
            <a:spLocks xmlns:a="http://schemas.openxmlformats.org/drawingml/2006/main" noGrp="1"/>
          </p:cNvSpPr>
          <p:nvPr/>
        </p:nvSpPr>
        <p:spPr>
          <a:xfrm xmlns:a="http://schemas.openxmlformats.org/drawingml/2006/main">
            <a:off x="8439150" y="2781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migrés et validés</a:t>
            </a:r>
          </a:p>
        </p:txBody>
      </p:sp>
      <p:sp>
        <p:nvSpPr>
          <p:cNvPr id="11" name="rect">
            <a:extLst xmlns:a="http://schemas.openxmlformats.org/drawingml/2006/main">
              <a:ext uri="{FF2B5EF4-FFF2-40B4-BE49-F238E27FC236}">
                <a16:creationId xmlns:a16="http://schemas.microsoft.com/office/drawing/2014/main" id="{17364D42-25E8-4E8B-BE88-81C0EA332B87}"/>
              </a:ext>
            </a:extLst>
          </p:cNvPr>
          <p:cNvSpPr>
            <a:spLocks xmlns:a="http://schemas.openxmlformats.org/drawingml/2006/main" noGrp="1"/>
          </p:cNvSpPr>
          <p:nvPr/>
        </p:nvSpPr>
        <p:spPr>
          <a:xfrm xmlns:a="http://schemas.openxmlformats.org/drawingml/2006/main">
            <a:off x="8020050" y="3467100"/>
            <a:ext cx="2952750" cy="1676400"/>
          </a:xfrm>
          <a:prstGeom xmlns:a="http://schemas.openxmlformats.org/drawingml/2006/main" prst="roundRect">
            <a:avLst>
              <a:gd name="adj" fmla="val 7955"/>
            </a:avLst>
          </a:prstGeom>
          <a:solidFill xmlns:a="http://schemas.openxmlformats.org/drawingml/2006/main">
            <a:srgbClr val="FFF8EC"/>
          </a:solidFill>
          <a:ln xmlns:a="http://schemas.openxmlformats.org/drawingml/2006/main" w="9525">
            <a:solidFill>
              <a:srgbClr val="F3D4A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rect">
            <a:extLst xmlns:a="http://schemas.openxmlformats.org/drawingml/2006/main">
              <a:ext uri="{FF2B5EF4-FFF2-40B4-BE49-F238E27FC236}">
                <a16:creationId xmlns:a16="http://schemas.microsoft.com/office/drawing/2014/main" id="{A84E5F95-1D5F-4DDE-ACEC-BFD1DA3757F1}"/>
              </a:ext>
            </a:extLst>
          </p:cNvPr>
          <p:cNvSpPr>
            <a:spLocks xmlns:a="http://schemas.openxmlformats.org/drawingml/2006/main" noGrp="1"/>
          </p:cNvSpPr>
          <p:nvPr/>
        </p:nvSpPr>
        <p:spPr>
          <a:xfrm xmlns:a="http://schemas.openxmlformats.org/drawingml/2006/main">
            <a:off x="8020050" y="3467100"/>
            <a:ext cx="66675" cy="1676400"/>
          </a:xfrm>
          <a:prstGeom xmlns:a="http://schemas.openxmlformats.org/drawingml/2006/main" prst="roundRect">
            <a:avLst>
              <a:gd name="adj" fmla="val 50000"/>
            </a:avLst>
          </a:prstGeom>
          <a:solidFill xmlns:a="http://schemas.openxmlformats.org/drawingml/2006/main">
            <a:srgbClr val="F2A83B"/>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FFD8D50D-F97F-4E48-99E8-CD6AC8ADE7BB}"/>
              </a:ext>
            </a:extLst>
          </p:cNvPr>
          <p:cNvSpPr>
            <a:spLocks xmlns:a="http://schemas.openxmlformats.org/drawingml/2006/main" noGrp="1"/>
          </p:cNvSpPr>
          <p:nvPr/>
        </p:nvSpPr>
        <p:spPr>
          <a:xfrm xmlns:a="http://schemas.openxmlformats.org/drawingml/2006/main">
            <a:off x="8229600" y="3657600"/>
            <a:ext cx="255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Cas Reftool</a:t>
            </a:r>
          </a:p>
        </p:txBody>
      </p:sp>
      <p:sp>
        <p:nvSpPr>
          <p:cNvPr id="14" name="text">
            <a:extLst xmlns:a="http://schemas.openxmlformats.org/drawingml/2006/main">
              <a:ext uri="{FF2B5EF4-FFF2-40B4-BE49-F238E27FC236}">
                <a16:creationId xmlns:a16="http://schemas.microsoft.com/office/drawing/2014/main" id="{672977BC-F0BD-4619-943F-F1B56184A897}"/>
              </a:ext>
            </a:extLst>
          </p:cNvPr>
          <p:cNvSpPr>
            <a:spLocks xmlns:a="http://schemas.openxmlformats.org/drawingml/2006/main" noGrp="1"/>
          </p:cNvSpPr>
          <p:nvPr/>
        </p:nvSpPr>
        <p:spPr>
          <a:xfrm xmlns:a="http://schemas.openxmlformats.org/drawingml/2006/main">
            <a:off x="8229600" y="4038600"/>
            <a:ext cx="25527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Le taux de 55,79 % vient surtout de différences de représentation, par exemple NA en R et NULL en Python. Après analyse, le traitement a été validé fonctionnellement.</a:t>
            </a:r>
          </a:p>
        </p:txBody>
      </p:sp>
    </p:spTree>
    <p:extLst>
      <p:ext uri="{BB962C8B-B14F-4D97-AF65-F5344CB8AC3E}">
        <p14:creationId xmlns:p14="http://schemas.microsoft.com/office/powerpoint/2010/main" val="496326454"/>
      </p:ext>
    </p:extLst>
  </p:cSld>
</p:sld>
</file>

<file path=ppt/slides/slide1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E24E5868-E6FA-4682-B800-184A2104E8F7}"/>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Prefect : orchestration des ETL</a:t>
            </a:r>
          </a:p>
        </p:txBody>
      </p:sp>
      <p:sp>
        <p:nvSpPr>
          <p:cNvPr id="2" name="slide-number">
            <a:extLst xmlns:a="http://schemas.openxmlformats.org/drawingml/2006/main">
              <a:ext uri="{FF2B5EF4-FFF2-40B4-BE49-F238E27FC236}">
                <a16:creationId xmlns:a16="http://schemas.microsoft.com/office/drawing/2014/main" id="{7D52139A-2E6C-4E06-875C-B2E9ADB6510B}"/>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12</a:t>
            </a:r>
          </a:p>
        </p:txBody>
      </p:sp>
      <p:sp>
        <p:nvSpPr>
          <p:cNvPr id="3" name="kicker">
            <a:extLst xmlns:a="http://schemas.openxmlformats.org/drawingml/2006/main">
              <a:ext uri="{FF2B5EF4-FFF2-40B4-BE49-F238E27FC236}">
                <a16:creationId xmlns:a16="http://schemas.microsoft.com/office/drawing/2014/main" id="{95E97975-774F-4B0A-8F03-E7F0C3412F15}"/>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D18C3A1E-DFF1-4063-B959-CDFB6BFCC018}"/>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163C8269-4DA1-4B52-BF69-A5088815638E}"/>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AD9051E1-258A-49A8-A837-8B75DB986F48}"/>
              </a:ext>
            </a:extLst>
          </p:cNvPr>
          <p:cNvSpPr>
            <a:spLocks xmlns:a="http://schemas.openxmlformats.org/drawingml/2006/main" noGrp="1"/>
          </p:cNvSpPr>
          <p:nvPr/>
        </p:nvSpPr>
        <p:spPr>
          <a:xfrm xmlns:a="http://schemas.openxmlformats.org/drawingml/2006/main">
            <a:off x="819150" y="1638300"/>
            <a:ext cx="4762500" cy="2914650"/>
          </a:xfrm>
          <a:prstGeom xmlns:a="http://schemas.openxmlformats.org/drawingml/2006/main" prst="roundRect">
            <a:avLst>
              <a:gd name="adj" fmla="val 45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6E4F513A-F288-430C-BD4C-40E13E68827B}"/>
              </a:ext>
            </a:extLst>
          </p:cNvPr>
          <p:cNvSpPr>
            <a:spLocks xmlns:a="http://schemas.openxmlformats.org/drawingml/2006/main" noGrp="1"/>
          </p:cNvSpPr>
          <p:nvPr/>
        </p:nvSpPr>
        <p:spPr>
          <a:xfrm xmlns:a="http://schemas.openxmlformats.org/drawingml/2006/main">
            <a:off x="819150" y="1638300"/>
            <a:ext cx="66675" cy="29146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0864BDE7-16F2-4B48-BFFD-93A3A02CEAAD}"/>
              </a:ext>
            </a:extLst>
          </p:cNvPr>
          <p:cNvSpPr>
            <a:spLocks xmlns:a="http://schemas.openxmlformats.org/drawingml/2006/main" noGrp="1"/>
          </p:cNvSpPr>
          <p:nvPr/>
        </p:nvSpPr>
        <p:spPr>
          <a:xfrm xmlns:a="http://schemas.openxmlformats.org/drawingml/2006/main">
            <a:off x="1028700" y="182880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081B2D"/>
                </a:solidFill>
                <a:latin typeface="Aptos"/>
                <a:ea typeface="Aptos"/>
                <a:cs typeface="Aptos"/>
              </a:defRPr>
            </a:pPr>
            <a:r>
              <a:rPr sz="1875" b="1">
                <a:solidFill>
                  <a:srgbClr val="081B2D"/>
                </a:solidFill>
                <a:latin typeface="Aptos"/>
                <a:ea typeface="Aptos"/>
                <a:cs typeface="Aptos"/>
              </a:rPr>
              <a:t>Avant</a:t>
            </a:r>
          </a:p>
        </p:txBody>
      </p:sp>
      <p:sp>
        <p:nvSpPr>
          <p:cNvPr id="9" name="text">
            <a:extLst xmlns:a="http://schemas.openxmlformats.org/drawingml/2006/main">
              <a:ext uri="{FF2B5EF4-FFF2-40B4-BE49-F238E27FC236}">
                <a16:creationId xmlns:a16="http://schemas.microsoft.com/office/drawing/2014/main" id="{E116783B-A02F-4F8E-B410-C877C8B8182F}"/>
              </a:ext>
            </a:extLst>
          </p:cNvPr>
          <p:cNvSpPr>
            <a:spLocks xmlns:a="http://schemas.openxmlformats.org/drawingml/2006/main" noGrp="1"/>
          </p:cNvSpPr>
          <p:nvPr/>
        </p:nvSpPr>
        <p:spPr>
          <a:xfrm xmlns:a="http://schemas.openxmlformats.org/drawingml/2006/main">
            <a:off x="1028700" y="2209800"/>
            <a:ext cx="43624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Scripts lancés séparément</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Planification moins centralisée</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Logs dispersés</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Suivi manuel des erreurs</a:t>
            </a:r>
          </a:p>
        </p:txBody>
      </p:sp>
      <p:sp>
        <p:nvSpPr>
          <p:cNvPr id="10" name="rect">
            <a:extLst xmlns:a="http://schemas.openxmlformats.org/drawingml/2006/main">
              <a:ext uri="{FF2B5EF4-FFF2-40B4-BE49-F238E27FC236}">
                <a16:creationId xmlns:a16="http://schemas.microsoft.com/office/drawing/2014/main" id="{8366F5B3-7238-42F5-9409-CBFD60FACB21}"/>
              </a:ext>
            </a:extLst>
          </p:cNvPr>
          <p:cNvSpPr>
            <a:spLocks xmlns:a="http://schemas.openxmlformats.org/drawingml/2006/main" noGrp="1"/>
          </p:cNvSpPr>
          <p:nvPr/>
        </p:nvSpPr>
        <p:spPr>
          <a:xfrm xmlns:a="http://schemas.openxmlformats.org/drawingml/2006/main">
            <a:off x="6610350" y="1638300"/>
            <a:ext cx="4762500" cy="2914650"/>
          </a:xfrm>
          <a:prstGeom xmlns:a="http://schemas.openxmlformats.org/drawingml/2006/main" prst="roundRect">
            <a:avLst>
              <a:gd name="adj" fmla="val 45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A58C061A-D602-4454-99B0-2848532C9FC0}"/>
              </a:ext>
            </a:extLst>
          </p:cNvPr>
          <p:cNvSpPr>
            <a:spLocks xmlns:a="http://schemas.openxmlformats.org/drawingml/2006/main" noGrp="1"/>
          </p:cNvSpPr>
          <p:nvPr/>
        </p:nvSpPr>
        <p:spPr>
          <a:xfrm xmlns:a="http://schemas.openxmlformats.org/drawingml/2006/main">
            <a:off x="6610350" y="1638300"/>
            <a:ext cx="66675" cy="29146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F5EE25DD-1DFF-4824-AE31-2F621873521C}"/>
              </a:ext>
            </a:extLst>
          </p:cNvPr>
          <p:cNvSpPr>
            <a:spLocks xmlns:a="http://schemas.openxmlformats.org/drawingml/2006/main" noGrp="1"/>
          </p:cNvSpPr>
          <p:nvPr/>
        </p:nvSpPr>
        <p:spPr>
          <a:xfrm xmlns:a="http://schemas.openxmlformats.org/drawingml/2006/main">
            <a:off x="6819900" y="182880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081B2D"/>
                </a:solidFill>
                <a:latin typeface="Aptos"/>
                <a:ea typeface="Aptos"/>
                <a:cs typeface="Aptos"/>
              </a:defRPr>
            </a:pPr>
            <a:r>
              <a:rPr sz="1875" b="1">
                <a:solidFill>
                  <a:srgbClr val="081B2D"/>
                </a:solidFill>
                <a:latin typeface="Aptos"/>
                <a:ea typeface="Aptos"/>
                <a:cs typeface="Aptos"/>
              </a:rPr>
              <a:t>Après avec Prefect</a:t>
            </a:r>
          </a:p>
        </p:txBody>
      </p:sp>
      <p:sp>
        <p:nvSpPr>
          <p:cNvPr id="13" name="text">
            <a:extLst xmlns:a="http://schemas.openxmlformats.org/drawingml/2006/main">
              <a:ext uri="{FF2B5EF4-FFF2-40B4-BE49-F238E27FC236}">
                <a16:creationId xmlns:a16="http://schemas.microsoft.com/office/drawing/2014/main" id="{B97C8C93-052F-4E60-A985-E5AC235809D5}"/>
              </a:ext>
            </a:extLst>
          </p:cNvPr>
          <p:cNvSpPr>
            <a:spLocks xmlns:a="http://schemas.openxmlformats.org/drawingml/2006/main" noGrp="1"/>
          </p:cNvSpPr>
          <p:nvPr/>
        </p:nvSpPr>
        <p:spPr>
          <a:xfrm xmlns:a="http://schemas.openxmlformats.org/drawingml/2006/main">
            <a:off x="6819900" y="2209800"/>
            <a:ext cx="43624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Orchestration centralisée</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Planification des exécutions</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Historique et logs regroupés</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Relance plus simple en cas d'échec</a:t>
            </a:r>
          </a:p>
        </p:txBody>
      </p:sp>
      <p:sp>
        <p:nvSpPr>
          <p:cNvPr id="14" name="rect">
            <a:extLst xmlns:a="http://schemas.openxmlformats.org/drawingml/2006/main">
              <a:ext uri="{FF2B5EF4-FFF2-40B4-BE49-F238E27FC236}">
                <a16:creationId xmlns:a16="http://schemas.microsoft.com/office/drawing/2014/main" id="{2CBD9ACC-E059-429F-859C-51AEA79CFF81}"/>
              </a:ext>
            </a:extLst>
          </p:cNvPr>
          <p:cNvSpPr>
            <a:spLocks xmlns:a="http://schemas.openxmlformats.org/drawingml/2006/main" noGrp="1"/>
          </p:cNvSpPr>
          <p:nvPr/>
        </p:nvSpPr>
        <p:spPr>
          <a:xfrm xmlns:a="http://schemas.openxmlformats.org/drawingml/2006/main">
            <a:off x="1695450" y="5067300"/>
            <a:ext cx="8801100" cy="876300"/>
          </a:xfrm>
          <a:prstGeom xmlns:a="http://schemas.openxmlformats.org/drawingml/2006/main" prst="roundRect">
            <a:avLst>
              <a:gd name="adj" fmla="val 1956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text">
            <a:extLst xmlns:a="http://schemas.openxmlformats.org/drawingml/2006/main">
              <a:ext uri="{FF2B5EF4-FFF2-40B4-BE49-F238E27FC236}">
                <a16:creationId xmlns:a16="http://schemas.microsoft.com/office/drawing/2014/main" id="{02B5A73E-864F-4058-9DFF-BEA375AD17AB}"/>
              </a:ext>
            </a:extLst>
          </p:cNvPr>
          <p:cNvSpPr>
            <a:spLocks xmlns:a="http://schemas.openxmlformats.org/drawingml/2006/main" noGrp="1"/>
          </p:cNvSpPr>
          <p:nvPr/>
        </p:nvSpPr>
        <p:spPr>
          <a:xfrm xmlns:a="http://schemas.openxmlformats.org/drawingml/2006/main">
            <a:off x="2133600" y="5295900"/>
            <a:ext cx="7924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Bénéfice principal : Prefect transforme des scripts isolés en traitements supervisés, traçables et plus faciles à maintenir.</a:t>
            </a:r>
          </a:p>
        </p:txBody>
      </p:sp>
    </p:spTree>
    <p:extLst>
      <p:ext uri="{BB962C8B-B14F-4D97-AF65-F5344CB8AC3E}">
        <p14:creationId xmlns:p14="http://schemas.microsoft.com/office/powerpoint/2010/main" val="222070869"/>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A45A2A29-04BD-4E7B-9A4C-151C4368FA36}"/>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Difficultés rencontrées et solutions</a:t>
            </a:r>
          </a:p>
        </p:txBody>
      </p:sp>
      <p:sp>
        <p:nvSpPr>
          <p:cNvPr id="2" name="slide-number">
            <a:extLst xmlns:a="http://schemas.openxmlformats.org/drawingml/2006/main">
              <a:ext uri="{FF2B5EF4-FFF2-40B4-BE49-F238E27FC236}">
                <a16:creationId xmlns:a16="http://schemas.microsoft.com/office/drawing/2014/main" id="{C0960888-FFDE-40B5-A0B9-79FF64560CDA}"/>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13</a:t>
            </a:r>
          </a:p>
        </p:txBody>
      </p:sp>
      <p:sp>
        <p:nvSpPr>
          <p:cNvPr id="3" name="kicker">
            <a:extLst xmlns:a="http://schemas.openxmlformats.org/drawingml/2006/main">
              <a:ext uri="{FF2B5EF4-FFF2-40B4-BE49-F238E27FC236}">
                <a16:creationId xmlns:a16="http://schemas.microsoft.com/office/drawing/2014/main" id="{44538662-1025-4854-9013-106F92F59970}"/>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8C6F19E2-99F7-4ED8-92E0-EF62B91683B4}"/>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A0F05590-F4AB-4CDB-AAF1-4747BF3CF72B}"/>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474DD1BF-F3A1-4AF1-A53C-43F5ED3386D3}"/>
              </a:ext>
            </a:extLst>
          </p:cNvPr>
          <p:cNvSpPr>
            <a:spLocks xmlns:a="http://schemas.openxmlformats.org/drawingml/2006/main" noGrp="1"/>
          </p:cNvSpPr>
          <p:nvPr/>
        </p:nvSpPr>
        <p:spPr>
          <a:xfrm xmlns:a="http://schemas.openxmlformats.org/drawingml/2006/main">
            <a:off x="72390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70371846-417F-419C-A292-52EDBC40B231}"/>
              </a:ext>
            </a:extLst>
          </p:cNvPr>
          <p:cNvSpPr>
            <a:spLocks xmlns:a="http://schemas.openxmlformats.org/drawingml/2006/main" noGrp="1"/>
          </p:cNvSpPr>
          <p:nvPr/>
        </p:nvSpPr>
        <p:spPr>
          <a:xfrm xmlns:a="http://schemas.openxmlformats.org/drawingml/2006/main">
            <a:off x="723900" y="1676400"/>
            <a:ext cx="66675" cy="31432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BAC501FD-91AE-41E8-B46F-A55D5F6BA47A}"/>
              </a:ext>
            </a:extLst>
          </p:cNvPr>
          <p:cNvSpPr>
            <a:spLocks xmlns:a="http://schemas.openxmlformats.org/drawingml/2006/main" noGrp="1"/>
          </p:cNvSpPr>
          <p:nvPr/>
        </p:nvSpPr>
        <p:spPr>
          <a:xfrm xmlns:a="http://schemas.openxmlformats.org/drawingml/2006/main">
            <a:off x="93345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Migration R vers Python</a:t>
            </a:r>
          </a:p>
        </p:txBody>
      </p:sp>
      <p:sp>
        <p:nvSpPr>
          <p:cNvPr id="9" name="text">
            <a:extLst xmlns:a="http://schemas.openxmlformats.org/drawingml/2006/main">
              <a:ext uri="{FF2B5EF4-FFF2-40B4-BE49-F238E27FC236}">
                <a16:creationId xmlns:a16="http://schemas.microsoft.com/office/drawing/2014/main" id="{3BC55DCE-EB3F-43C6-9A1A-7A316F50E754}"/>
              </a:ext>
            </a:extLst>
          </p:cNvPr>
          <p:cNvSpPr>
            <a:spLocks xmlns:a="http://schemas.openxmlformats.org/drawingml/2006/main" noGrp="1"/>
          </p:cNvSpPr>
          <p:nvPr/>
        </p:nvSpPr>
        <p:spPr>
          <a:xfrm xmlns:a="http://schemas.openxmlformats.org/drawingml/2006/main">
            <a:off x="93345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Problème : écosystèmes différents et règles métier historiques complexes.</a:t>
            </a:r>
          </a:p>
          <a:p xmlns:a="http://schemas.openxmlformats.org/drawingml/2006/main">
            <a:r>
              <a:t/>
            </a:r>
          </a:p>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Solution : analyse détaillée et tests systématiques R/Python.</a:t>
            </a:r>
          </a:p>
        </p:txBody>
      </p:sp>
      <p:sp>
        <p:nvSpPr>
          <p:cNvPr id="10" name="rect">
            <a:extLst xmlns:a="http://schemas.openxmlformats.org/drawingml/2006/main">
              <a:ext uri="{FF2B5EF4-FFF2-40B4-BE49-F238E27FC236}">
                <a16:creationId xmlns:a16="http://schemas.microsoft.com/office/drawing/2014/main" id="{B2E5BA86-DDAE-4F7E-9711-269754220F37}"/>
              </a:ext>
            </a:extLst>
          </p:cNvPr>
          <p:cNvSpPr>
            <a:spLocks xmlns:a="http://schemas.openxmlformats.org/drawingml/2006/main" noGrp="1"/>
          </p:cNvSpPr>
          <p:nvPr/>
        </p:nvSpPr>
        <p:spPr>
          <a:xfrm xmlns:a="http://schemas.openxmlformats.org/drawingml/2006/main">
            <a:off x="443865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9580EFC8-1DBC-40FB-98D9-04CD21C37435}"/>
              </a:ext>
            </a:extLst>
          </p:cNvPr>
          <p:cNvSpPr>
            <a:spLocks xmlns:a="http://schemas.openxmlformats.org/drawingml/2006/main" noGrp="1"/>
          </p:cNvSpPr>
          <p:nvPr/>
        </p:nvSpPr>
        <p:spPr>
          <a:xfrm xmlns:a="http://schemas.openxmlformats.org/drawingml/2006/main">
            <a:off x="4438650" y="1676400"/>
            <a:ext cx="66675" cy="31432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15909930-1CFD-4157-A3B4-817B1094A46C}"/>
              </a:ext>
            </a:extLst>
          </p:cNvPr>
          <p:cNvSpPr>
            <a:spLocks xmlns:a="http://schemas.openxmlformats.org/drawingml/2006/main" noGrp="1"/>
          </p:cNvSpPr>
          <p:nvPr/>
        </p:nvSpPr>
        <p:spPr>
          <a:xfrm xmlns:a="http://schemas.openxmlformats.org/drawingml/2006/main">
            <a:off x="464820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Mise en production</a:t>
            </a:r>
          </a:p>
        </p:txBody>
      </p:sp>
      <p:sp>
        <p:nvSpPr>
          <p:cNvPr id="13" name="text">
            <a:extLst xmlns:a="http://schemas.openxmlformats.org/drawingml/2006/main">
              <a:ext uri="{FF2B5EF4-FFF2-40B4-BE49-F238E27FC236}">
                <a16:creationId xmlns:a16="http://schemas.microsoft.com/office/drawing/2014/main" id="{D23FDC64-08BA-4ADB-ABB9-73314C01BBC8}"/>
              </a:ext>
            </a:extLst>
          </p:cNvPr>
          <p:cNvSpPr>
            <a:spLocks xmlns:a="http://schemas.openxmlformats.org/drawingml/2006/main" noGrp="1"/>
          </p:cNvSpPr>
          <p:nvPr/>
        </p:nvSpPr>
        <p:spPr>
          <a:xfrm xmlns:a="http://schemas.openxmlformats.org/drawingml/2006/main">
            <a:off x="464820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Problème : nouvelle VM Linux et accès manquants.</a:t>
            </a:r>
          </a:p>
          <a:p xmlns:a="http://schemas.openxmlformats.org/drawingml/2006/main">
            <a:r>
              <a:t/>
            </a:r>
          </a:p>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Solution : coordination avec l'équipe IT et validation progressive de l'environnement.</a:t>
            </a:r>
          </a:p>
        </p:txBody>
      </p:sp>
      <p:sp>
        <p:nvSpPr>
          <p:cNvPr id="14" name="rect">
            <a:extLst xmlns:a="http://schemas.openxmlformats.org/drawingml/2006/main">
              <a:ext uri="{FF2B5EF4-FFF2-40B4-BE49-F238E27FC236}">
                <a16:creationId xmlns:a16="http://schemas.microsoft.com/office/drawing/2014/main" id="{7B873D7A-4FFF-4296-994E-FB309E9ED4CF}"/>
              </a:ext>
            </a:extLst>
          </p:cNvPr>
          <p:cNvSpPr>
            <a:spLocks xmlns:a="http://schemas.openxmlformats.org/drawingml/2006/main" noGrp="1"/>
          </p:cNvSpPr>
          <p:nvPr/>
        </p:nvSpPr>
        <p:spPr>
          <a:xfrm xmlns:a="http://schemas.openxmlformats.org/drawingml/2006/main">
            <a:off x="815340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
            <a:extLst xmlns:a="http://schemas.openxmlformats.org/drawingml/2006/main">
              <a:ext uri="{FF2B5EF4-FFF2-40B4-BE49-F238E27FC236}">
                <a16:creationId xmlns:a16="http://schemas.microsoft.com/office/drawing/2014/main" id="{5D004911-0B41-4173-8C19-D635CC5C44EE}"/>
              </a:ext>
            </a:extLst>
          </p:cNvPr>
          <p:cNvSpPr>
            <a:spLocks xmlns:a="http://schemas.openxmlformats.org/drawingml/2006/main" noGrp="1"/>
          </p:cNvSpPr>
          <p:nvPr/>
        </p:nvSpPr>
        <p:spPr>
          <a:xfrm xmlns:a="http://schemas.openxmlformats.org/drawingml/2006/main">
            <a:off x="8153400" y="1676400"/>
            <a:ext cx="66675" cy="3143250"/>
          </a:xfrm>
          <a:prstGeom xmlns:a="http://schemas.openxmlformats.org/drawingml/2006/main" prst="roundRect">
            <a:avLst>
              <a:gd name="adj" fmla="val 50000"/>
            </a:avLst>
          </a:prstGeom>
          <a:solidFill xmlns:a="http://schemas.openxmlformats.org/drawingml/2006/main">
            <a:srgbClr val="F2A83B"/>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FC1B1253-945B-4C37-9915-47BE58E7BAAA}"/>
              </a:ext>
            </a:extLst>
          </p:cNvPr>
          <p:cNvSpPr>
            <a:spLocks xmlns:a="http://schemas.openxmlformats.org/drawingml/2006/main" noGrp="1"/>
          </p:cNvSpPr>
          <p:nvPr/>
        </p:nvSpPr>
        <p:spPr>
          <a:xfrm xmlns:a="http://schemas.openxmlformats.org/drawingml/2006/main">
            <a:off x="836295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Nettoyage du Data Warehouse</a:t>
            </a:r>
          </a:p>
        </p:txBody>
      </p:sp>
      <p:sp>
        <p:nvSpPr>
          <p:cNvPr id="17" name="text">
            <a:extLst xmlns:a="http://schemas.openxmlformats.org/drawingml/2006/main">
              <a:ext uri="{FF2B5EF4-FFF2-40B4-BE49-F238E27FC236}">
                <a16:creationId xmlns:a16="http://schemas.microsoft.com/office/drawing/2014/main" id="{FD9FD864-C77F-4D69-9FD3-515A4C99EB0A}"/>
              </a:ext>
            </a:extLst>
          </p:cNvPr>
          <p:cNvSpPr>
            <a:spLocks xmlns:a="http://schemas.openxmlformats.org/drawingml/2006/main" noGrp="1"/>
          </p:cNvSpPr>
          <p:nvPr/>
        </p:nvSpPr>
        <p:spPr>
          <a:xfrm xmlns:a="http://schemas.openxmlformats.org/drawingml/2006/main">
            <a:off x="836295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Problème : très gros volumes et forte charge MariaDB.</a:t>
            </a:r>
          </a:p>
          <a:p xmlns:a="http://schemas.openxmlformats.org/drawingml/2006/main">
            <a:r>
              <a:t/>
            </a:r>
          </a:p>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Solution : suppression par partition et optimisation des DELETE.</a:t>
            </a:r>
          </a:p>
        </p:txBody>
      </p:sp>
      <p:sp>
        <p:nvSpPr>
          <p:cNvPr id="18" name="rect">
            <a:extLst xmlns:a="http://schemas.openxmlformats.org/drawingml/2006/main">
              <a:ext uri="{FF2B5EF4-FFF2-40B4-BE49-F238E27FC236}">
                <a16:creationId xmlns:a16="http://schemas.microsoft.com/office/drawing/2014/main" id="{174EAC06-29C7-423F-BCE7-826341B4980B}"/>
              </a:ext>
            </a:extLst>
          </p:cNvPr>
          <p:cNvSpPr>
            <a:spLocks xmlns:a="http://schemas.openxmlformats.org/drawingml/2006/main" noGrp="1"/>
          </p:cNvSpPr>
          <p:nvPr/>
        </p:nvSpPr>
        <p:spPr>
          <a:xfrm xmlns:a="http://schemas.openxmlformats.org/drawingml/2006/main">
            <a:off x="8934450" y="5124450"/>
            <a:ext cx="1809750" cy="685800"/>
          </a:xfrm>
          <a:prstGeom xmlns:a="http://schemas.openxmlformats.org/drawingml/2006/main" prst="roundRect">
            <a:avLst>
              <a:gd name="adj" fmla="val 25000"/>
            </a:avLst>
          </a:prstGeom>
          <a:solidFill xmlns:a="http://schemas.openxmlformats.org/drawingml/2006/main">
            <a:srgbClr val="F2A83B"/>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6573732C-E210-47F1-9FDB-4EE13E2953D9}"/>
              </a:ext>
            </a:extLst>
          </p:cNvPr>
          <p:cNvSpPr>
            <a:spLocks xmlns:a="http://schemas.openxmlformats.org/drawingml/2006/main" noGrp="1"/>
          </p:cNvSpPr>
          <p:nvPr/>
        </p:nvSpPr>
        <p:spPr>
          <a:xfrm xmlns:a="http://schemas.openxmlformats.org/drawingml/2006/main">
            <a:off x="9220200" y="5267325"/>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550" b="1">
                <a:solidFill>
                  <a:srgbClr val="FFFFFF"/>
                </a:solidFill>
                <a:latin typeface="Aptos Display"/>
                <a:ea typeface="Aptos Display"/>
                <a:cs typeface="Aptos Display"/>
              </a:defRPr>
            </a:pPr>
            <a:r>
              <a:rPr sz="2550" b="1">
                <a:solidFill>
                  <a:srgbClr val="FFFFFF"/>
                </a:solidFill>
                <a:latin typeface="Aptos Display"/>
                <a:ea typeface="Aptos Display"/>
                <a:cs typeface="Aptos Display"/>
              </a:rPr>
              <a:t>≈ 5 To</a:t>
            </a:r>
          </a:p>
        </p:txBody>
      </p:sp>
      <p:sp>
        <p:nvSpPr>
          <p:cNvPr id="20" name="text">
            <a:extLst xmlns:a="http://schemas.openxmlformats.org/drawingml/2006/main">
              <a:ext uri="{FF2B5EF4-FFF2-40B4-BE49-F238E27FC236}">
                <a16:creationId xmlns:a16="http://schemas.microsoft.com/office/drawing/2014/main" id="{77077EE4-A4D1-46EF-8BA2-C2DBAA49DAE5}"/>
              </a:ext>
            </a:extLst>
          </p:cNvPr>
          <p:cNvSpPr>
            <a:spLocks xmlns:a="http://schemas.openxmlformats.org/drawingml/2006/main" noGrp="1"/>
          </p:cNvSpPr>
          <p:nvPr/>
        </p:nvSpPr>
        <p:spPr>
          <a:xfrm xmlns:a="http://schemas.openxmlformats.org/drawingml/2006/main">
            <a:off x="8858250" y="56769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par table concernee</a:t>
            </a:r>
          </a:p>
        </p:txBody>
      </p:sp>
      <p:sp>
        <p:nvSpPr>
          <p:cNvPr id="21" name="text">
            <a:extLst xmlns:a="http://schemas.openxmlformats.org/drawingml/2006/main">
              <a:ext uri="{FF2B5EF4-FFF2-40B4-BE49-F238E27FC236}">
                <a16:creationId xmlns:a16="http://schemas.microsoft.com/office/drawing/2014/main" id="{4D8586A2-12BD-406D-BA91-E8FE6CD7647E}"/>
              </a:ext>
            </a:extLst>
          </p:cNvPr>
          <p:cNvSpPr>
            <a:spLocks xmlns:a="http://schemas.openxmlformats.org/drawingml/2006/main" noGrp="1"/>
          </p:cNvSpPr>
          <p:nvPr/>
        </p:nvSpPr>
        <p:spPr>
          <a:xfrm xmlns:a="http://schemas.openxmlformats.org/drawingml/2006/main">
            <a:off x="1485900" y="56197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81B2D"/>
                </a:solidFill>
                <a:latin typeface="Aptos"/>
                <a:ea typeface="Aptos"/>
                <a:cs typeface="Aptos"/>
              </a:defRPr>
            </a:pPr>
            <a:r>
              <a:rPr sz="1575" b="1">
                <a:solidFill>
                  <a:srgbClr val="081B2D"/>
                </a:solidFill>
                <a:latin typeface="Aptos"/>
                <a:ea typeface="Aptos"/>
                <a:cs typeface="Aptos"/>
              </a:rPr>
              <a:t>Ces difficultés montrent les contraintes réelles du Data Engineering en production.</a:t>
            </a:r>
          </a:p>
        </p:txBody>
      </p:sp>
    </p:spTree>
    <p:extLst>
      <p:ext uri="{BB962C8B-B14F-4D97-AF65-F5344CB8AC3E}">
        <p14:creationId xmlns:p14="http://schemas.microsoft.com/office/powerpoint/2010/main" val="53476647"/>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3" name="slide-title">
            <a:extLst xmlns:a="http://schemas.openxmlformats.org/drawingml/2006/main">
              <a:ext uri="{FF2B5EF4-FFF2-40B4-BE49-F238E27FC236}">
                <a16:creationId xmlns:a16="http://schemas.microsoft.com/office/drawing/2014/main" id="{2B381D76-E8E4-4A8B-91C5-E091E5E954F9}"/>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Perspectives Data</a:t>
            </a:r>
          </a:p>
        </p:txBody>
      </p:sp>
      <p:sp>
        <p:nvSpPr>
          <p:cNvPr id="2" name="slide-number">
            <a:extLst xmlns:a="http://schemas.openxmlformats.org/drawingml/2006/main">
              <a:ext uri="{FF2B5EF4-FFF2-40B4-BE49-F238E27FC236}">
                <a16:creationId xmlns:a16="http://schemas.microsoft.com/office/drawing/2014/main" id="{DFC3FC48-0E01-4BFD-B620-9647DDD53DCE}"/>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14</a:t>
            </a:r>
          </a:p>
        </p:txBody>
      </p:sp>
      <p:sp>
        <p:nvSpPr>
          <p:cNvPr id="3" name="kicker">
            <a:extLst xmlns:a="http://schemas.openxmlformats.org/drawingml/2006/main">
              <a:ext uri="{FF2B5EF4-FFF2-40B4-BE49-F238E27FC236}">
                <a16:creationId xmlns:a16="http://schemas.microsoft.com/office/drawing/2014/main" id="{8E4523AC-7227-4197-9DD6-9D8989107284}"/>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AF17DF82-F513-4CFC-B365-9B43F736C263}"/>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F563C43C-B75B-49D0-92AC-2D6A08B63FC3}"/>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6FFA8AA6-DC1A-445A-9CCD-0444F12590A7}"/>
              </a:ext>
            </a:extLst>
          </p:cNvPr>
          <p:cNvSpPr>
            <a:spLocks xmlns:a="http://schemas.openxmlformats.org/drawingml/2006/main" noGrp="1"/>
          </p:cNvSpPr>
          <p:nvPr/>
        </p:nvSpPr>
        <p:spPr>
          <a:xfrm xmlns:a="http://schemas.openxmlformats.org/drawingml/2006/main">
            <a:off x="723900" y="1600200"/>
            <a:ext cx="4953000" cy="1485900"/>
          </a:xfrm>
          <a:prstGeom xmlns:a="http://schemas.openxmlformats.org/drawingml/2006/main" prst="roundRect">
            <a:avLst>
              <a:gd name="adj" fmla="val 897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F3257D81-A428-4D79-8EC0-DDE2E09AA6EB}"/>
              </a:ext>
            </a:extLst>
          </p:cNvPr>
          <p:cNvSpPr>
            <a:spLocks xmlns:a="http://schemas.openxmlformats.org/drawingml/2006/main" noGrp="1"/>
          </p:cNvSpPr>
          <p:nvPr/>
        </p:nvSpPr>
        <p:spPr>
          <a:xfrm xmlns:a="http://schemas.openxmlformats.org/drawingml/2006/main">
            <a:off x="723900" y="1600200"/>
            <a:ext cx="66675" cy="14859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1C6679F7-A379-4B76-B9E7-AC9DD35E957F}"/>
              </a:ext>
            </a:extLst>
          </p:cNvPr>
          <p:cNvSpPr>
            <a:spLocks xmlns:a="http://schemas.openxmlformats.org/drawingml/2006/main" noGrp="1"/>
          </p:cNvSpPr>
          <p:nvPr/>
        </p:nvSpPr>
        <p:spPr>
          <a:xfrm xmlns:a="http://schemas.openxmlformats.org/drawingml/2006/main">
            <a:off x="933450" y="1790700"/>
            <a:ext cx="455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ETL Reject</a:t>
            </a:r>
          </a:p>
        </p:txBody>
      </p:sp>
      <p:sp>
        <p:nvSpPr>
          <p:cNvPr id="9" name="text">
            <a:extLst xmlns:a="http://schemas.openxmlformats.org/drawingml/2006/main">
              <a:ext uri="{FF2B5EF4-FFF2-40B4-BE49-F238E27FC236}">
                <a16:creationId xmlns:a16="http://schemas.microsoft.com/office/drawing/2014/main" id="{67841E50-CCC5-406E-9403-E00B44B06229}"/>
              </a:ext>
            </a:extLst>
          </p:cNvPr>
          <p:cNvSpPr>
            <a:spLocks xmlns:a="http://schemas.openxmlformats.org/drawingml/2006/main" noGrp="1"/>
          </p:cNvSpPr>
          <p:nvPr/>
        </p:nvSpPr>
        <p:spPr>
          <a:xfrm xmlns:a="http://schemas.openxmlformats.org/drawingml/2006/main">
            <a:off x="933450" y="2171700"/>
            <a:ext cx="4552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Base source vers ETL Reject vers Data Warehouse vers application Lot Dispositioning.</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Objectif : informations sur les wafers rejetés ou scrappés.</a:t>
            </a:r>
          </a:p>
        </p:txBody>
      </p:sp>
      <p:sp>
        <p:nvSpPr>
          <p:cNvPr id="10" name="rect">
            <a:extLst xmlns:a="http://schemas.openxmlformats.org/drawingml/2006/main">
              <a:ext uri="{FF2B5EF4-FFF2-40B4-BE49-F238E27FC236}">
                <a16:creationId xmlns:a16="http://schemas.microsoft.com/office/drawing/2014/main" id="{F2803E16-6B25-43CB-AF02-793EE8EFD988}"/>
              </a:ext>
            </a:extLst>
          </p:cNvPr>
          <p:cNvSpPr>
            <a:spLocks xmlns:a="http://schemas.openxmlformats.org/drawingml/2006/main" noGrp="1"/>
          </p:cNvSpPr>
          <p:nvPr/>
        </p:nvSpPr>
        <p:spPr>
          <a:xfrm xmlns:a="http://schemas.openxmlformats.org/drawingml/2006/main">
            <a:off x="6515100" y="1600200"/>
            <a:ext cx="4953000" cy="1485900"/>
          </a:xfrm>
          <a:prstGeom xmlns:a="http://schemas.openxmlformats.org/drawingml/2006/main" prst="roundRect">
            <a:avLst>
              <a:gd name="adj" fmla="val 897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6B0E6576-206A-47C8-B123-73323E4A40BE}"/>
              </a:ext>
            </a:extLst>
          </p:cNvPr>
          <p:cNvSpPr>
            <a:spLocks xmlns:a="http://schemas.openxmlformats.org/drawingml/2006/main" noGrp="1"/>
          </p:cNvSpPr>
          <p:nvPr/>
        </p:nvSpPr>
        <p:spPr>
          <a:xfrm xmlns:a="http://schemas.openxmlformats.org/drawingml/2006/main">
            <a:off x="6515100" y="1600200"/>
            <a:ext cx="66675" cy="14859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934603F4-164F-4EF2-8905-C72F19162D0F}"/>
              </a:ext>
            </a:extLst>
          </p:cNvPr>
          <p:cNvSpPr>
            <a:spLocks xmlns:a="http://schemas.openxmlformats.org/drawingml/2006/main" noGrp="1"/>
          </p:cNvSpPr>
          <p:nvPr/>
        </p:nvSpPr>
        <p:spPr>
          <a:xfrm xmlns:a="http://schemas.openxmlformats.org/drawingml/2006/main">
            <a:off x="6724650" y="1790700"/>
            <a:ext cx="455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ETL Inline</a:t>
            </a:r>
          </a:p>
        </p:txBody>
      </p:sp>
      <p:sp>
        <p:nvSpPr>
          <p:cNvPr id="13" name="text">
            <a:extLst xmlns:a="http://schemas.openxmlformats.org/drawingml/2006/main">
              <a:ext uri="{FF2B5EF4-FFF2-40B4-BE49-F238E27FC236}">
                <a16:creationId xmlns:a16="http://schemas.microsoft.com/office/drawing/2014/main" id="{98BD2D30-FD4E-4B38-99A3-FE842E479310}"/>
              </a:ext>
            </a:extLst>
          </p:cNvPr>
          <p:cNvSpPr>
            <a:spLocks xmlns:a="http://schemas.openxmlformats.org/drawingml/2006/main" noGrp="1"/>
          </p:cNvSpPr>
          <p:nvPr/>
        </p:nvSpPr>
        <p:spPr>
          <a:xfrm xmlns:a="http://schemas.openxmlformats.org/drawingml/2006/main">
            <a:off x="6724650" y="2171700"/>
            <a:ext cx="4552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API de métrologie vers extraction, transformation et chargement dans le Data Warehouse.</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Objectif : intégrer des données de métrologie.</a:t>
            </a:r>
          </a:p>
        </p:txBody>
      </p:sp>
      <p:sp>
        <p:nvSpPr>
          <p:cNvPr id="14" name="text">
            <a:extLst xmlns:a="http://schemas.openxmlformats.org/drawingml/2006/main">
              <a:ext uri="{FF2B5EF4-FFF2-40B4-BE49-F238E27FC236}">
                <a16:creationId xmlns:a16="http://schemas.microsoft.com/office/drawing/2014/main" id="{96C0C57A-04F9-482E-A4A1-758DBE35C10F}"/>
              </a:ext>
            </a:extLst>
          </p:cNvPr>
          <p:cNvSpPr>
            <a:spLocks xmlns:a="http://schemas.openxmlformats.org/drawingml/2006/main" noGrp="1"/>
          </p:cNvSpPr>
          <p:nvPr/>
        </p:nvSpPr>
        <p:spPr>
          <a:xfrm xmlns:a="http://schemas.openxmlformats.org/drawingml/2006/main">
            <a:off x="742950" y="35242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Architecture Data cible simplifiée</a:t>
            </a:r>
          </a:p>
        </p:txBody>
      </p:sp>
      <p:sp>
        <p:nvSpPr>
          <p:cNvPr id="15" name="rect">
            <a:extLst xmlns:a="http://schemas.openxmlformats.org/drawingml/2006/main">
              <a:ext uri="{FF2B5EF4-FFF2-40B4-BE49-F238E27FC236}">
                <a16:creationId xmlns:a16="http://schemas.microsoft.com/office/drawing/2014/main" id="{52E085DE-B6AB-464D-A581-F1E0D2277405}"/>
              </a:ext>
            </a:extLst>
          </p:cNvPr>
          <p:cNvSpPr>
            <a:spLocks xmlns:a="http://schemas.openxmlformats.org/drawingml/2006/main" noGrp="1"/>
          </p:cNvSpPr>
          <p:nvPr/>
        </p:nvSpPr>
        <p:spPr>
          <a:xfrm xmlns:a="http://schemas.openxmlformats.org/drawingml/2006/main">
            <a:off x="781050" y="4171950"/>
            <a:ext cx="13525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0478">
            <a:solidFill>
              <a:srgbClr val="B8DDE5"/>
            </a:solidFill>
            <a:prstDash val="solid"/>
          </a:ln>
        </p:spPr>
      </p:sp>
      <p:sp>
        <p:nvSpPr>
          <p:cNvPr id="16" name="text">
            <a:extLst xmlns:a="http://schemas.openxmlformats.org/drawingml/2006/main">
              <a:ext uri="{FF2B5EF4-FFF2-40B4-BE49-F238E27FC236}">
                <a16:creationId xmlns:a16="http://schemas.microsoft.com/office/drawing/2014/main" id="{E314BF98-8D42-4D18-BD95-F08E12491DAA}"/>
              </a:ext>
            </a:extLst>
          </p:cNvPr>
          <p:cNvSpPr>
            <a:spLocks xmlns:a="http://schemas.openxmlformats.org/drawingml/2006/main" noGrp="1"/>
          </p:cNvSpPr>
          <p:nvPr/>
        </p:nvSpPr>
        <p:spPr>
          <a:xfrm xmlns:a="http://schemas.openxmlformats.org/drawingml/2006/main">
            <a:off x="8763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Sources</a:t>
            </a:r>
          </a:p>
        </p:txBody>
      </p:sp>
      <p:sp>
        <p:nvSpPr>
          <p:cNvPr id="17" name="">
            <a:extLst xmlns:a="http://schemas.openxmlformats.org/drawingml/2006/main">
              <a:ext uri="{FF2B5EF4-FFF2-40B4-BE49-F238E27FC236}">
                <a16:creationId xmlns:a16="http://schemas.microsoft.com/office/drawing/2014/main" id="{C1E67C04-C236-44E6-BD2A-95EEA5673AEA}"/>
              </a:ext>
            </a:extLst>
          </p:cNvPr>
          <p:cNvSpPr>
            <a:spLocks xmlns:a="http://schemas.openxmlformats.org/drawingml/2006/main" noGrp="1"/>
          </p:cNvSpPr>
          <p:nvPr/>
        </p:nvSpPr>
        <p:spPr>
          <a:xfrm xmlns:a="http://schemas.openxmlformats.org/drawingml/2006/main">
            <a:off x="21526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8" name="rect">
            <a:extLst xmlns:a="http://schemas.openxmlformats.org/drawingml/2006/main">
              <a:ext uri="{FF2B5EF4-FFF2-40B4-BE49-F238E27FC236}">
                <a16:creationId xmlns:a16="http://schemas.microsoft.com/office/drawing/2014/main" id="{4531C02F-F9A2-41DA-8173-EB72871F9963}"/>
              </a:ext>
            </a:extLst>
          </p:cNvPr>
          <p:cNvSpPr>
            <a:spLocks xmlns:a="http://schemas.openxmlformats.org/drawingml/2006/main" noGrp="1"/>
          </p:cNvSpPr>
          <p:nvPr/>
        </p:nvSpPr>
        <p:spPr>
          <a:xfrm xmlns:a="http://schemas.openxmlformats.org/drawingml/2006/main">
            <a:off x="2571750" y="4171950"/>
            <a:ext cx="13525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0478">
            <a:solidFill>
              <a:srgbClr val="B8DDE5"/>
            </a:solidFill>
            <a:prstDash val="solid"/>
          </a:ln>
        </p:spPr>
      </p:sp>
      <p:sp>
        <p:nvSpPr>
          <p:cNvPr id="19" name="text">
            <a:extLst xmlns:a="http://schemas.openxmlformats.org/drawingml/2006/main">
              <a:ext uri="{FF2B5EF4-FFF2-40B4-BE49-F238E27FC236}">
                <a16:creationId xmlns:a16="http://schemas.microsoft.com/office/drawing/2014/main" id="{6DC94280-976B-41EB-817A-FFF342165B83}"/>
              </a:ext>
            </a:extLst>
          </p:cNvPr>
          <p:cNvSpPr>
            <a:spLocks xmlns:a="http://schemas.openxmlformats.org/drawingml/2006/main" noGrp="1"/>
          </p:cNvSpPr>
          <p:nvPr/>
        </p:nvSpPr>
        <p:spPr>
          <a:xfrm xmlns:a="http://schemas.openxmlformats.org/drawingml/2006/main">
            <a:off x="26670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Ingestion</a:t>
            </a:r>
          </a:p>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orchestration</a:t>
            </a:r>
          </a:p>
        </p:txBody>
      </p:sp>
      <p:sp>
        <p:nvSpPr>
          <p:cNvPr id="20" name="">
            <a:extLst xmlns:a="http://schemas.openxmlformats.org/drawingml/2006/main">
              <a:ext uri="{FF2B5EF4-FFF2-40B4-BE49-F238E27FC236}">
                <a16:creationId xmlns:a16="http://schemas.microsoft.com/office/drawing/2014/main" id="{EB6A3200-2457-4225-9A65-B7582E017D6E}"/>
              </a:ext>
            </a:extLst>
          </p:cNvPr>
          <p:cNvSpPr>
            <a:spLocks xmlns:a="http://schemas.openxmlformats.org/drawingml/2006/main" noGrp="1"/>
          </p:cNvSpPr>
          <p:nvPr/>
        </p:nvSpPr>
        <p:spPr>
          <a:xfrm xmlns:a="http://schemas.openxmlformats.org/drawingml/2006/main">
            <a:off x="39433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1" name="rect">
            <a:extLst xmlns:a="http://schemas.openxmlformats.org/drawingml/2006/main">
              <a:ext uri="{FF2B5EF4-FFF2-40B4-BE49-F238E27FC236}">
                <a16:creationId xmlns:a16="http://schemas.microsoft.com/office/drawing/2014/main" id="{5B5ACF66-F6B3-4F06-9D01-CE4B7AF75F35}"/>
              </a:ext>
            </a:extLst>
          </p:cNvPr>
          <p:cNvSpPr>
            <a:spLocks xmlns:a="http://schemas.openxmlformats.org/drawingml/2006/main" noGrp="1"/>
          </p:cNvSpPr>
          <p:nvPr/>
        </p:nvSpPr>
        <p:spPr>
          <a:xfrm xmlns:a="http://schemas.openxmlformats.org/drawingml/2006/main">
            <a:off x="4362450" y="4171950"/>
            <a:ext cx="1352550" cy="666750"/>
          </a:xfrm>
          <a:prstGeom xmlns:a="http://schemas.openxmlformats.org/drawingml/2006/main" prst="roundRect">
            <a:avLst>
              <a:gd name="adj" fmla="val 17143"/>
            </a:avLst>
          </a:prstGeom>
          <a:solidFill xmlns:a="http://schemas.openxmlformats.org/drawingml/2006/main">
            <a:srgbClr val="0B8FBD"/>
          </a:solidFill>
          <a:ln xmlns:a="http://schemas.openxmlformats.org/drawingml/2006/main" w="10478">
            <a:solidFill>
              <a:srgbClr val="B8DDE5"/>
            </a:solidFill>
            <a:prstDash val="solid"/>
          </a:ln>
        </p:spPr>
      </p:sp>
      <p:sp>
        <p:nvSpPr>
          <p:cNvPr id="22" name="text">
            <a:extLst xmlns:a="http://schemas.openxmlformats.org/drawingml/2006/main">
              <a:ext uri="{FF2B5EF4-FFF2-40B4-BE49-F238E27FC236}">
                <a16:creationId xmlns:a16="http://schemas.microsoft.com/office/drawing/2014/main" id="{DC2F71FF-0F4E-4638-9C5C-7A143DE91BBD}"/>
              </a:ext>
            </a:extLst>
          </p:cNvPr>
          <p:cNvSpPr>
            <a:spLocks xmlns:a="http://schemas.openxmlformats.org/drawingml/2006/main" noGrp="1"/>
          </p:cNvSpPr>
          <p:nvPr/>
        </p:nvSpPr>
        <p:spPr>
          <a:xfrm xmlns:a="http://schemas.openxmlformats.org/drawingml/2006/main">
            <a:off x="44577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Data Lake</a:t>
            </a:r>
          </a:p>
        </p:txBody>
      </p:sp>
      <p:sp>
        <p:nvSpPr>
          <p:cNvPr id="23" name="">
            <a:extLst xmlns:a="http://schemas.openxmlformats.org/drawingml/2006/main">
              <a:ext uri="{FF2B5EF4-FFF2-40B4-BE49-F238E27FC236}">
                <a16:creationId xmlns:a16="http://schemas.microsoft.com/office/drawing/2014/main" id="{12144543-0D6F-412F-BA43-A7B76D3474BA}"/>
              </a:ext>
            </a:extLst>
          </p:cNvPr>
          <p:cNvSpPr>
            <a:spLocks xmlns:a="http://schemas.openxmlformats.org/drawingml/2006/main" noGrp="1"/>
          </p:cNvSpPr>
          <p:nvPr/>
        </p:nvSpPr>
        <p:spPr>
          <a:xfrm xmlns:a="http://schemas.openxmlformats.org/drawingml/2006/main">
            <a:off x="57340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4" name="rect">
            <a:extLst xmlns:a="http://schemas.openxmlformats.org/drawingml/2006/main">
              <a:ext uri="{FF2B5EF4-FFF2-40B4-BE49-F238E27FC236}">
                <a16:creationId xmlns:a16="http://schemas.microsoft.com/office/drawing/2014/main" id="{0DB5C634-EF82-464D-87E9-2249DFD3EF87}"/>
              </a:ext>
            </a:extLst>
          </p:cNvPr>
          <p:cNvSpPr>
            <a:spLocks xmlns:a="http://schemas.openxmlformats.org/drawingml/2006/main" noGrp="1"/>
          </p:cNvSpPr>
          <p:nvPr/>
        </p:nvSpPr>
        <p:spPr>
          <a:xfrm xmlns:a="http://schemas.openxmlformats.org/drawingml/2006/main">
            <a:off x="6153150" y="4171950"/>
            <a:ext cx="13525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0478">
            <a:solidFill>
              <a:srgbClr val="B8DDE5"/>
            </a:solidFill>
            <a:prstDash val="solid"/>
          </a:ln>
        </p:spPr>
      </p:sp>
      <p:sp>
        <p:nvSpPr>
          <p:cNvPr id="25" name="text">
            <a:extLst xmlns:a="http://schemas.openxmlformats.org/drawingml/2006/main">
              <a:ext uri="{FF2B5EF4-FFF2-40B4-BE49-F238E27FC236}">
                <a16:creationId xmlns:a16="http://schemas.microsoft.com/office/drawing/2014/main" id="{E459F50A-5A8C-4306-95B5-5E86147DDFD8}"/>
              </a:ext>
            </a:extLst>
          </p:cNvPr>
          <p:cNvSpPr>
            <a:spLocks xmlns:a="http://schemas.openxmlformats.org/drawingml/2006/main" noGrp="1"/>
          </p:cNvSpPr>
          <p:nvPr/>
        </p:nvSpPr>
        <p:spPr>
          <a:xfrm xmlns:a="http://schemas.openxmlformats.org/drawingml/2006/main">
            <a:off x="62484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Transformation</a:t>
            </a:r>
          </a:p>
        </p:txBody>
      </p:sp>
      <p:sp>
        <p:nvSpPr>
          <p:cNvPr id="26" name="">
            <a:extLst xmlns:a="http://schemas.openxmlformats.org/drawingml/2006/main">
              <a:ext uri="{FF2B5EF4-FFF2-40B4-BE49-F238E27FC236}">
                <a16:creationId xmlns:a16="http://schemas.microsoft.com/office/drawing/2014/main" id="{32E2AB3D-553E-4CE6-A228-30E7DECB37AD}"/>
              </a:ext>
            </a:extLst>
          </p:cNvPr>
          <p:cNvSpPr>
            <a:spLocks xmlns:a="http://schemas.openxmlformats.org/drawingml/2006/main" noGrp="1"/>
          </p:cNvSpPr>
          <p:nvPr/>
        </p:nvSpPr>
        <p:spPr>
          <a:xfrm xmlns:a="http://schemas.openxmlformats.org/drawingml/2006/main">
            <a:off x="75247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7" name="rect">
            <a:extLst xmlns:a="http://schemas.openxmlformats.org/drawingml/2006/main">
              <a:ext uri="{FF2B5EF4-FFF2-40B4-BE49-F238E27FC236}">
                <a16:creationId xmlns:a16="http://schemas.microsoft.com/office/drawing/2014/main" id="{CF76B1A4-78EB-45F7-881F-3C7F52279E2B}"/>
              </a:ext>
            </a:extLst>
          </p:cNvPr>
          <p:cNvSpPr>
            <a:spLocks xmlns:a="http://schemas.openxmlformats.org/drawingml/2006/main" noGrp="1"/>
          </p:cNvSpPr>
          <p:nvPr/>
        </p:nvSpPr>
        <p:spPr>
          <a:xfrm xmlns:a="http://schemas.openxmlformats.org/drawingml/2006/main">
            <a:off x="7943850" y="4171950"/>
            <a:ext cx="1352550" cy="666750"/>
          </a:xfrm>
          <a:prstGeom xmlns:a="http://schemas.openxmlformats.org/drawingml/2006/main" prst="roundRect">
            <a:avLst>
              <a:gd name="adj" fmla="val 17143"/>
            </a:avLst>
          </a:prstGeom>
          <a:solidFill xmlns:a="http://schemas.openxmlformats.org/drawingml/2006/main">
            <a:srgbClr val="0B8FBD"/>
          </a:solidFill>
          <a:ln xmlns:a="http://schemas.openxmlformats.org/drawingml/2006/main" w="10478">
            <a:solidFill>
              <a:srgbClr val="B8DDE5"/>
            </a:solidFill>
            <a:prstDash val="solid"/>
          </a:ln>
        </p:spPr>
      </p:sp>
      <p:sp>
        <p:nvSpPr>
          <p:cNvPr id="28" name="text">
            <a:extLst xmlns:a="http://schemas.openxmlformats.org/drawingml/2006/main">
              <a:ext uri="{FF2B5EF4-FFF2-40B4-BE49-F238E27FC236}">
                <a16:creationId xmlns:a16="http://schemas.microsoft.com/office/drawing/2014/main" id="{058068BF-3D1A-46D6-BE0C-E9D106FB4092}"/>
              </a:ext>
            </a:extLst>
          </p:cNvPr>
          <p:cNvSpPr>
            <a:spLocks xmlns:a="http://schemas.openxmlformats.org/drawingml/2006/main" noGrp="1"/>
          </p:cNvSpPr>
          <p:nvPr/>
        </p:nvSpPr>
        <p:spPr>
          <a:xfrm xmlns:a="http://schemas.openxmlformats.org/drawingml/2006/main">
            <a:off x="80391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Data Warehouse</a:t>
            </a:r>
          </a:p>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Current Data</a:t>
            </a:r>
          </a:p>
        </p:txBody>
      </p:sp>
      <p:sp>
        <p:nvSpPr>
          <p:cNvPr id="29" name="">
            <a:extLst xmlns:a="http://schemas.openxmlformats.org/drawingml/2006/main">
              <a:ext uri="{FF2B5EF4-FFF2-40B4-BE49-F238E27FC236}">
                <a16:creationId xmlns:a16="http://schemas.microsoft.com/office/drawing/2014/main" id="{02D99B7C-DEAF-4106-9C34-5BAD400F2472}"/>
              </a:ext>
            </a:extLst>
          </p:cNvPr>
          <p:cNvSpPr>
            <a:spLocks xmlns:a="http://schemas.openxmlformats.org/drawingml/2006/main" noGrp="1"/>
          </p:cNvSpPr>
          <p:nvPr/>
        </p:nvSpPr>
        <p:spPr>
          <a:xfrm xmlns:a="http://schemas.openxmlformats.org/drawingml/2006/main">
            <a:off x="93154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0" name="rect">
            <a:extLst xmlns:a="http://schemas.openxmlformats.org/drawingml/2006/main">
              <a:ext uri="{FF2B5EF4-FFF2-40B4-BE49-F238E27FC236}">
                <a16:creationId xmlns:a16="http://schemas.microsoft.com/office/drawing/2014/main" id="{255BF660-F91B-493D-ACD3-EF478EE70526}"/>
              </a:ext>
            </a:extLst>
          </p:cNvPr>
          <p:cNvSpPr>
            <a:spLocks xmlns:a="http://schemas.openxmlformats.org/drawingml/2006/main" noGrp="1"/>
          </p:cNvSpPr>
          <p:nvPr/>
        </p:nvSpPr>
        <p:spPr>
          <a:xfrm xmlns:a="http://schemas.openxmlformats.org/drawingml/2006/main">
            <a:off x="9734550" y="4171950"/>
            <a:ext cx="13525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0478">
            <a:solidFill>
              <a:srgbClr val="B8DDE5"/>
            </a:solidFill>
            <a:prstDash val="solid"/>
          </a:ln>
        </p:spPr>
      </p:sp>
      <p:sp>
        <p:nvSpPr>
          <p:cNvPr id="31" name="text">
            <a:extLst xmlns:a="http://schemas.openxmlformats.org/drawingml/2006/main">
              <a:ext uri="{FF2B5EF4-FFF2-40B4-BE49-F238E27FC236}">
                <a16:creationId xmlns:a16="http://schemas.microsoft.com/office/drawing/2014/main" id="{56A3D431-816C-4F5D-ACE5-9E4FCBDEC1BC}"/>
              </a:ext>
            </a:extLst>
          </p:cNvPr>
          <p:cNvSpPr>
            <a:spLocks xmlns:a="http://schemas.openxmlformats.org/drawingml/2006/main" noGrp="1"/>
          </p:cNvSpPr>
          <p:nvPr/>
        </p:nvSpPr>
        <p:spPr>
          <a:xfrm xmlns:a="http://schemas.openxmlformats.org/drawingml/2006/main">
            <a:off x="98298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DataMart</a:t>
            </a:r>
          </a:p>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outils métier</a:t>
            </a:r>
          </a:p>
        </p:txBody>
      </p:sp>
      <p:sp>
        <p:nvSpPr>
          <p:cNvPr id="32" name="text">
            <a:extLst xmlns:a="http://schemas.openxmlformats.org/drawingml/2006/main">
              <a:ext uri="{FF2B5EF4-FFF2-40B4-BE49-F238E27FC236}">
                <a16:creationId xmlns:a16="http://schemas.microsoft.com/office/drawing/2014/main" id="{9EE65CDB-9C03-42D5-9B29-A8E4F5534969}"/>
              </a:ext>
            </a:extLst>
          </p:cNvPr>
          <p:cNvSpPr>
            <a:spLocks xmlns:a="http://schemas.openxmlformats.org/drawingml/2006/main" noGrp="1"/>
          </p:cNvSpPr>
          <p:nvPr/>
        </p:nvSpPr>
        <p:spPr>
          <a:xfrm xmlns:a="http://schemas.openxmlformats.org/drawingml/2006/main">
            <a:off x="1714500" y="54483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75" b="1">
                <a:solidFill>
                  <a:srgbClr val="081B2D"/>
                </a:solidFill>
                <a:latin typeface="Aptos"/>
                <a:ea typeface="Aptos"/>
                <a:cs typeface="Aptos"/>
              </a:defRPr>
            </a:pPr>
            <a:r>
              <a:rPr sz="1575" b="1">
                <a:solidFill>
                  <a:srgbClr val="081B2D"/>
                </a:solidFill>
                <a:latin typeface="Aptos"/>
                <a:ea typeface="Aptos"/>
                <a:cs typeface="Aptos"/>
              </a:rPr>
              <a:t>Ces travaux participent à une plateforme Data plus homogène, maintenable et évolutive.</a:t>
            </a:r>
          </a:p>
        </p:txBody>
      </p:sp>
    </p:spTree>
    <p:extLst>
      <p:ext uri="{BB962C8B-B14F-4D97-AF65-F5344CB8AC3E}">
        <p14:creationId xmlns:p14="http://schemas.microsoft.com/office/powerpoint/2010/main" val="2080118506"/>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51E7E58A-F770-4BAB-91C7-D59171EBF2A3}"/>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Conclusion et bilan</a:t>
            </a:r>
          </a:p>
        </p:txBody>
      </p:sp>
      <p:sp>
        <p:nvSpPr>
          <p:cNvPr id="2" name="slide-number">
            <a:extLst xmlns:a="http://schemas.openxmlformats.org/drawingml/2006/main">
              <a:ext uri="{FF2B5EF4-FFF2-40B4-BE49-F238E27FC236}">
                <a16:creationId xmlns:a16="http://schemas.microsoft.com/office/drawing/2014/main" id="{7698F928-F608-4842-BBBE-6B3E102764D9}"/>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15</a:t>
            </a:r>
          </a:p>
        </p:txBody>
      </p:sp>
      <p:sp>
        <p:nvSpPr>
          <p:cNvPr id="3" name="kicker">
            <a:extLst xmlns:a="http://schemas.openxmlformats.org/drawingml/2006/main">
              <a:ext uri="{FF2B5EF4-FFF2-40B4-BE49-F238E27FC236}">
                <a16:creationId xmlns:a16="http://schemas.microsoft.com/office/drawing/2014/main" id="{739969DC-8620-4E44-BCB5-FDB6AF97E243}"/>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5696F6C5-44D1-4B68-AA58-2A64B370CB2B}"/>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DFCDBDE4-5D72-49A2-B281-C383ACB4C98D}"/>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C4C6908F-084F-44E4-83DF-EE3250BBC786}"/>
              </a:ext>
            </a:extLst>
          </p:cNvPr>
          <p:cNvSpPr>
            <a:spLocks xmlns:a="http://schemas.openxmlformats.org/drawingml/2006/main" noGrp="1"/>
          </p:cNvSpPr>
          <p:nvPr/>
        </p:nvSpPr>
        <p:spPr>
          <a:xfrm xmlns:a="http://schemas.openxmlformats.org/drawingml/2006/main">
            <a:off x="723900" y="1619250"/>
            <a:ext cx="3276600" cy="285750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5877A3BE-BC5B-4548-8465-DE7223A8F288}"/>
              </a:ext>
            </a:extLst>
          </p:cNvPr>
          <p:cNvSpPr>
            <a:spLocks xmlns:a="http://schemas.openxmlformats.org/drawingml/2006/main" noGrp="1"/>
          </p:cNvSpPr>
          <p:nvPr/>
        </p:nvSpPr>
        <p:spPr>
          <a:xfrm xmlns:a="http://schemas.openxmlformats.org/drawingml/2006/main">
            <a:off x="723900" y="1619250"/>
            <a:ext cx="66675" cy="28575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BF8EF995-15BD-4DA2-AE48-975899D6E83A}"/>
              </a:ext>
            </a:extLst>
          </p:cNvPr>
          <p:cNvSpPr>
            <a:spLocks xmlns:a="http://schemas.openxmlformats.org/drawingml/2006/main" noGrp="1"/>
          </p:cNvSpPr>
          <p:nvPr/>
        </p:nvSpPr>
        <p:spPr>
          <a:xfrm xmlns:a="http://schemas.openxmlformats.org/drawingml/2006/main">
            <a:off x="933450" y="180975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Réalisations</a:t>
            </a:r>
          </a:p>
        </p:txBody>
      </p:sp>
      <p:sp>
        <p:nvSpPr>
          <p:cNvPr id="9" name="text">
            <a:extLst xmlns:a="http://schemas.openxmlformats.org/drawingml/2006/main">
              <a:ext uri="{FF2B5EF4-FFF2-40B4-BE49-F238E27FC236}">
                <a16:creationId xmlns:a16="http://schemas.microsoft.com/office/drawing/2014/main" id="{146A074E-54E8-41D8-8028-A8FBAA84E020}"/>
              </a:ext>
            </a:extLst>
          </p:cNvPr>
          <p:cNvSpPr>
            <a:spLocks xmlns:a="http://schemas.openxmlformats.org/drawingml/2006/main" noGrp="1"/>
          </p:cNvSpPr>
          <p:nvPr/>
        </p:nvSpPr>
        <p:spPr>
          <a:xfrm xmlns:a="http://schemas.openxmlformats.org/drawingml/2006/main">
            <a:off x="933450" y="2190750"/>
            <a:ext cx="28765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 10 ETL migrés et validés</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tests de non-régression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orchestration Prefect</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préparation Docker</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nouveaux pipelines ETL</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documentation technique</a:t>
            </a:r>
          </a:p>
        </p:txBody>
      </p:sp>
      <p:sp>
        <p:nvSpPr>
          <p:cNvPr id="10" name="rect">
            <a:extLst xmlns:a="http://schemas.openxmlformats.org/drawingml/2006/main">
              <a:ext uri="{FF2B5EF4-FFF2-40B4-BE49-F238E27FC236}">
                <a16:creationId xmlns:a16="http://schemas.microsoft.com/office/drawing/2014/main" id="{6FA5C746-016A-4BBC-BF36-E8AFC9F10FD7}"/>
              </a:ext>
            </a:extLst>
          </p:cNvPr>
          <p:cNvSpPr>
            <a:spLocks xmlns:a="http://schemas.openxmlformats.org/drawingml/2006/main" noGrp="1"/>
          </p:cNvSpPr>
          <p:nvPr/>
        </p:nvSpPr>
        <p:spPr>
          <a:xfrm xmlns:a="http://schemas.openxmlformats.org/drawingml/2006/main">
            <a:off x="4457700" y="1619250"/>
            <a:ext cx="3276600" cy="285750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9D001089-7ED7-41C0-8A3B-4917BA7373CD}"/>
              </a:ext>
            </a:extLst>
          </p:cNvPr>
          <p:cNvSpPr>
            <a:spLocks xmlns:a="http://schemas.openxmlformats.org/drawingml/2006/main" noGrp="1"/>
          </p:cNvSpPr>
          <p:nvPr/>
        </p:nvSpPr>
        <p:spPr>
          <a:xfrm xmlns:a="http://schemas.openxmlformats.org/drawingml/2006/main">
            <a:off x="4457700" y="1619250"/>
            <a:ext cx="66675" cy="28575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7D1FE1A2-BC9A-4B23-9814-2A5CF3C3D876}"/>
              </a:ext>
            </a:extLst>
          </p:cNvPr>
          <p:cNvSpPr>
            <a:spLocks xmlns:a="http://schemas.openxmlformats.org/drawingml/2006/main" noGrp="1"/>
          </p:cNvSpPr>
          <p:nvPr/>
        </p:nvSpPr>
        <p:spPr>
          <a:xfrm xmlns:a="http://schemas.openxmlformats.org/drawingml/2006/main">
            <a:off x="4667250" y="180975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Compétences</a:t>
            </a:r>
          </a:p>
        </p:txBody>
      </p:sp>
      <p:sp>
        <p:nvSpPr>
          <p:cNvPr id="13" name="text">
            <a:extLst xmlns:a="http://schemas.openxmlformats.org/drawingml/2006/main">
              <a:ext uri="{FF2B5EF4-FFF2-40B4-BE49-F238E27FC236}">
                <a16:creationId xmlns:a16="http://schemas.microsoft.com/office/drawing/2014/main" id="{369592AD-5DFD-4A2E-BE29-153B87E734E0}"/>
              </a:ext>
            </a:extLst>
          </p:cNvPr>
          <p:cNvSpPr>
            <a:spLocks xmlns:a="http://schemas.openxmlformats.org/drawingml/2006/main" noGrp="1"/>
          </p:cNvSpPr>
          <p:nvPr/>
        </p:nvSpPr>
        <p:spPr>
          <a:xfrm xmlns:a="http://schemas.openxmlformats.org/drawingml/2006/main">
            <a:off x="4667250" y="2190750"/>
            <a:ext cx="28765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Data Engineering</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Python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SQL et Data Warehouse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orchestration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conteneurisation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tests</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collaboration Data / IT / métier</a:t>
            </a:r>
          </a:p>
        </p:txBody>
      </p:sp>
      <p:sp>
        <p:nvSpPr>
          <p:cNvPr id="14" name="rect">
            <a:extLst xmlns:a="http://schemas.openxmlformats.org/drawingml/2006/main">
              <a:ext uri="{FF2B5EF4-FFF2-40B4-BE49-F238E27FC236}">
                <a16:creationId xmlns:a16="http://schemas.microsoft.com/office/drawing/2014/main" id="{58686D0B-F575-434E-A8A6-A2526EAB5376}"/>
              </a:ext>
            </a:extLst>
          </p:cNvPr>
          <p:cNvSpPr>
            <a:spLocks xmlns:a="http://schemas.openxmlformats.org/drawingml/2006/main" noGrp="1"/>
          </p:cNvSpPr>
          <p:nvPr/>
        </p:nvSpPr>
        <p:spPr>
          <a:xfrm xmlns:a="http://schemas.openxmlformats.org/drawingml/2006/main">
            <a:off x="8191500" y="1619250"/>
            <a:ext cx="3276600" cy="285750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
            <a:extLst xmlns:a="http://schemas.openxmlformats.org/drawingml/2006/main">
              <a:ext uri="{FF2B5EF4-FFF2-40B4-BE49-F238E27FC236}">
                <a16:creationId xmlns:a16="http://schemas.microsoft.com/office/drawing/2014/main" id="{34DDB316-E36E-414F-853F-EBD99BE4CC3A}"/>
              </a:ext>
            </a:extLst>
          </p:cNvPr>
          <p:cNvSpPr>
            <a:spLocks xmlns:a="http://schemas.openxmlformats.org/drawingml/2006/main" noGrp="1"/>
          </p:cNvSpPr>
          <p:nvPr/>
        </p:nvSpPr>
        <p:spPr>
          <a:xfrm xmlns:a="http://schemas.openxmlformats.org/drawingml/2006/main">
            <a:off x="8191500" y="1619250"/>
            <a:ext cx="66675" cy="28575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8E774AB7-F898-4193-A1B8-DDE35957ECFF}"/>
              </a:ext>
            </a:extLst>
          </p:cNvPr>
          <p:cNvSpPr>
            <a:spLocks xmlns:a="http://schemas.openxmlformats.org/drawingml/2006/main" noGrp="1"/>
          </p:cNvSpPr>
          <p:nvPr/>
        </p:nvSpPr>
        <p:spPr>
          <a:xfrm xmlns:a="http://schemas.openxmlformats.org/drawingml/2006/main">
            <a:off x="8401050" y="180975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Apport personnel</a:t>
            </a:r>
          </a:p>
        </p:txBody>
      </p:sp>
      <p:sp>
        <p:nvSpPr>
          <p:cNvPr id="17" name="text">
            <a:extLst xmlns:a="http://schemas.openxmlformats.org/drawingml/2006/main">
              <a:ext uri="{FF2B5EF4-FFF2-40B4-BE49-F238E27FC236}">
                <a16:creationId xmlns:a16="http://schemas.microsoft.com/office/drawing/2014/main" id="{10F26426-01AC-48B1-A225-739EB4E07E35}"/>
              </a:ext>
            </a:extLst>
          </p:cNvPr>
          <p:cNvSpPr>
            <a:spLocks xmlns:a="http://schemas.openxmlformats.org/drawingml/2006/main" noGrp="1"/>
          </p:cNvSpPr>
          <p:nvPr/>
        </p:nvSpPr>
        <p:spPr>
          <a:xfrm xmlns:a="http://schemas.openxmlformats.org/drawingml/2006/main">
            <a:off x="8401050" y="2190750"/>
            <a:ext cx="28765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autonomie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cycle de vie de la donnée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contraintes de production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conception technique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contexte industriel réel</a:t>
            </a:r>
          </a:p>
        </p:txBody>
      </p:sp>
      <p:sp>
        <p:nvSpPr>
          <p:cNvPr id="18" name="rect">
            <a:extLst xmlns:a="http://schemas.openxmlformats.org/drawingml/2006/main">
              <a:ext uri="{FF2B5EF4-FFF2-40B4-BE49-F238E27FC236}">
                <a16:creationId xmlns:a16="http://schemas.microsoft.com/office/drawing/2014/main" id="{B4688F1B-E8D4-4705-AC44-7136C4FF367C}"/>
              </a:ext>
            </a:extLst>
          </p:cNvPr>
          <p:cNvSpPr>
            <a:spLocks xmlns:a="http://schemas.openxmlformats.org/drawingml/2006/main" noGrp="1"/>
          </p:cNvSpPr>
          <p:nvPr/>
        </p:nvSpPr>
        <p:spPr>
          <a:xfrm xmlns:a="http://schemas.openxmlformats.org/drawingml/2006/main">
            <a:off x="1219200" y="5010150"/>
            <a:ext cx="9753600" cy="514350"/>
          </a:xfrm>
          <a:prstGeom xmlns:a="http://schemas.openxmlformats.org/drawingml/2006/main" prst="roundRect">
            <a:avLst>
              <a:gd name="adj" fmla="val 33333"/>
            </a:avLst>
          </a:prstGeom>
          <a:solidFill xmlns:a="http://schemas.openxmlformats.org/drawingml/2006/main">
            <a:srgbClr val="FFFFFF"/>
          </a:solidFill>
          <a:ln xmlns:a="http://schemas.openxmlformats.org/drawingml/2006/main" w="14288">
            <a:solidFill>
              <a:srgbClr val="0B8FB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text">
            <a:extLst xmlns:a="http://schemas.openxmlformats.org/drawingml/2006/main">
              <a:ext uri="{FF2B5EF4-FFF2-40B4-BE49-F238E27FC236}">
                <a16:creationId xmlns:a16="http://schemas.microsoft.com/office/drawing/2014/main" id="{9E82F8F0-9870-43D1-81D6-FD99339E128F}"/>
              </a:ext>
            </a:extLst>
          </p:cNvPr>
          <p:cNvSpPr>
            <a:spLocks xmlns:a="http://schemas.openxmlformats.org/drawingml/2006/main" noGrp="1"/>
          </p:cNvSpPr>
          <p:nvPr/>
        </p:nvSpPr>
        <p:spPr>
          <a:xfrm xmlns:a="http://schemas.openxmlformats.org/drawingml/2006/main">
            <a:off x="1485900" y="5153025"/>
            <a:ext cx="922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425" b="1">
                <a:solidFill>
                  <a:srgbClr val="081B2D"/>
                </a:solidFill>
                <a:latin typeface="Aptos"/>
                <a:ea typeface="Aptos"/>
                <a:cs typeface="Aptos"/>
              </a:defRPr>
            </a:pPr>
            <a:r>
              <a:rPr sz="1425" b="1">
                <a:solidFill>
                  <a:srgbClr val="081B2D"/>
                </a:solidFill>
                <a:latin typeface="Aptos"/>
                <a:ea typeface="Aptos"/>
                <a:cs typeface="Aptos"/>
              </a:rPr>
              <a:t>Une migration technique transformée en démarche de modernisation et d'industrialisation des traitements Data.</a:t>
            </a:r>
          </a:p>
        </p:txBody>
      </p:sp>
      <p:sp>
        <p:nvSpPr>
          <p:cNvPr id="20" name="text">
            <a:extLst xmlns:a="http://schemas.openxmlformats.org/drawingml/2006/main">
              <a:ext uri="{FF2B5EF4-FFF2-40B4-BE49-F238E27FC236}">
                <a16:creationId xmlns:a16="http://schemas.microsoft.com/office/drawing/2014/main" id="{BA93CD60-F891-4A7A-86A6-4EA0AAB8C0BB}"/>
              </a:ext>
            </a:extLst>
          </p:cNvPr>
          <p:cNvSpPr>
            <a:spLocks xmlns:a="http://schemas.openxmlformats.org/drawingml/2006/main" noGrp="1"/>
          </p:cNvSpPr>
          <p:nvPr/>
        </p:nvSpPr>
        <p:spPr>
          <a:xfrm xmlns:a="http://schemas.openxmlformats.org/drawingml/2006/main">
            <a:off x="3238500" y="59245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650" b="1">
                <a:solidFill>
                  <a:srgbClr val="0B8FBD"/>
                </a:solidFill>
                <a:latin typeface="Aptos"/>
                <a:ea typeface="Aptos"/>
                <a:cs typeface="Aptos"/>
              </a:defRPr>
            </a:pPr>
            <a:r>
              <a:rPr sz="1650" b="1">
                <a:solidFill>
                  <a:srgbClr val="0B8FBD"/>
                </a:solidFill>
                <a:latin typeface="Aptos"/>
                <a:ea typeface="Aptos"/>
                <a:cs typeface="Aptos"/>
              </a:rPr>
              <a:t>Merci pour votre attention</a:t>
            </a:r>
          </a:p>
        </p:txBody>
      </p:sp>
      <p:sp>
        <p:nvSpPr>
          <p:cNvPr id="21" name="text">
            <a:extLst xmlns:a="http://schemas.openxmlformats.org/drawingml/2006/main">
              <a:ext uri="{FF2B5EF4-FFF2-40B4-BE49-F238E27FC236}">
                <a16:creationId xmlns:a16="http://schemas.microsoft.com/office/drawing/2014/main" id="{87733E4D-9D4A-43B5-A367-034E720EFC5B}"/>
              </a:ext>
            </a:extLst>
          </p:cNvPr>
          <p:cNvSpPr>
            <a:spLocks xmlns:a="http://schemas.openxmlformats.org/drawingml/2006/main" noGrp="1"/>
          </p:cNvSpPr>
          <p:nvPr/>
        </p:nvSpPr>
        <p:spPr>
          <a:xfrm xmlns:a="http://schemas.openxmlformats.org/drawingml/2006/main">
            <a:off x="6477000" y="58864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250" b="1">
                <a:solidFill>
                  <a:srgbClr val="081B2D"/>
                </a:solidFill>
                <a:latin typeface="Aptos Display"/>
                <a:ea typeface="Aptos Display"/>
                <a:cs typeface="Aptos Display"/>
              </a:defRPr>
            </a:pPr>
            <a:r>
              <a:rPr sz="2250" b="1">
                <a:solidFill>
                  <a:srgbClr val="081B2D"/>
                </a:solidFill>
                <a:latin typeface="Aptos Display"/>
                <a:ea typeface="Aptos Display"/>
                <a:cs typeface="Aptos Display"/>
              </a:rPr>
              <a:t>Questions ?</a:t>
            </a:r>
          </a:p>
        </p:txBody>
      </p:sp>
    </p:spTree>
    <p:extLst>
      <p:ext uri="{BB962C8B-B14F-4D97-AF65-F5344CB8AC3E}">
        <p14:creationId xmlns:p14="http://schemas.microsoft.com/office/powerpoint/2010/main" val="1921955091"/>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B0AB2AA3-262A-495A-B846-DE3FB8B28EBB}"/>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Organisation et missions du Digital Support</a:t>
            </a:r>
          </a:p>
        </p:txBody>
      </p:sp>
      <p:sp>
        <p:nvSpPr>
          <p:cNvPr id="2" name="slide-number">
            <a:extLst xmlns:a="http://schemas.openxmlformats.org/drawingml/2006/main">
              <a:ext uri="{FF2B5EF4-FFF2-40B4-BE49-F238E27FC236}">
                <a16:creationId xmlns:a16="http://schemas.microsoft.com/office/drawing/2014/main" id="{9B0B0545-7F25-4221-888B-5FEB76A6C7CF}"/>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16</a:t>
            </a:r>
          </a:p>
        </p:txBody>
      </p:sp>
      <p:sp>
        <p:nvSpPr>
          <p:cNvPr id="3" name="kicker">
            <a:extLst xmlns:a="http://schemas.openxmlformats.org/drawingml/2006/main">
              <a:ext uri="{FF2B5EF4-FFF2-40B4-BE49-F238E27FC236}">
                <a16:creationId xmlns:a16="http://schemas.microsoft.com/office/drawing/2014/main" id="{25137B3C-E76F-4788-A46A-80F22352B1D6}"/>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C8944637-D1D8-4B50-B782-BAE1B597B173}"/>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9A9A3AD6-4D6B-4AB5-AC18-A4F91B3AE308}"/>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9B677959-A3E4-455D-B883-C73244059039}"/>
              </a:ext>
            </a:extLst>
          </p:cNvPr>
          <p:cNvSpPr>
            <a:spLocks xmlns:a="http://schemas.openxmlformats.org/drawingml/2006/main" noGrp="1"/>
          </p:cNvSpPr>
          <p:nvPr/>
        </p:nvSpPr>
        <p:spPr>
          <a:xfrm xmlns:a="http://schemas.openxmlformats.org/drawingml/2006/main">
            <a:off x="685800" y="1504950"/>
            <a:ext cx="4095750" cy="4457700"/>
          </a:xfrm>
          <a:prstGeom xmlns:a="http://schemas.openxmlformats.org/drawingml/2006/main" prst="roundRect">
            <a:avLst>
              <a:gd name="adj" fmla="val 3256"/>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7390a1058344aff"/>
          <a:stretch xmlns:a="http://schemas.openxmlformats.org/drawingml/2006/main"/>
        </p:blipFill>
        <p:spPr>
          <a:xfrm xmlns:a="http://schemas.openxmlformats.org/drawingml/2006/main">
            <a:off x="876300" y="1691609"/>
            <a:ext cx="3714750" cy="3798631"/>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851E00D-DB1D-4882-A1AD-644BA53BF88B}"/>
              </a:ext>
            </a:extLst>
          </p:cNvPr>
          <p:cNvSpPr>
            <a:spLocks xmlns:a="http://schemas.openxmlformats.org/drawingml/2006/main" noGrp="1"/>
          </p:cNvSpPr>
          <p:nvPr/>
        </p:nvSpPr>
        <p:spPr>
          <a:xfrm xmlns:a="http://schemas.openxmlformats.org/drawingml/2006/main">
            <a:off x="1143000" y="561975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350" b="1">
                <a:solidFill>
                  <a:srgbClr val="081B2D"/>
                </a:solidFill>
                <a:latin typeface="Aptos"/>
                <a:ea typeface="Aptos"/>
                <a:cs typeface="Aptos"/>
              </a:defRPr>
            </a:pPr>
            <a:r>
              <a:rPr sz="1350" b="1">
                <a:solidFill>
                  <a:srgbClr val="081B2D"/>
                </a:solidFill>
                <a:latin typeface="Aptos"/>
                <a:ea typeface="Aptos"/>
                <a:cs typeface="Aptos"/>
              </a:rPr>
              <a:t>Organisation de l'équipe</a:t>
            </a:r>
          </a:p>
        </p:txBody>
      </p:sp>
      <p:sp>
        <p:nvSpPr>
          <p:cNvPr id="9" name="rect">
            <a:extLst xmlns:a="http://schemas.openxmlformats.org/drawingml/2006/main">
              <a:ext uri="{FF2B5EF4-FFF2-40B4-BE49-F238E27FC236}">
                <a16:creationId xmlns:a16="http://schemas.microsoft.com/office/drawing/2014/main" id="{480F04B4-D6F2-4E57-8871-8FA8F0ADC511}"/>
              </a:ext>
            </a:extLst>
          </p:cNvPr>
          <p:cNvSpPr>
            <a:spLocks xmlns:a="http://schemas.openxmlformats.org/drawingml/2006/main" noGrp="1"/>
          </p:cNvSpPr>
          <p:nvPr/>
        </p:nvSpPr>
        <p:spPr>
          <a:xfrm xmlns:a="http://schemas.openxmlformats.org/drawingml/2006/main">
            <a:off x="5219700" y="1504950"/>
            <a:ext cx="6286500" cy="4457700"/>
          </a:xfrm>
          <a:prstGeom xmlns:a="http://schemas.openxmlformats.org/drawingml/2006/main" prst="roundRect">
            <a:avLst>
              <a:gd name="adj" fmla="val 2991"/>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037b6f62a714708"/>
          <a:stretch xmlns:a="http://schemas.openxmlformats.org/drawingml/2006/main"/>
        </p:blipFill>
        <p:spPr>
          <a:xfrm xmlns:a="http://schemas.openxmlformats.org/drawingml/2006/main">
            <a:off x="5810250" y="1676400"/>
            <a:ext cx="5105400" cy="38290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E00395F-6BAF-4AD0-83DF-E4C4264A17E2}"/>
              </a:ext>
            </a:extLst>
          </p:cNvPr>
          <p:cNvSpPr>
            <a:spLocks xmlns:a="http://schemas.openxmlformats.org/drawingml/2006/main" noGrp="1"/>
          </p:cNvSpPr>
          <p:nvPr/>
        </p:nvSpPr>
        <p:spPr>
          <a:xfrm xmlns:a="http://schemas.openxmlformats.org/drawingml/2006/main">
            <a:off x="6572250" y="5619750"/>
            <a:ext cx="358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350" b="1">
                <a:solidFill>
                  <a:srgbClr val="081B2D"/>
                </a:solidFill>
                <a:latin typeface="Aptos"/>
                <a:ea typeface="Aptos"/>
                <a:cs typeface="Aptos"/>
              </a:defRPr>
            </a:pPr>
            <a:r>
              <a:rPr sz="1350" b="1">
                <a:solidFill>
                  <a:srgbClr val="081B2D"/>
                </a:solidFill>
                <a:latin typeface="Aptos"/>
                <a:ea typeface="Aptos"/>
                <a:cs typeface="Aptos"/>
              </a:rPr>
              <a:t>Les 4 piliers du Digital Support</a:t>
            </a:r>
          </a:p>
        </p:txBody>
      </p:sp>
    </p:spTree>
    <p:extLst>
      <p:ext uri="{BB962C8B-B14F-4D97-AF65-F5344CB8AC3E}">
        <p14:creationId xmlns:p14="http://schemas.microsoft.com/office/powerpoint/2010/main" val="6491122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2026-09-11T02:32:04.1720000Z</dcterms:created>
  <dcterms:modified xsi:type="dcterms:W3CDTF">2026-09-11T02:32:04.1720000Z</dcterms:modified>
</coreProperties>
</file>